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75" r:id="rId26"/>
    <p:sldId id="276" r:id="rId27"/>
    <p:sldId id="257" r:id="rId8"/>
    <p:sldId id="284" r:id="rId36"/>
    <p:sldId id="258" r:id="rId9"/>
    <p:sldId id="259" r:id="rId10"/>
    <p:sldId id="260" r:id="rId11"/>
    <p:sldId id="261" r:id="rId12"/>
    <p:sldId id="262" r:id="rId13"/>
    <p:sldId id="263" r:id="rId14"/>
    <p:sldId id="277" r:id="rId28"/>
    <p:sldId id="264" r:id="rId15"/>
    <p:sldId id="280" r:id="rId31"/>
    <p:sldId id="265" r:id="rId16"/>
    <p:sldId id="266" r:id="rId17"/>
    <p:sldId id="281" r:id="rId32"/>
    <p:sldId id="278" r:id="rId29"/>
    <p:sldId id="267" r:id="rId18"/>
    <p:sldId id="268" r:id="rId19"/>
    <p:sldId id="282" r:id="rId33"/>
    <p:sldId id="279" r:id="rId30"/>
    <p:sldId id="269" r:id="rId20"/>
    <p:sldId id="285" r:id="rId37"/>
    <p:sldId id="270" r:id="rId21"/>
    <p:sldId id="271" r:id="rId22"/>
    <p:sldId id="283" r:id="rId34"/>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4.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3.xml"/><Relationship Id="rId21" Type="http://schemas.openxmlformats.org/officeDocument/2006/relationships/slide" Target="slides/slide25.xml"/><Relationship Id="rId22" Type="http://schemas.openxmlformats.org/officeDocument/2006/relationships/slide" Target="slides/slide26.xml"/><Relationship Id="rId23" Type="http://schemas.openxmlformats.org/officeDocument/2006/relationships/slide" Target="slides/slide28.xml"/><Relationship Id="rId24" Type="http://schemas.openxmlformats.org/officeDocument/2006/relationships/slide" Target="slides/slide29.xml"/><Relationship Id="rId25" Type="http://schemas.openxmlformats.org/officeDocument/2006/relationships/slide" Target="slides/slide30.xml"/><Relationship Id="rId26" Type="http://schemas.openxmlformats.org/officeDocument/2006/relationships/slide" Target="slides/slide2.xml"/><Relationship Id="rId27" Type="http://schemas.openxmlformats.org/officeDocument/2006/relationships/slide" Target="slides/slide3.xml"/><Relationship Id="rId28" Type="http://schemas.openxmlformats.org/officeDocument/2006/relationships/slide" Target="slides/slide12.xml"/><Relationship Id="rId29" Type="http://schemas.openxmlformats.org/officeDocument/2006/relationships/slide" Target="slides/slide18.xml"/><Relationship Id="rId30" Type="http://schemas.openxmlformats.org/officeDocument/2006/relationships/slide" Target="slides/slide22.xml"/><Relationship Id="rId31" Type="http://schemas.openxmlformats.org/officeDocument/2006/relationships/slide" Target="slides/slide14.xml"/><Relationship Id="rId32" Type="http://schemas.openxmlformats.org/officeDocument/2006/relationships/slide" Target="slides/slide17.xml"/><Relationship Id="rId33" Type="http://schemas.openxmlformats.org/officeDocument/2006/relationships/slide" Target="slides/slide21.xml"/><Relationship Id="rId34" Type="http://schemas.openxmlformats.org/officeDocument/2006/relationships/slide" Target="slides/slide27.xml"/><Relationship Id="rId35" Type="http://schemas.openxmlformats.org/officeDocument/2006/relationships/notesMaster" Target="notesMasters/notesMaster1.xml"/><Relationship Id="rId36" Type="http://schemas.openxmlformats.org/officeDocument/2006/relationships/slide" Target="slides/slide5.xml"/><Relationship Id="rId37"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talk is about a specific optimization in the MATCH execution engine: asking an index whether a vertex would pass a WHERE clause BEFORE paying to load it. The optimization gives us 200–1000% throughput wins on LDBC SNB workloads, but only when we make the right runtime decisions about WHEN to use it. About 60% of this talk is about those decisions — the cost arithmetic, the gates, the bounded-loss contract. By the end you should know exactly when this fires, when it doesn't, and how to read the PROFILE counters to verify it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orientation for anyone who hasn't worked deeply in the MATCH executor. A MATCH query goes through three stages. The parser produces an AST. The planner picks aliases and a cost-based schedule — which edge to traverse first, next, last. That gives us a list of EdgeTraversal objects in execution order. Then execution walks that list: for each edge, for each source vertex, walk the link bag, load each neighbor, check WHERE, emit binding if everything matches. Our optimization sits in stage 3, INSIDE the per-edge inner loop. We don't change the schedule, we don't change the planner's edge ordering. We change which neighbor RIDs actually reach loadEntity. Schedule order and our optimization are orthogonal — the wins compound, they don't compete.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piece of background. In YouTrackDB, edges aren't separate records — each vertex carries its own adjacency as fields on its own record. A Person record has out_KNOWS pointing to a list of friend RIDs, in_HAS_CREATOR pointing to message RIDs. The LinkBag is just that list. Walking the list is cheap — it's sequential RIDs already in memory once the vertex is loaded. Loading each RID is the expensive part — random disk I/O per neighbor record. That asymmetry is the entire economic premise of this optimization. We trade one cheap operation, a bitmap probe, for many expensive operations, vertex loads we won't 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example. LDBC SNB IC9 — friend-of-friend recent messages. Today's execution: 200 friends, each has roughly 5000 messages in their HAS_CREATOR link bag, we want only messages created after a specific date. We load all million messages, just to check their creationDate field. 99.8 percent of those loads are wasted — the WHERE clause rejects them. The crucial detail: the WHERE only checks creationDate. We have an index on Message.creationDate. We could resolve the answer from the index without ever loading those messages. That's the structural opportunity this optimization captures.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in pseudocode. Once, before the friend loop: scan the creationDate index for the date range, get back roughly 14,000 qualifying message RIDs, materialize them into a fast bitmap we call a RidSet. Then per friend: walk the 5000-RID link bag as before, but for each RID probe the bitmap first. Only RIDs that pass the probe reach loadEntity. The index scan is paid ONCE for the entire query. The bitmap probe is O(1) memory access. The orders-of-magnitude cost gap between "probe" and "load" is what makes this profitable.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One million vertex loads collapse to 2,000 vertex loads plus 14,000 index entries scanned — about 62× total I/O reduction. The measured wall-clock impact on LDBC SF1 for IC9 is plus 483 percent throughput single-thread — the optimized version completes 5.83 queries in the time the un-optimized version does 1. IC3 stacks two IndexLookups on one MATCH pattern and gets plus 1117 percent. These aren't theoretical — they're JMH measurements against the same baseline. Multi-thread numbers are slightly lower because we hit shared-cache contention sooner, but they still scale.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does the planner attach an IndexLookup descriptor? Three requirements. One: target node has a WHERE clause. Two: the target class has an index covering that condition — range, hash, unique, full-text whatever. Three: the condition does NOT reference $matched. Index parameters must be resolvable at query start, not mid-traversal — otherwise the result isn't constant per query and we lose the amortization. Common shapes are date ranges, IN lists, BETWEEN (which we rewrite), and exact-match on unique indexes. On LDBC: IC3, IC9, IS7 hit this pattern. Any production query whose target node filters on indexed properties is a candidate. Note: filters that reference $matched — like "where my friend's friend is in this list" — need different techniques. This optimization is specifically for class-level predicates.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where it gets interesting. The index scan itself costs about 14,000 I/O reads. That's the BUILD COST — paid once per query if we choose to build. Three scenarios in the table. First scenario: 200 friends each with 5000-RID bags. One million traversals; building 14,000 pays back 62 times. Clear win. Second: 10 friends, 50-RID bags each. 500 traversals; building 14,000 is a 28× LOSS. Third: 3 friends with 500-RID bags. 1500 traversals; same story, 9× loss. The same code path can be a 62× win OR a 28× loss depending purely on traversal volume. The next half of this talk is about HOW we decide.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Three pieces. Planner detection finds eligible filters at plan time and attaches a descriptor object to the edge — that's the cheap part. Runtime decision applies two independent gates per edge: is the filter selective enough at all, and will traversal volume actually justify the build? Per-edge cache: once we decide to build, the resulting RidSet is cached and reused for every subsequent vertex on the same edge. That cache is what makes the math work — build cost amortizes over all traversals through the edge. If the planner attached the descriptor but the gates decide no, the cache stays empty and we fall back to naive load-and-check. No regression — we just didn't activate the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descriptor is a record with four methods. estimatedSize gives a histogram-based hit count — fast, O(1). resolve actually runs the index scan and builds the bitmap — slow, paid once. cacheKey returns a fingerprint that includes index name, key condition, and range condition — so two IndexLookups on the same index with different parameters get different cache slots. passesSelectivityCheck is gate 1. Important historical note: the fingerprint used to be index.getName alone, which would have aliased two IndexLookups on the same index with different conditions. The collision was latent — today's planner emits at most one IndexLookup per edge — but the fingerprint fix pins correctness on data instead of on planner discipline. One PR change away from a silent bug.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control flow in one picture. Per source vertex: cache lookup first. Cache hit with a real RidSet — use it, filter the link bag, done. Cache hit with null — that's a remembered rejection; we restore the original skip reason and apply no filter. Cache miss — run gate 1. Pass — run gate 2. Pass gate 2 — three outcomes: BUILD_EAGER, DEFERRED_WITH_NET, or REJECT. Whatever outcome, cache it. Subsequent vertices reuse the decision without re-evaluating. This is the entire control flow; everything else in the deck is detail about each of these boxes.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 1 is fast. Selectivity equals hits divided by class total count — the fraction of the class matching the filter. Threshold 0.95: if the filter rejects fewer than 5 percent of class members, even a free build wouldn't save meaningful work. We skip. The threshold is conservative — break-even on individual probe cost is way out near 0.9997, but 0.95 avoids degenerate cases like "creationDate less than year 3000" that the planner can't reason about. Special case: estimateSelectivity returns minus one when no histogram exists. Then we REJECT — better to skip than optimistically build a RidSet we can't bound. The selectivity check evaluates ONCE per query, not per vertex; result is cached for all subsequent vertices.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in the deck. The naive question 'when does build pay back?' has a naive answer: when traversal volume n exceeds m, where m equals build cost divided by per-vertex savings. That answer is WRONG when you have a deferral phase. Cost arithmetic. Three policies. No pre-filter: every neighbor costs L. Perfect oracle that knows in advance to build: B once, then s·L per neighbor — only matching neighbors loaded. Runtime accumulator: deferral phase loads m neighbors at full L, then B, then s·L for the remaining n minus m. Subtract: cost of the accumulator minus cost of the oracle equals B, always — regardless of n or s. Why? During deferral, m neighbors get loaded at full L when the oracle would have loaded them at s·L. The forfeited savings exactly equal B by the definition of m. So you pay for the build TWICE in effect — once as the build itself, once as savings forfeited while you were waiting to decide. The danger zone is n in m comma 2m. In that range the runtime accumulator is ACTIVELY SLOWER than not optimizing at all. At n equal to m you can be 2× slower than nothing. This is why BUILD_EAGER exists as a separate mode — eager means we build on vertex 1, no deferral phase, no tax. And it's why the safety-net trigger T we'll see in a moment has m as its floor, not zero.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 2 uses the formula we just motivated. m equals estimatedSize over loadToScanRatio times one-minus-selectivity. estimatedSize is the build cost in proxy units — one I/O per index entry. loadToScanRatio is 100 today — a random vertex load is roughly 100× a bitmap probe. Three example rows. Selective filter on creationDate, m around 56. Moderate filter, m around 429. Bulk filter where 90 percent pass, m equals 5000 — only very large edges should build for this one. Decision: forecast versus m. Forecast comfortably above m, BUILD_EAGER. Otherwise DEFERRED_WITH_NET — let the runtime accumulator catch reality. The accumulator's trigger formula T includes the m floor we just derived AND a deviation term we'll see momentarily.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modes table. BUILD_EAGER fires when forecast comfortably exceeds m AND the sample size for the forecast is at least 30 — that's the CLT threshold we cover in two slides. DEFERRED_WITH_NET is the fall-through: selectivity is known but eager conditions not met. Accumulate per-vertex link bag size; when the running total exceeds T equals max of 2 times forecast OR m, build now. The 2× term catches forecast under-estimates — if reality is twice the forecast, the forecast was clearly wrong by enough that a build is justified. The m floor catches the no-forecast case — when we have no useful forecast at all, the m floor takes over. REJECT is for unknown selectivity or guaranteed-low volume — never retry on this edge. Once the mode is decided at the first call, it's memoised on the EdgeTraversal — no re-evaluation per vertex.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the design trade-off you might be quietly wondering about. Why DEFERRED_WITH_NET as the fallback, not just plain SKIP? Look at the table. BUILD_EAGER, when forecast over-estimates and actual is below m — loss bounded by B. Even if forecast is 100× wrong, we waste at most one build's worth of work. DEFERRED_WITH_NET common case, forecast accurate and actual stays below T — zero excess, safety net never fires, edge runs at no-prefilter cost plus a per-vertex counter. DEFERRED_WITH_NET residual danger zone, actual lands near T — up to B excess. Same bound as BUILD_EAGER. DEFERRED_WITH_NET, actual way exceeds T — clean win. Now the bottom row — the option we REJECTED. Pure SKIP, no safety net. If forecast under-estimated, actual could be 100× the forecast and we eat the full un-optimized cost. UNBOUNDED — scales with actual volume. The bounded-loss contract — every mode's worst case at most ~B per edge — is the entire reason we chose DEFERRED_WITH_NET over SKIP. Aggregate benchmark performance is one thing; per-query latency cap is what operators care about. Without bounded loss you can't promise consistent SLA on heterogeneous query mixes.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of the three modes in time. Top row, BUILD_EAGER — vertex 1 triggers the build, every subsequent vertex gets filtered. Build cost amortized across 200 traversals. Middle row, DEFERRED_WITH_NET — vertices 1 through 11 process at full unfiltered cost (these are the deferral-tax neighbors we discussed), accumulator reaches T at vertex 12, build fires, remaining 188 vertices get filtered. The math has to work out that the deferral-phase loss is less than the build's savings on the remaining vertices — that's why T has the m floor. Bottom row, REJECT — every vertex loaded fully. No optimization, no build. That's the contract for unknown-selectivity case: better to be slow but predictable than to build an unbounded RidSet we can't reason about.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sample-size guard? forecast equals sourceRows times mean fan-out. That mean is a statistic of the fan-out distribution. LDBC SNB messages-per-person follows a power law — most users have 5 to 50 messages, a few have 50,000 plus. Sample 3 random users and the mean is dominated by whether you happened to catch a whale. Sampling 3 from this distribution gives basically random forecasts. The Central Limit Theorem says the sample mean is roughly normal for N around 30 or higher, even for skewed distributions. Below 30, no statistical guarantee. Committing to BUILD_EAGER on a noise-quality forecast is a coin flip on a one-time cost. So below 30 effective root-lineage rows we route to DEFERRED_WITH_NET. The runtime accumulator catches genuinely high-volume edges; we just don't commit eagerly on bad data. Number 30 isn't a tuning knob — it's a textbook statistical threshold.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the forecast come from? A new planner pass after the schedule walk. For each edge with an IndexLookup descriptor: compute sourceRows from the upstream alias, fanOut from EdgeFanOutEstimator, multiply with saturation guard, stamp onto the edge. Two pitfalls. First, the scheduler uses Long.MAX_VALUE as a sentinel for inferred-class aliases — forces low scheduling priority. Multiplying THROUGH MAX_VALUE poisons every downstream forecast. So we strip those sentinels BEFORE any arithmetic. Second, on overflow we store minus one — absent — not the clamped MAX_VALUE. A clamped MAX_VALUE would trivially satisfy forecast &gt; m and force BUILD_EAGER on every edge regardless of cost. Both pitfalls have regression tests. The forecast pipeline has subtle correctness invariants because the consumer is a comparison against a threshold — wrong inputs silently produce wrong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make this concrete. LDBC SNB IC4. The query — a Person, their friends through KNOWS, the friends' Posts created in a 30-day window, count the tags. The interesting edge is friend back to HAS_CREATOR to post — that's where the IndexLookup lives, because Post has creationDate indexed. Plan-time row propagation walks the schedule. Start with person count 1 because we're RID-pinned. Edge 1 to friend: average fan-out of KNOWS from Person is about 38. So friend count estimate is 38. Edge 2 from friend back to post: average fan-out of HAS_CREATOR-incoming-to-Person is about 100. sourceRows times fanOut equals 38 times 100 equals 3,800. Stamp 3,800 on this edge's forecast field. Selectivity from the histogram for a 30-day window is 0.028. m equals 33,000 over 100 times 0.972, which is 340. 3,800 is way more than 340, so BUILD_EAGER fires. Compare to the naive accumulator: deferral phase loads about 3 friends at full cost before accumulator passes 340, build fires, remaining 35 friends filtered. Total cost about 767·L versus our 436·L. That's 1.76× faster on this edge ALONE, just from skipping the deferral tax. Multiply across all edges in the query and you get the IC4 number from the results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recap of caching. Friend 1 hits the cache, misses, runs gates, builds, caches the RidSet, applies to its own link bag. Friends 50 and 200 — hundreds of vertices later — hit the cache and reuse the same RidSet for free. The whole reason this optimization is profitable: the index result is constant for the query, so we build once and amortize. The bottom path — cache.put key null plus a skip reason in the parallel map — is the rejection branch. Once we decide an edge isn't worth it, subsequent vertices on that edge skip without re-running gates. Cache capacity is 64 per edge — plenty for any realistic pattern, tiny memory footprint.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Code-level look at the cache. LinkedHashMap with capacity 64, LRU eviction. The parallel cachedSkipReasons map is subtle but important. When a vertex hits a cached null, you want to restore the ORIGINAL rejection reason — not the most recent skip from somewhere else. Without the parallel map, an external skip event between caching and retrieval would overwrite the cause. With it, the cause is preserved. BUILD_FAILED is the other null case — both gates passed but the actual scan returned null mid-stream. Could be cap exceeded mid-scan, missing target on a reverse-edge lookup, empty stream. Cached with reason BUILD_FAILED so PROFILE doesn't lie with reason colon NONE.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verify this in production. PROFILE prints per-edge counters. applied versus skipped count. RidSet size after resolve. Build time in nanos. filter rate — fraction of link bag entries the filter rejected. A 0.96 filter rate means the optimization rejected 96 percent of would-be loads — great. A skip diagnostic carries the threshold value. "NEVER APPLIED reason BUILD_NOT_AMORTIZED threshold T equals 12000" tells you exactly why it didn't fire and how big the volume gap was. Eight enumerable skip reasons cover every code path: NONE, CAP_EXCEEDED, SELECTIVITY_TOO_LOW, BUILD_NOT_AMORTIZED, LINKBAG_TOO_SMALL, OVERLAP_RATIO_TOO_HIGH, BUILD_FAILED, STATS_UNAVAILABLE. Global metric PREFILTER_EFFECTIVENESS aggregates filter rate across all queries — that's your headline operational metric for ops.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LDBC SNB SF1 numbers, single-thread and multi-thread percentage speedups against own-baseline. IC3 — two IndexLookups stacked on one pattern, biggest gain. IC9 — single IndexLookup on creationDate. IS7 — index on edge target property. IC13 — a modest 7 percent. That one is interesting — IC13 doesn't have an IndexLookup attached. The 7 percent comes from the CLT gate PREVENTING a BUILD_EAGER mis-fire that would have happened with the old logic. So the gates aren't just for capturing gains; they prevent regressions too. Percentages are not additive across queries — each row is its own measurement against its own baseline. What's NOT in this table: queries where the gates correctly chose not to build. Those stay at baseline. No regression. That's the bounded-loss contract from the earlier slide actually delivering in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did NOT solve. Three things, all acknowledged. First — residual danger zone at the trigger point. Any deferred-build strategy must throw away some savings during the deferral phase. The worst case is at actual n near T — about B of excess work. We bound it; we don't eliminate it. Second — forecast quality. Population mean fan-out is wrong for heavy-tail distributions. BUILD_EAGER will mis-fire on the low-degree tail. Each mis-fire is bounded by B, but the RATE depends on forecast inputs. Aggregate JMH numbers HIDE regressions on the median execution because high-degree users dominate wall-clock time. If you want median-user fairness, the fix is per-subclass degree statistics or surviving-subpopulation estimates — separate work stream. Third — histogram accuracy. m is computed from estimateHits. On skewed value distributions, estimateHits can be 2 to 5 times off in either direction. m shifts proportionally; decisions become wrong before any of our logic runs. Better histograms — multivariate stats, more buckets — would benefit every cost-based decision in the planner, not just this one. None of these are reasons not to ship. They're acknowledged limits that need their own follow-up work.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follow-ups already on the radar. Live cost measurement for loadToScanRatio — today it's static 100, but actual values range from 20 on warm cache to 500 on cold SSD with large records. The obstacle is sample bias — pre-rejected vertices never get loaded, so we never measure their hypothetical load cost. Plan: collect samples from queries where pre-filter did NOT fire and weight accordingly. Per-property edge fan-out histograms — today we have class-mean only, which is exactly the heavy-tail problem from the previous slide. Forecast propagation through multi-branch and optional patterns — currently we approximate diamond patterns conservatively, which routes to DEFERRED_WITH_NET more often than strictly needed. Acceptable for now but worth revisiting if production telemetry shows the pattern is common.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to verify the design from the code. Start with RidFilterDescriptor — the descriptor record, gate 1 lives on the IndexLookup variant. Then EdgeTraversal — resolveWithCache is the entry point, checkIndexLookupAmortization is gate 2 with its three-way decision, evaluateIndexLookupAmortization is the Composite-rescue variant. Then MatchExecutionPlanner — optimizeScheduleWithIntersections attaches the descriptor, stampEdgeForecasts runs the forecast pass with the anyEdgeHasIndexLookup short-circuit. TraversalPreFilterHelper holds findIndexForFilter for planner-side detection and resolveIndexToRidSet for runtime materialisation. Plus MatchStep.appendPreFilterStats emits the PROFILE diagnostic strings. Durable ADR lives in docs/adr/index-assisted-traversal/design-final.md. The implementation PR is number 973 on the JetBrains/youtrackdb repo — design details there too.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IndexLookup is one descriptor in a broader RidSet pre-filter mechanism — the companion deck covers all four descriptor types end to end if you want the wider picture. Happy to dig into the cost arithmetic, the forecast propagation, the regression test cases, or how this lands against Neo4j's NodeHashJoin equivalent.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recap before we describe the fix in pseudocode. The query at the top is the same IC9 we just traced. The graph below shows what executes today.</a:t>
            </a:r>
          </a:p>
          <a:p/>
          <a:p>
            <a:r>
              <a:t>One Person on the left. Three friend vertices shown — in reality 200. Each friend has a link bag of 5,000 message RIDs — fourteen boxes per row stand in for that 5,000.</a:t>
            </a:r>
          </a:p>
          <a:p/>
          <a:p>
            <a:r>
              <a:t>Red crosses are vertices we LOAD from disk today and then THROW AWAY because their creationDate doesn't match. Green checkmarks are the few vertices that actually pass.</a:t>
            </a:r>
          </a:p>
          <a:p/>
          <a:p>
            <a:r>
              <a:t>Across the whole picture: 36 posts shown, 6 green, 30 red. Generalize to reality and you get 200 times 5,000 equals one million loads, of which roughly 2,000 actually pass the WHERE. Every red box is wasted I/O.</a:t>
            </a:r>
          </a:p>
          <a:p/>
          <a:p>
            <a:r>
              <a:t>The IndexLookup optimization is, in one sentence: skip every red box. Don't even touch them. Load only the green ones. Next slide shows how.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Operational detail that matters in practice. When the gates reject, sometimes the rejection is permanent for this query — every vertex on this edge should skip without re-running gates. Sometimes it's transient — the next vertex might give a different answer. The cache distinguishes these.</a:t>
            </a:r>
          </a:p>
          <a:p/>
          <a:p>
            <a:r>
              <a:t>Permanent rejections — left column. SELECTIVITY_TOO_LOW: selectivity is a class-wide constant. STATS_UNAVAILABLE: no histogram is a schema fact, doesn't appear mid-query. CAP_EXCEEDED: estimatedSize is a property of the index condition against the class, not of any vertex. BUILD_FAILED: same index plus same parameters plus same data equals same failure. All four get cache.put(key, null) plus the skip reason stored in the parallel cachedSkipReasons map.</a:t>
            </a:r>
          </a:p>
          <a:p/>
          <a:p>
            <a:r>
              <a:t>Transient skips — right column. BUILD_NOT_AMORTIZED in DEFERRED_WITH_NET mode: the accumulator may cross T later and the build should still fire. If we cached null here, the safety net would die — subsequent vertices would short-circuit and the accumulator would never update. LINKBAG_TOO_SMALL: different source vertices have different bag sizes. OVERLAP_RATIO_TOO_HIGH: EdgeRidLookup's ratio depends on the per-vertex $matched.X binding.</a:t>
            </a:r>
          </a:p>
          <a:p/>
          <a:p>
            <a:r>
              <a:t>The operational consequence: cache hits with null short-circuit the whole gate evaluation in O(1). Transient skips don't poison the cache, so the next vertex starts fresh and gates run again with up-to-date state. That's the design contract you want to verify with PROFILE — see next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103120"/>
            <a:ext cx="11247120" cy="1371600"/>
          </a:xfrm>
          <a:prstGeom prst="rect">
            <a:avLst/>
          </a:prstGeom>
          <a:noFill/>
        </p:spPr>
        <p:txBody>
          <a:bodyPr wrap="square">
            <a:spAutoFit/>
          </a:bodyPr>
          <a:lstStyle/>
          <a:p>
            <a:r>
              <a:rPr sz="4000" b="1">
                <a:solidFill>
                  <a:srgbClr val="FF318C"/>
                </a:solidFill>
                <a:latin typeface="Calibri"/>
              </a:rPr>
              <a:t>IndexLookup Optimization in MATCH</a:t>
            </a:r>
          </a:p>
        </p:txBody>
      </p:sp>
      <p:sp>
        <p:nvSpPr>
          <p:cNvPr id="3" name="TextBox 2"/>
          <p:cNvSpPr txBox="1"/>
          <p:nvPr/>
        </p:nvSpPr>
        <p:spPr>
          <a:xfrm>
            <a:off x="457200" y="3657600"/>
            <a:ext cx="11247120" cy="640080"/>
          </a:xfrm>
          <a:prstGeom prst="rect">
            <a:avLst/>
          </a:prstGeom>
          <a:noFill/>
        </p:spPr>
        <p:txBody>
          <a:bodyPr wrap="square">
            <a:spAutoFit/>
          </a:bodyPr>
          <a:lstStyle/>
          <a:p>
            <a:r>
              <a:rPr sz="2200" i="1">
                <a:solidFill>
                  <a:srgbClr val="E8B5C8"/>
                </a:solidFill>
                <a:latin typeface="Calibri"/>
              </a:rPr>
              <a:t>Skipping vertices that won't match — by asking the index first</a:t>
            </a:r>
          </a:p>
        </p:txBody>
      </p:sp>
      <p:sp>
        <p:nvSpPr>
          <p:cNvPr id="4" name="TextBox 3"/>
          <p:cNvSpPr txBox="1"/>
          <p:nvPr/>
        </p:nvSpPr>
        <p:spPr>
          <a:xfrm>
            <a:off x="457200" y="4937760"/>
            <a:ext cx="11247120" cy="457200"/>
          </a:xfrm>
          <a:prstGeom prst="rect">
            <a:avLst/>
          </a:prstGeom>
          <a:noFill/>
        </p:spPr>
        <p:txBody>
          <a:bodyPr wrap="square">
            <a:spAutoFit/>
          </a:bodyPr>
          <a:lstStyle/>
          <a:p>
            <a:r>
              <a:rPr sz="1800">
                <a:solidFill>
                  <a:srgbClr val="E0E0E0"/>
                </a:solidFill>
                <a:latin typeface="Calibri"/>
              </a:rPr>
              <a:t>Sandra Adamiec  ·  YouTrackDB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How a MATCH query runs — the bigger picture</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Where the IndexLookup optimization lives in the pipeline</a:t>
            </a:r>
          </a:p>
        </p:txBody>
      </p:sp>
      <p:sp>
        <p:nvSpPr>
          <p:cNvPr id="4" name="TextBox 3"/>
          <p:cNvSpPr txBox="1"/>
          <p:nvPr/>
        </p:nvSpPr>
        <p:spPr>
          <a:xfrm>
            <a:off x="548640" y="1330000"/>
            <a:ext cx="11094720" cy="4500000"/>
          </a:xfrm>
          <a:prstGeom prst="rect">
            <a:avLst/>
          </a:prstGeom>
          <a:solidFill>
            <a:srgbClr val="121220"/>
          </a:solidFill>
          <a:ln w="6350">
            <a:solidFill>
              <a:srgbClr val="404060"/>
            </a:solidFill>
          </a:ln>
        </p:spPr>
        <p:txBody>
          <a:bodyPr wrap="square">
            <a:spAutoFit/>
          </a:bodyPr>
          <a:lstStyle/>
          <a:p>
            <a:r>
              <a:rPr sz="1200">
                <a:solidFill>
                  <a:srgbClr val="B0E0B0"/>
                </a:solidFill>
                <a:latin typeface="Consolas"/>
              </a:rPr>
              <a:t>SQL string</a:t>
            </a:r>
          </a:p>
          <a:p>
            <a:r>
              <a:rPr sz="1200">
                <a:solidFill>
                  <a:srgbClr val="B0E0B0"/>
                </a:solidFill>
                <a:latin typeface="Consolas"/>
              </a:rPr>
              <a:t>    │</a:t>
            </a:r>
          </a:p>
          <a:p>
            <a:r>
              <a:rPr sz="1200">
                <a:solidFill>
                  <a:srgbClr val="B0E0B0"/>
                </a:solidFill>
                <a:latin typeface="Consolas"/>
              </a:rPr>
              <a:t>    ▼</a:t>
            </a:r>
          </a:p>
          <a:p>
            <a:r>
              <a:rPr sz="1200">
                <a:solidFill>
                  <a:srgbClr val="B0E0B0"/>
                </a:solidFill>
                <a:latin typeface="Consolas"/>
              </a:rPr>
              <a:t>PARSER ────────► AST  (MatchStatement, alias bindings, WHERE trees)</a:t>
            </a:r>
          </a:p>
          <a:p>
            <a:r>
              <a:rPr sz="1200">
                <a:solidFill>
                  <a:srgbClr val="B0E0B0"/>
                </a:solidFill>
                <a:latin typeface="Consolas"/>
              </a:rPr>
              <a:t>    │</a:t>
            </a:r>
          </a:p>
          <a:p>
            <a:r>
              <a:rPr sz="1200">
                <a:solidFill>
                  <a:srgbClr val="B0E0B0"/>
                </a:solidFill>
                <a:latin typeface="Consolas"/>
              </a:rPr>
              <a:t>    ▼</a:t>
            </a:r>
          </a:p>
          <a:p>
            <a:r>
              <a:rPr sz="1200">
                <a:solidFill>
                  <a:srgbClr val="B0E0B0"/>
                </a:solidFill>
                <a:latin typeface="Consolas"/>
              </a:rPr>
              <a:t>PLANNER ───────► 1. extract aliases:   start, friend, msg, country, …</a:t>
            </a:r>
          </a:p>
          <a:p>
            <a:r>
              <a:rPr sz="1200">
                <a:solidFill>
                  <a:srgbClr val="B0E0B0"/>
                </a:solidFill>
                <a:latin typeface="Consolas"/>
              </a:rPr>
              <a:t>                 2. cost-based scheduling: which edge first, next, …</a:t>
            </a:r>
          </a:p>
          <a:p>
            <a:r>
              <a:rPr sz="1200">
                <a:solidFill>
                  <a:srgbClr val="B0E0B0"/>
                </a:solidFill>
                <a:latin typeface="Consolas"/>
              </a:rPr>
              <a:t>                 3. attach optimizations per edge   ← THIS DECK'S TOPIC</a:t>
            </a:r>
          </a:p>
          <a:p>
            <a:r>
              <a:rPr sz="1200">
                <a:solidFill>
                  <a:srgbClr val="B0E0B0"/>
                </a:solidFill>
                <a:latin typeface="Consolas"/>
              </a:rPr>
              <a:t>    │</a:t>
            </a:r>
          </a:p>
          <a:p>
            <a:r>
              <a:rPr sz="1200">
                <a:solidFill>
                  <a:srgbClr val="B0E0B0"/>
                </a:solidFill>
                <a:latin typeface="Consolas"/>
              </a:rPr>
              <a:t>    ▼</a:t>
            </a:r>
          </a:p>
          <a:p>
            <a:r>
              <a:rPr sz="1200">
                <a:solidFill>
                  <a:srgbClr val="B0E0B0"/>
                </a:solidFill>
                <a:latin typeface="Consolas"/>
              </a:rPr>
              <a:t>SCHEDULE         [ edge_0:  start  →  friend     via .out('KNOWS')      ]</a:t>
            </a:r>
          </a:p>
          <a:p>
            <a:r>
              <a:rPr sz="1200">
                <a:solidFill>
                  <a:srgbClr val="B0E0B0"/>
                </a:solidFill>
                <a:latin typeface="Consolas"/>
              </a:rPr>
              <a:t>                 [ edge_1:  friend →  msg        via .in('HAS_CREATOR') ]</a:t>
            </a:r>
          </a:p>
          <a:p>
            <a:r>
              <a:rPr sz="1200">
                <a:solidFill>
                  <a:srgbClr val="B0E0B0"/>
                </a:solidFill>
                <a:latin typeface="Consolas"/>
              </a:rPr>
              <a:t>                 [ edge_2:  msg    →  country    via .out('LOCATED_IN') ]</a:t>
            </a:r>
          </a:p>
          <a:p>
            <a:r>
              <a:rPr sz="1200">
                <a:solidFill>
                  <a:srgbClr val="B0E0B0"/>
                </a:solidFill>
                <a:latin typeface="Consolas"/>
              </a:rPr>
              <a:t>    │</a:t>
            </a:r>
          </a:p>
          <a:p>
            <a:r>
              <a:rPr sz="1200">
                <a:solidFill>
                  <a:srgbClr val="B0E0B0"/>
                </a:solidFill>
                <a:latin typeface="Consolas"/>
              </a:rPr>
              <a:t>    ▼</a:t>
            </a:r>
          </a:p>
          <a:p>
            <a:r>
              <a:rPr sz="1200">
                <a:solidFill>
                  <a:srgbClr val="B0E0B0"/>
                </a:solidFill>
                <a:latin typeface="Consolas"/>
              </a:rPr>
              <a:t>EXECUTION        for each edge in schedule:</a:t>
            </a:r>
          </a:p>
          <a:p>
            <a:r>
              <a:rPr sz="1200">
                <a:solidFill>
                  <a:srgbClr val="B0E0B0"/>
                </a:solidFill>
                <a:latin typeface="Consolas"/>
              </a:rPr>
              <a:t>                   for each source vertex v:</a:t>
            </a:r>
          </a:p>
          <a:p>
            <a:r>
              <a:rPr sz="1200">
                <a:solidFill>
                  <a:srgbClr val="B0E0B0"/>
                </a:solidFill>
                <a:latin typeface="Consolas"/>
              </a:rPr>
              <a:t>                     walk v's link bag                ← cheap</a:t>
            </a:r>
          </a:p>
          <a:p>
            <a:r>
              <a:rPr sz="1200">
                <a:solidFill>
                  <a:srgbClr val="B0E0B0"/>
                </a:solidFill>
                <a:latin typeface="Consolas"/>
              </a:rPr>
              <a:t>                     load each neighbor RID           ← EXPENSIVE</a:t>
            </a:r>
          </a:p>
          <a:p>
            <a:r>
              <a:rPr sz="1200">
                <a:solidFill>
                  <a:srgbClr val="B0E0B0"/>
                </a:solidFill>
                <a:latin typeface="Consolas"/>
              </a:rPr>
              <a:t>                     check WHERE on the neighbor</a:t>
            </a:r>
          </a:p>
          <a:p>
            <a:r>
              <a:rPr sz="1200">
                <a:solidFill>
                  <a:srgbClr val="B0E0B0"/>
                </a:solidFill>
                <a:latin typeface="Consolas"/>
              </a:rPr>
              <a:t>                     emit binding if all aliases match</a:t>
            </a:r>
          </a:p>
          <a:p>
            <a:r>
              <a:rPr sz="1200">
                <a:solidFill>
                  <a:srgbClr val="B0E0B0"/>
                </a:solidFill>
                <a:latin typeface="Consolas"/>
              </a:rPr>
              <a:t>    │</a:t>
            </a:r>
          </a:p>
          <a:p>
            <a:r>
              <a:rPr sz="1200">
                <a:solidFill>
                  <a:srgbClr val="B0E0B0"/>
                </a:solidFill>
                <a:latin typeface="Consolas"/>
              </a:rPr>
              <a:t>    ▼</a:t>
            </a:r>
          </a:p>
          <a:p>
            <a:r>
              <a:rPr sz="1200">
                <a:solidFill>
                  <a:srgbClr val="B0E0B0"/>
                </a:solidFill>
                <a:latin typeface="Consolas"/>
              </a:rPr>
              <a:t>RESULTS</a:t>
            </a:r>
          </a:p>
        </p:txBody>
      </p:sp>
      <p:sp>
        <p:nvSpPr>
          <p:cNvPr id="5" name="TextBox 4"/>
          <p:cNvSpPr txBox="1"/>
          <p:nvPr/>
        </p:nvSpPr>
        <p:spPr>
          <a:xfrm>
            <a:off x="548640" y="5980000"/>
            <a:ext cx="11094720" cy="700000"/>
          </a:xfrm>
          <a:prstGeom prst="rect">
            <a:avLst/>
          </a:prstGeom>
          <a:noFill/>
        </p:spPr>
        <p:txBody>
          <a:bodyPr wrap="square">
            <a:spAutoFit/>
          </a:bodyPr>
          <a:lstStyle/>
          <a:p>
            <a:r>
              <a:rPr sz="1600" b="0">
                <a:solidFill>
                  <a:srgbClr val="E0E0E0"/>
                </a:solidFill>
                <a:latin typeface="Calibri"/>
              </a:rPr>
              <a:t>The optimization sits inside the </a:t>
            </a:r>
            <a:r>
              <a:rPr sz="1600" b="1">
                <a:solidFill>
                  <a:srgbClr val="FCB13E"/>
                </a:solidFill>
                <a:latin typeface="Calibri"/>
              </a:rPr>
              <a:t>per-edge inner loop</a:t>
            </a:r>
            <a:r>
              <a:rPr sz="1600" b="0">
                <a:solidFill>
                  <a:srgbClr val="E0E0E0"/>
                </a:solidFill>
                <a:latin typeface="Calibri"/>
              </a:rPr>
              <a:t> — it changes </a:t>
            </a:r>
            <a:r>
              <a:rPr sz="1600" b="1">
                <a:solidFill>
                  <a:srgbClr val="FCB13E"/>
                </a:solidFill>
                <a:latin typeface="Calibri"/>
              </a:rPr>
              <a:t>which neighbor RIDs reach loadEntity()</a:t>
            </a:r>
            <a:r>
              <a:rPr sz="1600" b="0">
                <a:solidFill>
                  <a:srgbClr val="E0E0E0"/>
                </a:solidFill>
                <a:latin typeface="Calibri"/>
              </a:rPr>
              <a:t>, without touching the planner's edge ordering.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How edges are stored — the link bag</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Each vertex carries its own adjacency as fields on the record</a:t>
            </a:r>
          </a:p>
        </p:txBody>
      </p:sp>
      <p:sp>
        <p:nvSpPr>
          <p:cNvPr id="4" name="Rectangle 3"/>
          <p:cNvSpPr/>
          <p:nvPr/>
        </p:nvSpPr>
        <p:spPr>
          <a:xfrm>
            <a:off x="548640" y="1380000"/>
            <a:ext cx="5500000" cy="4500000"/>
          </a:xfrm>
          <a:prstGeom prst="rect">
            <a:avLst/>
          </a:prstGeom>
          <a:solidFill>
            <a:srgbClr val="252B4A"/>
          </a:solidFill>
          <a:ln w="19050">
            <a:solidFill>
              <a:srgbClr val="FF3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8640" y="1480000"/>
            <a:ext cx="5200000" cy="400000"/>
          </a:xfrm>
          <a:prstGeom prst="rect">
            <a:avLst/>
          </a:prstGeom>
          <a:noFill/>
        </p:spPr>
        <p:txBody>
          <a:bodyPr wrap="square">
            <a:spAutoFit/>
          </a:bodyPr>
          <a:lstStyle/>
          <a:p>
            <a:pPr algn="l"/>
            <a:r>
              <a:rPr sz="1600" b="1" i="0">
                <a:solidFill>
                  <a:srgbClr val="FCB13E"/>
                </a:solidFill>
                <a:latin typeface="Calibri"/>
              </a:rPr>
              <a:t>VERTEX  #12:5  (class: Person)</a:t>
            </a:r>
          </a:p>
        </p:txBody>
      </p:sp>
      <p:sp>
        <p:nvSpPr>
          <p:cNvPr id="6" name="TextBox 5"/>
          <p:cNvSpPr txBox="1"/>
          <p:nvPr/>
        </p:nvSpPr>
        <p:spPr>
          <a:xfrm>
            <a:off x="698640" y="1920000"/>
            <a:ext cx="5200000" cy="60000"/>
          </a:xfrm>
          <a:prstGeom prst="rect">
            <a:avLst/>
          </a:prstGeom>
          <a:noFill/>
        </p:spPr>
        <p:txBody>
          <a:bodyPr wrap="square">
            <a:spAutoFit/>
          </a:bodyPr>
          <a:lstStyle/>
          <a:p>
            <a:pPr algn="l"/>
            <a:r>
              <a:rPr sz="1000" b="0" i="0">
                <a:solidFill>
                  <a:srgbClr val="90A4AE"/>
                </a:solidFill>
                <a:latin typeface="Calibri"/>
              </a:rPr>
              <a:t>────────────────────────────────────────────────────────</a:t>
            </a:r>
          </a:p>
        </p:txBody>
      </p:sp>
      <p:sp>
        <p:nvSpPr>
          <p:cNvPr id="7" name="TextBox 6"/>
          <p:cNvSpPr txBox="1"/>
          <p:nvPr/>
        </p:nvSpPr>
        <p:spPr>
          <a:xfrm>
            <a:off x="698640" y="2080000"/>
            <a:ext cx="5200000" cy="560000"/>
          </a:xfrm>
          <a:prstGeom prst="rect">
            <a:avLst/>
          </a:prstGeom>
          <a:noFill/>
        </p:spPr>
        <p:txBody>
          <a:bodyPr wrap="square">
            <a:spAutoFit/>
          </a:bodyPr>
          <a:lstStyle/>
          <a:p>
            <a:r>
              <a:rPr sz="1400">
                <a:solidFill>
                  <a:srgbClr val="E0E0E0"/>
                </a:solidFill>
                <a:latin typeface="Consolas"/>
              </a:rPr>
              <a:t>name:  </a:t>
            </a:r>
            <a:r>
              <a:rPr sz="1400" b="0">
                <a:solidFill>
                  <a:srgbClr val="90A4AE"/>
                </a:solidFill>
                <a:latin typeface="Consolas"/>
              </a:rPr>
              <a:t>'Alice'</a:t>
            </a:r>
          </a:p>
        </p:txBody>
      </p:sp>
      <p:sp>
        <p:nvSpPr>
          <p:cNvPr id="8" name="TextBox 7"/>
          <p:cNvSpPr txBox="1"/>
          <p:nvPr/>
        </p:nvSpPr>
        <p:spPr>
          <a:xfrm>
            <a:off x="698640" y="2640000"/>
            <a:ext cx="5200000" cy="560000"/>
          </a:xfrm>
          <a:prstGeom prst="rect">
            <a:avLst/>
          </a:prstGeom>
          <a:noFill/>
        </p:spPr>
        <p:txBody>
          <a:bodyPr wrap="square">
            <a:spAutoFit/>
          </a:bodyPr>
          <a:lstStyle/>
          <a:p>
            <a:r>
              <a:rPr sz="1400">
                <a:solidFill>
                  <a:srgbClr val="E0E0E0"/>
                </a:solidFill>
                <a:latin typeface="Consolas"/>
              </a:rPr>
              <a:t>birthDay:  </a:t>
            </a:r>
            <a:r>
              <a:rPr sz="1400" b="0">
                <a:solidFill>
                  <a:srgbClr val="90A4AE"/>
                </a:solidFill>
                <a:latin typeface="Consolas"/>
              </a:rPr>
              <a:t>1989-04-21</a:t>
            </a:r>
          </a:p>
        </p:txBody>
      </p:sp>
      <p:sp>
        <p:nvSpPr>
          <p:cNvPr id="9" name="TextBox 8"/>
          <p:cNvSpPr txBox="1"/>
          <p:nvPr/>
        </p:nvSpPr>
        <p:spPr>
          <a:xfrm>
            <a:off x="698640" y="3760000"/>
            <a:ext cx="5200000" cy="560000"/>
          </a:xfrm>
          <a:prstGeom prst="rect">
            <a:avLst/>
          </a:prstGeom>
          <a:noFill/>
        </p:spPr>
        <p:txBody>
          <a:bodyPr wrap="square">
            <a:spAutoFit/>
          </a:bodyPr>
          <a:lstStyle/>
          <a:p>
            <a:r>
              <a:rPr sz="1400">
                <a:solidFill>
                  <a:srgbClr val="E0E0E0"/>
                </a:solidFill>
                <a:latin typeface="Consolas"/>
              </a:rPr>
              <a:t>out_KNOWS:  </a:t>
            </a:r>
            <a:r>
              <a:rPr sz="1400" b="1">
                <a:solidFill>
                  <a:srgbClr val="9CCC65"/>
                </a:solidFill>
                <a:latin typeface="Consolas"/>
              </a:rPr>
              <a:t>LinkBag[#12:9, #12:14, …]  (200 RIDs)</a:t>
            </a:r>
          </a:p>
        </p:txBody>
      </p:sp>
      <p:sp>
        <p:nvSpPr>
          <p:cNvPr id="10" name="TextBox 9"/>
          <p:cNvSpPr txBox="1"/>
          <p:nvPr/>
        </p:nvSpPr>
        <p:spPr>
          <a:xfrm>
            <a:off x="698640" y="4320000"/>
            <a:ext cx="5200000" cy="560000"/>
          </a:xfrm>
          <a:prstGeom prst="rect">
            <a:avLst/>
          </a:prstGeom>
          <a:noFill/>
        </p:spPr>
        <p:txBody>
          <a:bodyPr wrap="square">
            <a:spAutoFit/>
          </a:bodyPr>
          <a:lstStyle/>
          <a:p>
            <a:r>
              <a:rPr sz="1400">
                <a:solidFill>
                  <a:srgbClr val="E0E0E0"/>
                </a:solidFill>
                <a:latin typeface="Consolas"/>
              </a:rPr>
              <a:t>in_HAS_CREATOR:  </a:t>
            </a:r>
            <a:r>
              <a:rPr sz="1400" b="1">
                <a:solidFill>
                  <a:srgbClr val="9CCC65"/>
                </a:solidFill>
                <a:latin typeface="Consolas"/>
              </a:rPr>
              <a:t>LinkBag[#13:0, #13:7, …]  (5 000 RIDs)</a:t>
            </a:r>
          </a:p>
        </p:txBody>
      </p:sp>
      <p:sp>
        <p:nvSpPr>
          <p:cNvPr id="11" name="TextBox 10"/>
          <p:cNvSpPr txBox="1"/>
          <p:nvPr/>
        </p:nvSpPr>
        <p:spPr>
          <a:xfrm>
            <a:off x="698640" y="4880000"/>
            <a:ext cx="5200000" cy="560000"/>
          </a:xfrm>
          <a:prstGeom prst="rect">
            <a:avLst/>
          </a:prstGeom>
          <a:noFill/>
        </p:spPr>
        <p:txBody>
          <a:bodyPr wrap="square">
            <a:spAutoFit/>
          </a:bodyPr>
          <a:lstStyle/>
          <a:p>
            <a:r>
              <a:rPr sz="1400">
                <a:solidFill>
                  <a:srgbClr val="E0E0E0"/>
                </a:solidFill>
                <a:latin typeface="Consolas"/>
              </a:rPr>
              <a:t>out_LOCATED_IN:  </a:t>
            </a:r>
            <a:r>
              <a:rPr sz="1400" b="1">
                <a:solidFill>
                  <a:srgbClr val="9CCC65"/>
                </a:solidFill>
                <a:latin typeface="Consolas"/>
              </a:rPr>
              <a:t>LinkBag[#15:2]                (1 RID)</a:t>
            </a:r>
          </a:p>
        </p:txBody>
      </p:sp>
      <p:sp>
        <p:nvSpPr>
          <p:cNvPr id="12" name="TextBox 11"/>
          <p:cNvSpPr txBox="1"/>
          <p:nvPr/>
        </p:nvSpPr>
        <p:spPr>
          <a:xfrm>
            <a:off x="6300000" y="1380000"/>
            <a:ext cx="5550000" cy="450000"/>
          </a:xfrm>
          <a:prstGeom prst="rect">
            <a:avLst/>
          </a:prstGeom>
          <a:noFill/>
        </p:spPr>
        <p:txBody>
          <a:bodyPr wrap="square">
            <a:spAutoFit/>
          </a:bodyPr>
          <a:lstStyle/>
          <a:p>
            <a:pPr algn="l"/>
            <a:r>
              <a:rPr sz="1900" b="1" i="0">
                <a:solidFill>
                  <a:srgbClr val="FCB13E"/>
                </a:solidFill>
                <a:latin typeface="Calibri"/>
              </a:rPr>
              <a:t>Edge fields = built-in adjacency index</a:t>
            </a:r>
          </a:p>
        </p:txBody>
      </p:sp>
      <p:sp>
        <p:nvSpPr>
          <p:cNvPr id="13" name="TextBox 12"/>
          <p:cNvSpPr txBox="1"/>
          <p:nvPr/>
        </p:nvSpPr>
        <p:spPr>
          <a:xfrm>
            <a:off x="6300000" y="1930000"/>
            <a:ext cx="5550000" cy="4100000"/>
          </a:xfrm>
          <a:prstGeom prst="rect">
            <a:avLst/>
          </a:prstGeom>
          <a:noFill/>
        </p:spPr>
        <p:txBody>
          <a:bodyPr wrap="square">
            <a:spAutoFit/>
          </a:bodyPr>
          <a:lstStyle/>
          <a:p>
            <a:r>
              <a:rPr sz="1500" b="0">
                <a:solidFill>
                  <a:srgbClr val="E0E0E0"/>
                </a:solidFill>
                <a:latin typeface="Calibri"/>
              </a:rPr>
              <a:t>• Every vertex stores its own neighbors as </a:t>
            </a:r>
            <a:r>
              <a:rPr sz="1300" b="0">
                <a:solidFill>
                  <a:srgbClr val="B0E0B0"/>
                </a:solidFill>
                <a:latin typeface="Consolas"/>
              </a:rPr>
              <a:t>out_&lt;EdgeClass&gt;</a:t>
            </a:r>
            <a:r>
              <a:rPr sz="1500" b="0">
                <a:solidFill>
                  <a:srgbClr val="E0E0E0"/>
                </a:solidFill>
                <a:latin typeface="Calibri"/>
              </a:rPr>
              <a:t> and </a:t>
            </a:r>
            <a:r>
              <a:rPr sz="1300" b="0">
                <a:solidFill>
                  <a:srgbClr val="B0E0B0"/>
                </a:solidFill>
                <a:latin typeface="Consolas"/>
              </a:rPr>
              <a:t>in_&lt;EdgeClass&gt;</a:t>
            </a:r>
            <a:r>
              <a:rPr sz="1500" b="0">
                <a:solidFill>
                  <a:srgbClr val="E0E0E0"/>
                </a:solidFill>
                <a:latin typeface="Calibri"/>
              </a:rPr>
              <a:t> fields</a:t>
            </a:r>
          </a:p>
          <a:p>
            <a:r>
              <a:rPr sz="1500" b="0">
                <a:solidFill>
                  <a:srgbClr val="E0E0E0"/>
                </a:solidFill>
                <a:latin typeface="Calibri"/>
              </a:rPr>
              <a:t>• Each is a </a:t>
            </a:r>
            <a:r>
              <a:rPr sz="1300" b="0">
                <a:solidFill>
                  <a:srgbClr val="B0E0B0"/>
                </a:solidFill>
                <a:latin typeface="Consolas"/>
              </a:rPr>
              <a:t>LinkBag</a:t>
            </a:r>
            <a:r>
              <a:rPr sz="1500" b="0">
                <a:solidFill>
                  <a:srgbClr val="E0E0E0"/>
                </a:solidFill>
                <a:latin typeface="Calibri"/>
              </a:rPr>
              <a:t> — a list of RIDs of the neighbor records</a:t>
            </a:r>
          </a:p>
          <a:p>
            <a:r>
              <a:rPr sz="1500" b="0">
                <a:solidFill>
                  <a:srgbClr val="E0E0E0"/>
                </a:solidFill>
                <a:latin typeface="Calibri"/>
              </a:rPr>
              <a:t>• Walking the LinkBag is </a:t>
            </a:r>
            <a:r>
              <a:rPr sz="1500" b="1">
                <a:solidFill>
                  <a:srgbClr val="9CCC65"/>
                </a:solidFill>
                <a:latin typeface="Calibri"/>
              </a:rPr>
              <a:t>cheap</a:t>
            </a:r>
            <a:r>
              <a:rPr sz="1500" b="0">
                <a:solidFill>
                  <a:srgbClr val="E0E0E0"/>
                </a:solidFill>
                <a:latin typeface="Calibri"/>
              </a:rPr>
              <a:t> — sequential RIDs, O(bag size)</a:t>
            </a:r>
          </a:p>
          <a:p>
            <a:r>
              <a:rPr sz="1500" b="0">
                <a:solidFill>
                  <a:srgbClr val="E0E0E0"/>
                </a:solidFill>
                <a:latin typeface="Calibri"/>
              </a:rPr>
              <a:t>• Loading each RID is </a:t>
            </a:r>
            <a:r>
              <a:rPr sz="1500" b="1">
                <a:solidFill>
                  <a:srgbClr val="E57373"/>
                </a:solidFill>
                <a:latin typeface="Calibri"/>
              </a:rPr>
              <a:t>expensive</a:t>
            </a:r>
            <a:r>
              <a:rPr sz="1500" b="0">
                <a:solidFill>
                  <a:srgbClr val="E0E0E0"/>
                </a:solidFill>
                <a:latin typeface="Calibri"/>
              </a:rPr>
              <a:t> — random disk I/O per neighbor record</a:t>
            </a:r>
          </a:p>
          <a:p>
            <a:r>
              <a:rPr sz="800" b="0">
                <a:solidFill>
                  <a:srgbClr val="E0E0E0"/>
                </a:solidFill>
                <a:latin typeface="Calibri"/>
              </a:rPr>
              <a:t/>
            </a:r>
          </a:p>
          <a:p>
            <a:r>
              <a:rPr sz="1700" b="1">
                <a:solidFill>
                  <a:srgbClr val="FCB13E"/>
                </a:solidFill>
                <a:latin typeface="Calibri"/>
              </a:rPr>
              <a:t>The pre-filter shortcuts the load step:</a:t>
            </a:r>
          </a:p>
          <a:p>
            <a:r>
              <a:rPr sz="1500" b="0">
                <a:solidFill>
                  <a:srgbClr val="E0E0E0"/>
                </a:solidFill>
                <a:latin typeface="Calibri"/>
              </a:rPr>
              <a:t>• Build a fast lookup </a:t>
            </a:r>
            <a:r>
              <a:rPr sz="1300" b="0">
                <a:solidFill>
                  <a:srgbClr val="B0E0B0"/>
                </a:solidFill>
                <a:latin typeface="Consolas"/>
              </a:rPr>
              <a:t>RidSet</a:t>
            </a:r>
            <a:r>
              <a:rPr sz="1500" b="0">
                <a:solidFill>
                  <a:srgbClr val="E0E0E0"/>
                </a:solidFill>
                <a:latin typeface="Calibri"/>
              </a:rPr>
              <a:t> of every RID that would pass WHERE</a:t>
            </a:r>
          </a:p>
          <a:p>
            <a:r>
              <a:rPr sz="1500" b="0">
                <a:solidFill>
                  <a:srgbClr val="E0E0E0"/>
                </a:solidFill>
                <a:latin typeface="Calibri"/>
              </a:rPr>
              <a:t>• While walking the LinkBag, probe the RidSet first</a:t>
            </a:r>
          </a:p>
          <a:p>
            <a:r>
              <a:rPr sz="1500" b="0">
                <a:solidFill>
                  <a:srgbClr val="E0E0E0"/>
                </a:solidFill>
                <a:latin typeface="Calibri"/>
              </a:rPr>
              <a:t>• Only load RIDs that pass the probe — ~99% rejection happens at memory speed</a:t>
            </a:r>
          </a:p>
          <a:p>
            <a:r>
              <a:rPr sz="600" b="0">
                <a:solidFill>
                  <a:srgbClr val="E0E0E0"/>
                </a:solidFill>
                <a:latin typeface="Calibri"/>
              </a:rPr>
              <a:t/>
            </a:r>
          </a:p>
          <a:p>
            <a:r>
              <a:rPr sz="1400" b="0">
                <a:solidFill>
                  <a:srgbClr val="E0E0E0"/>
                </a:solidFill>
                <a:latin typeface="Calibri"/>
              </a:rPr>
              <a:t>Note — class filters use a different field on the LinkBag iterator (</a:t>
            </a:r>
            <a:r>
              <a:rPr sz="1200" b="0">
                <a:solidFill>
                  <a:srgbClr val="B0E0B0"/>
                </a:solidFill>
                <a:latin typeface="Consolas"/>
              </a:rPr>
              <a:t>acceptedCollectionIds</a:t>
            </a:r>
            <a:r>
              <a:rPr sz="1400" b="0">
                <a:solidFill>
                  <a:srgbClr val="E0E0E0"/>
                </a:solidFill>
                <a:latin typeface="Calibri"/>
              </a:rPr>
              <a:t>); IndexLookup uses </a:t>
            </a:r>
            <a:r>
              <a:rPr sz="1200" b="0">
                <a:solidFill>
                  <a:srgbClr val="B0E0B0"/>
                </a:solidFill>
                <a:latin typeface="Consolas"/>
              </a:rPr>
              <a:t>acceptedRids</a:t>
            </a:r>
            <a:r>
              <a:rPr sz="1400" b="0">
                <a:solidFill>
                  <a:srgbClr val="E0E0E0"/>
                </a:solidFill>
                <a:latin typeface="Calibri"/>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The problem — MATCH loads vertices it will throw away</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Concrete example: friend-of-friend recent messages on LDBC SNB</a:t>
            </a:r>
          </a:p>
        </p:txBody>
      </p:sp>
      <p:sp>
        <p:nvSpPr>
          <p:cNvPr id="4" name="TextBox 3"/>
          <p:cNvSpPr txBox="1"/>
          <p:nvPr/>
        </p:nvSpPr>
        <p:spPr>
          <a:xfrm>
            <a:off x="548640" y="1330000"/>
            <a:ext cx="11094720" cy="1100000"/>
          </a:xfrm>
          <a:prstGeom prst="rect">
            <a:avLst/>
          </a:prstGeom>
          <a:solidFill>
            <a:srgbClr val="121220"/>
          </a:solidFill>
          <a:ln w="6350">
            <a:solidFill>
              <a:srgbClr val="404060"/>
            </a:solidFill>
          </a:ln>
        </p:spPr>
        <p:txBody>
          <a:bodyPr wrap="square">
            <a:spAutoFit/>
          </a:bodyPr>
          <a:lstStyle/>
          <a:p>
            <a:r>
              <a:rPr sz="1500">
                <a:solidFill>
                  <a:srgbClr val="B0E0B0"/>
                </a:solidFill>
                <a:latin typeface="Consolas"/>
              </a:rPr>
              <a:t>MATCH {class: Person, where: id = :pid}.out('KNOWS'){as: friend}</a:t>
            </a:r>
          </a:p>
          <a:p>
            <a:r>
              <a:rPr sz="1500">
                <a:solidFill>
                  <a:srgbClr val="B0E0B0"/>
                </a:solidFill>
                <a:latin typeface="Consolas"/>
              </a:rPr>
              <a:t>      .in('HAS_CREATOR'){as: msg, where: creationDate &gt; :sinceDate}</a:t>
            </a:r>
          </a:p>
          <a:p>
            <a:r>
              <a:rPr sz="1500">
                <a:solidFill>
                  <a:srgbClr val="B0E0B0"/>
                </a:solidFill>
                <a:latin typeface="Consolas"/>
              </a:rPr>
              <a:t>RETURN msg</a:t>
            </a:r>
          </a:p>
        </p:txBody>
      </p:sp>
      <p:sp>
        <p:nvSpPr>
          <p:cNvPr id="5" name="TextBox 4"/>
          <p:cNvSpPr txBox="1"/>
          <p:nvPr/>
        </p:nvSpPr>
        <p:spPr>
          <a:xfrm>
            <a:off x="548640" y="2600000"/>
            <a:ext cx="11094720" cy="500000"/>
          </a:xfrm>
          <a:prstGeom prst="rect">
            <a:avLst/>
          </a:prstGeom>
          <a:noFill/>
        </p:spPr>
        <p:txBody>
          <a:bodyPr wrap="square">
            <a:spAutoFit/>
          </a:bodyPr>
          <a:lstStyle/>
          <a:p>
            <a:r>
              <a:rPr sz="1700" b="1">
                <a:solidFill>
                  <a:srgbClr val="FCB13E"/>
                </a:solidFill>
                <a:latin typeface="Calibri"/>
              </a:rPr>
              <a:t>Per-friend execution today:</a:t>
            </a:r>
          </a:p>
        </p:txBody>
      </p:sp>
      <p:sp>
        <p:nvSpPr>
          <p:cNvPr id="6" name="TextBox 5"/>
          <p:cNvSpPr txBox="1"/>
          <p:nvPr/>
        </p:nvSpPr>
        <p:spPr>
          <a:xfrm>
            <a:off x="548640" y="3100000"/>
            <a:ext cx="11094720" cy="1900000"/>
          </a:xfrm>
          <a:prstGeom prst="rect">
            <a:avLst/>
          </a:prstGeom>
          <a:solidFill>
            <a:srgbClr val="121220"/>
          </a:solidFill>
          <a:ln w="6350">
            <a:solidFill>
              <a:srgbClr val="404060"/>
            </a:solidFill>
          </a:ln>
        </p:spPr>
        <p:txBody>
          <a:bodyPr wrap="square">
            <a:spAutoFit/>
          </a:bodyPr>
          <a:lstStyle/>
          <a:p>
            <a:r>
              <a:rPr sz="1300">
                <a:solidFill>
                  <a:srgbClr val="B0E0B0"/>
                </a:solidFill>
                <a:latin typeface="Consolas"/>
              </a:rPr>
              <a:t>for friend in person.out('KNOWS'):                    // ~200 friends</a:t>
            </a:r>
          </a:p>
          <a:p>
            <a:r>
              <a:rPr sz="1300">
                <a:solidFill>
                  <a:srgbClr val="B0E0B0"/>
                </a:solidFill>
                <a:latin typeface="Consolas"/>
              </a:rPr>
              <a:t>    bag = friend.in_HAS_CREATOR                       // ~5 000 message RIDs</a:t>
            </a:r>
          </a:p>
          <a:p>
            <a:r>
              <a:rPr sz="1300">
                <a:solidFill>
                  <a:srgbClr val="B0E0B0"/>
                </a:solidFill>
                <a:latin typeface="Consolas"/>
              </a:rPr>
              <a:t>    for rid in bag:</a:t>
            </a:r>
          </a:p>
          <a:p>
            <a:r>
              <a:rPr sz="1300">
                <a:solidFill>
                  <a:srgbClr val="B0E0B0"/>
                </a:solidFill>
                <a:latin typeface="Consolas"/>
              </a:rPr>
              <a:t>        msg = loadEntity(rid)                          // ← random I/O</a:t>
            </a:r>
          </a:p>
          <a:p>
            <a:r>
              <a:rPr sz="1300">
                <a:solidFill>
                  <a:srgbClr val="B0E0B0"/>
                </a:solidFill>
                <a:latin typeface="Consolas"/>
              </a:rPr>
              <a:t>        if msg.creationDate &gt; :sinceDate:              // ~10 of 5 000 match</a:t>
            </a:r>
          </a:p>
          <a:p>
            <a:r>
              <a:rPr sz="1300">
                <a:solidFill>
                  <a:srgbClr val="B0E0B0"/>
                </a:solidFill>
                <a:latin typeface="Consolas"/>
              </a:rPr>
              <a:t>            yield msg</a:t>
            </a:r>
          </a:p>
        </p:txBody>
      </p:sp>
      <p:sp>
        <p:nvSpPr>
          <p:cNvPr id="7" name="TextBox 6"/>
          <p:cNvSpPr txBox="1"/>
          <p:nvPr/>
        </p:nvSpPr>
        <p:spPr>
          <a:xfrm>
            <a:off x="548640" y="5150000"/>
            <a:ext cx="11094720" cy="1650000"/>
          </a:xfrm>
          <a:prstGeom prst="rect">
            <a:avLst/>
          </a:prstGeom>
          <a:noFill/>
        </p:spPr>
        <p:txBody>
          <a:bodyPr wrap="square">
            <a:spAutoFit/>
          </a:bodyPr>
          <a:lstStyle/>
          <a:p>
            <a:r>
              <a:rPr sz="1800" b="1">
                <a:solidFill>
                  <a:srgbClr val="FCB13E"/>
                </a:solidFill>
                <a:latin typeface="Calibri"/>
              </a:rPr>
              <a:t>Numbers per query:</a:t>
            </a:r>
          </a:p>
          <a:p>
            <a:r>
              <a:rPr sz="1700" b="0">
                <a:solidFill>
                  <a:srgbClr val="E0E0E0"/>
                </a:solidFill>
                <a:latin typeface="Calibri"/>
              </a:rPr>
              <a:t>• 200 friends × 5 000 vertex loads = </a:t>
            </a:r>
            <a:r>
              <a:rPr sz="1700" b="1">
                <a:solidFill>
                  <a:srgbClr val="E57373"/>
                </a:solidFill>
                <a:latin typeface="Calibri"/>
              </a:rPr>
              <a:t>1 000 000 random reads</a:t>
            </a:r>
          </a:p>
          <a:p>
            <a:r>
              <a:rPr sz="1700" b="0">
                <a:solidFill>
                  <a:srgbClr val="E0E0E0"/>
                </a:solidFill>
                <a:latin typeface="Calibri"/>
              </a:rPr>
              <a:t>• ~99.8% of those vertices are discarded by the WHERE clause</a:t>
            </a:r>
          </a:p>
          <a:p>
            <a:r>
              <a:rPr sz="1700" b="0">
                <a:solidFill>
                  <a:srgbClr val="E0E0E0"/>
                </a:solidFill>
                <a:latin typeface="Calibri"/>
              </a:rPr>
              <a:t>• The WHERE only checks </a:t>
            </a:r>
            <a:r>
              <a:rPr sz="1500" b="0">
                <a:solidFill>
                  <a:srgbClr val="B0E0B0"/>
                </a:solidFill>
                <a:latin typeface="Consolas"/>
              </a:rPr>
              <a:t>creationDate</a:t>
            </a:r>
            <a:r>
              <a:rPr sz="1700" b="0">
                <a:solidFill>
                  <a:srgbClr val="E0E0E0"/>
                </a:solidFill>
                <a:latin typeface="Calibri"/>
              </a:rPr>
              <a:t> — a property that an index could resolve without loading the vertex at 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What we want to skip — concretely</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IC9 as a graph: red = vertices loaded and thrown away by WHERE; green = vertices that actually pass</a:t>
            </a:r>
          </a:p>
        </p:txBody>
      </p:sp>
      <p:sp>
        <p:nvSpPr>
          <p:cNvPr id="4" name="TextBox 3"/>
          <p:cNvSpPr txBox="1"/>
          <p:nvPr/>
        </p:nvSpPr>
        <p:spPr>
          <a:xfrm>
            <a:off x="457200" y="1380000"/>
            <a:ext cx="11247120" cy="450000"/>
          </a:xfrm>
          <a:prstGeom prst="rect">
            <a:avLst/>
          </a:prstGeom>
          <a:solidFill>
            <a:srgbClr val="121220"/>
          </a:solidFill>
          <a:ln w="6350">
            <a:solidFill>
              <a:srgbClr val="404060"/>
            </a:solidFill>
          </a:ln>
        </p:spPr>
        <p:txBody>
          <a:bodyPr wrap="none" lIns="72000" rIns="72000" tIns="36000" bIns="36000">
            <a:spAutoFit/>
          </a:bodyPr>
          <a:lstStyle/>
          <a:p>
            <a:r>
              <a:rPr sz="1300">
                <a:solidFill>
                  <a:srgbClr val="B0E0B0"/>
                </a:solidFill>
                <a:latin typeface="Consolas"/>
              </a:rPr>
              <a:t>MATCH {Person, id=:pid}.out('KNOWS'){friend}.in('HAS_CREATOR'){post, where: creationDate &gt; :sinceDate} RETURN post</a:t>
            </a:r>
          </a:p>
        </p:txBody>
      </p:sp>
      <p:sp>
        <p:nvSpPr>
          <p:cNvPr id="5" name="Rounded Rectangle 4"/>
          <p:cNvSpPr/>
          <p:nvPr/>
        </p:nvSpPr>
        <p:spPr>
          <a:xfrm>
            <a:off x="548640" y="3100000"/>
            <a:ext cx="1700000" cy="1400000"/>
          </a:xfrm>
          <a:prstGeom prst="roundRect">
            <a:avLst/>
          </a:prstGeom>
          <a:solidFill>
            <a:srgbClr val="252B4A"/>
          </a:solidFill>
          <a:ln w="19050">
            <a:solidFill>
              <a:srgbClr val="FCB13E"/>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300" b="1">
                <a:solidFill>
                  <a:srgbClr val="E0E0E0"/>
                </a:solidFill>
                <a:latin typeface="Calibri"/>
              </a:rPr>
              <a:t>Person
:pid
(1 vertex)</a:t>
            </a:r>
          </a:p>
        </p:txBody>
      </p:sp>
      <p:sp>
        <p:nvSpPr>
          <p:cNvPr id="6" name="Rounded Rectangle 5"/>
          <p:cNvSpPr/>
          <p:nvPr/>
        </p:nvSpPr>
        <p:spPr>
          <a:xfrm>
            <a:off x="3400000" y="2000000"/>
            <a:ext cx="1500000" cy="800000"/>
          </a:xfrm>
          <a:prstGeom prst="roundRect">
            <a:avLst/>
          </a:prstGeom>
          <a:solidFill>
            <a:srgbClr val="354266"/>
          </a:solidFill>
          <a:ln w="12700">
            <a:solidFill>
              <a:srgbClr val="FCB13E"/>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100" b="1">
                <a:solidFill>
                  <a:srgbClr val="E0E0E0"/>
                </a:solidFill>
                <a:latin typeface="Calibri"/>
              </a:rPr>
              <a:t>friend_1
link bag
5,000 RIDs</a:t>
            </a:r>
          </a:p>
        </p:txBody>
      </p:sp>
      <p:sp>
        <p:nvSpPr>
          <p:cNvPr id="7" name="Right Arrow 6"/>
          <p:cNvSpPr/>
          <p:nvPr/>
        </p:nvSpPr>
        <p:spPr>
          <a:xfrm>
            <a:off x="4900000" y="2340000"/>
            <a:ext cx="300000" cy="120000"/>
          </a:xfrm>
          <a:prstGeom prst="rightArrow">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0000" y="22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9" name="Rectangle 8"/>
          <p:cNvSpPr/>
          <p:nvPr/>
        </p:nvSpPr>
        <p:spPr>
          <a:xfrm>
            <a:off x="5720000" y="22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10" name="Rectangle 9"/>
          <p:cNvSpPr/>
          <p:nvPr/>
        </p:nvSpPr>
        <p:spPr>
          <a:xfrm>
            <a:off x="6140000" y="22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11" name="Rectangle 10"/>
          <p:cNvSpPr/>
          <p:nvPr/>
        </p:nvSpPr>
        <p:spPr>
          <a:xfrm>
            <a:off x="6560000" y="2220000"/>
            <a:ext cx="360000" cy="360000"/>
          </a:xfrm>
          <a:prstGeom prst="rect">
            <a:avLst/>
          </a:prstGeom>
          <a:solidFill>
            <a:srgbClr val="2E5C2E"/>
          </a:solidFill>
          <a:ln w="12700">
            <a:solidFill>
              <a:srgbClr val="9CCC65"/>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9CCC65"/>
                </a:solidFill>
                <a:latin typeface="Calibri"/>
              </a:rPr>
              <a:t>✓</a:t>
            </a:r>
          </a:p>
        </p:txBody>
      </p:sp>
      <p:sp>
        <p:nvSpPr>
          <p:cNvPr id="12" name="Rectangle 11"/>
          <p:cNvSpPr/>
          <p:nvPr/>
        </p:nvSpPr>
        <p:spPr>
          <a:xfrm>
            <a:off x="6980000" y="22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13" name="Rectangle 12"/>
          <p:cNvSpPr/>
          <p:nvPr/>
        </p:nvSpPr>
        <p:spPr>
          <a:xfrm>
            <a:off x="7400000" y="22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14" name="Rectangle 13"/>
          <p:cNvSpPr/>
          <p:nvPr/>
        </p:nvSpPr>
        <p:spPr>
          <a:xfrm>
            <a:off x="7820000" y="22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15" name="Rectangle 14"/>
          <p:cNvSpPr/>
          <p:nvPr/>
        </p:nvSpPr>
        <p:spPr>
          <a:xfrm>
            <a:off x="8240000" y="22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16" name="Rectangle 15"/>
          <p:cNvSpPr/>
          <p:nvPr/>
        </p:nvSpPr>
        <p:spPr>
          <a:xfrm>
            <a:off x="8660000" y="22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17" name="Rectangle 16"/>
          <p:cNvSpPr/>
          <p:nvPr/>
        </p:nvSpPr>
        <p:spPr>
          <a:xfrm>
            <a:off x="9080000" y="22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18" name="Rectangle 17"/>
          <p:cNvSpPr/>
          <p:nvPr/>
        </p:nvSpPr>
        <p:spPr>
          <a:xfrm>
            <a:off x="9500000" y="22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19" name="Rectangle 18"/>
          <p:cNvSpPr/>
          <p:nvPr/>
        </p:nvSpPr>
        <p:spPr>
          <a:xfrm>
            <a:off x="9920000" y="2220000"/>
            <a:ext cx="360000" cy="360000"/>
          </a:xfrm>
          <a:prstGeom prst="rect">
            <a:avLst/>
          </a:prstGeom>
          <a:solidFill>
            <a:srgbClr val="2E5C2E"/>
          </a:solidFill>
          <a:ln w="12700">
            <a:solidFill>
              <a:srgbClr val="9CCC65"/>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9CCC65"/>
                </a:solidFill>
                <a:latin typeface="Calibri"/>
              </a:rPr>
              <a:t>✓</a:t>
            </a:r>
          </a:p>
        </p:txBody>
      </p:sp>
      <p:sp>
        <p:nvSpPr>
          <p:cNvPr id="20" name="Rectangle 19"/>
          <p:cNvSpPr/>
          <p:nvPr/>
        </p:nvSpPr>
        <p:spPr>
          <a:xfrm>
            <a:off x="10340000" y="22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21" name="Rectangle 20"/>
          <p:cNvSpPr/>
          <p:nvPr/>
        </p:nvSpPr>
        <p:spPr>
          <a:xfrm>
            <a:off x="10760000" y="22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22" name="Rounded Rectangle 21"/>
          <p:cNvSpPr/>
          <p:nvPr/>
        </p:nvSpPr>
        <p:spPr>
          <a:xfrm>
            <a:off x="3400000" y="3200000"/>
            <a:ext cx="1500000" cy="800000"/>
          </a:xfrm>
          <a:prstGeom prst="roundRect">
            <a:avLst/>
          </a:prstGeom>
          <a:solidFill>
            <a:srgbClr val="354266"/>
          </a:solidFill>
          <a:ln w="12700">
            <a:solidFill>
              <a:srgbClr val="FCB13E"/>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100" b="1">
                <a:solidFill>
                  <a:srgbClr val="E0E0E0"/>
                </a:solidFill>
                <a:latin typeface="Calibri"/>
              </a:rPr>
              <a:t>friend_2
link bag
5,000 RIDs</a:t>
            </a:r>
          </a:p>
        </p:txBody>
      </p:sp>
      <p:sp>
        <p:nvSpPr>
          <p:cNvPr id="23" name="Right Arrow 22"/>
          <p:cNvSpPr/>
          <p:nvPr/>
        </p:nvSpPr>
        <p:spPr>
          <a:xfrm>
            <a:off x="4900000" y="3540000"/>
            <a:ext cx="300000" cy="120000"/>
          </a:xfrm>
          <a:prstGeom prst="rightArrow">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00000" y="34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25" name="Rectangle 24"/>
          <p:cNvSpPr/>
          <p:nvPr/>
        </p:nvSpPr>
        <p:spPr>
          <a:xfrm>
            <a:off x="5720000" y="34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26" name="Rectangle 25"/>
          <p:cNvSpPr/>
          <p:nvPr/>
        </p:nvSpPr>
        <p:spPr>
          <a:xfrm>
            <a:off x="6140000" y="34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27" name="Rectangle 26"/>
          <p:cNvSpPr/>
          <p:nvPr/>
        </p:nvSpPr>
        <p:spPr>
          <a:xfrm>
            <a:off x="6560000" y="34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28" name="Rectangle 27"/>
          <p:cNvSpPr/>
          <p:nvPr/>
        </p:nvSpPr>
        <p:spPr>
          <a:xfrm>
            <a:off x="6980000" y="34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29" name="Rectangle 28"/>
          <p:cNvSpPr/>
          <p:nvPr/>
        </p:nvSpPr>
        <p:spPr>
          <a:xfrm>
            <a:off x="7400000" y="34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30" name="Rectangle 29"/>
          <p:cNvSpPr/>
          <p:nvPr/>
        </p:nvSpPr>
        <p:spPr>
          <a:xfrm>
            <a:off x="7820000" y="3420000"/>
            <a:ext cx="360000" cy="360000"/>
          </a:xfrm>
          <a:prstGeom prst="rect">
            <a:avLst/>
          </a:prstGeom>
          <a:solidFill>
            <a:srgbClr val="2E5C2E"/>
          </a:solidFill>
          <a:ln w="12700">
            <a:solidFill>
              <a:srgbClr val="9CCC65"/>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9CCC65"/>
                </a:solidFill>
                <a:latin typeface="Calibri"/>
              </a:rPr>
              <a:t>✓</a:t>
            </a:r>
          </a:p>
        </p:txBody>
      </p:sp>
      <p:sp>
        <p:nvSpPr>
          <p:cNvPr id="31" name="Rectangle 30"/>
          <p:cNvSpPr/>
          <p:nvPr/>
        </p:nvSpPr>
        <p:spPr>
          <a:xfrm>
            <a:off x="8240000" y="34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32" name="Rectangle 31"/>
          <p:cNvSpPr/>
          <p:nvPr/>
        </p:nvSpPr>
        <p:spPr>
          <a:xfrm>
            <a:off x="8660000" y="34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33" name="Rectangle 32"/>
          <p:cNvSpPr/>
          <p:nvPr/>
        </p:nvSpPr>
        <p:spPr>
          <a:xfrm>
            <a:off x="9080000" y="34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34" name="Rectangle 33"/>
          <p:cNvSpPr/>
          <p:nvPr/>
        </p:nvSpPr>
        <p:spPr>
          <a:xfrm>
            <a:off x="9500000" y="34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35" name="Rectangle 34"/>
          <p:cNvSpPr/>
          <p:nvPr/>
        </p:nvSpPr>
        <p:spPr>
          <a:xfrm>
            <a:off x="9920000" y="34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36" name="Rectangle 35"/>
          <p:cNvSpPr/>
          <p:nvPr/>
        </p:nvSpPr>
        <p:spPr>
          <a:xfrm>
            <a:off x="10340000" y="34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37" name="Rectangle 36"/>
          <p:cNvSpPr/>
          <p:nvPr/>
        </p:nvSpPr>
        <p:spPr>
          <a:xfrm>
            <a:off x="10760000" y="34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38" name="Rounded Rectangle 37"/>
          <p:cNvSpPr/>
          <p:nvPr/>
        </p:nvSpPr>
        <p:spPr>
          <a:xfrm>
            <a:off x="3400000" y="4400000"/>
            <a:ext cx="1500000" cy="800000"/>
          </a:xfrm>
          <a:prstGeom prst="roundRect">
            <a:avLst/>
          </a:prstGeom>
          <a:solidFill>
            <a:srgbClr val="354266"/>
          </a:solidFill>
          <a:ln w="12700">
            <a:solidFill>
              <a:srgbClr val="FCB13E"/>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100" b="1">
                <a:solidFill>
                  <a:srgbClr val="E0E0E0"/>
                </a:solidFill>
                <a:latin typeface="Calibri"/>
              </a:rPr>
              <a:t>friend_3
link bag
5,000 RIDs</a:t>
            </a:r>
          </a:p>
        </p:txBody>
      </p:sp>
      <p:sp>
        <p:nvSpPr>
          <p:cNvPr id="39" name="Right Arrow 38"/>
          <p:cNvSpPr/>
          <p:nvPr/>
        </p:nvSpPr>
        <p:spPr>
          <a:xfrm>
            <a:off x="4900000" y="4740000"/>
            <a:ext cx="300000" cy="120000"/>
          </a:xfrm>
          <a:prstGeom prst="rightArrow">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00000" y="46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41" name="Rectangle 40"/>
          <p:cNvSpPr/>
          <p:nvPr/>
        </p:nvSpPr>
        <p:spPr>
          <a:xfrm>
            <a:off x="5720000" y="4620000"/>
            <a:ext cx="360000" cy="360000"/>
          </a:xfrm>
          <a:prstGeom prst="rect">
            <a:avLst/>
          </a:prstGeom>
          <a:solidFill>
            <a:srgbClr val="2E5C2E"/>
          </a:solidFill>
          <a:ln w="12700">
            <a:solidFill>
              <a:srgbClr val="9CCC65"/>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9CCC65"/>
                </a:solidFill>
                <a:latin typeface="Calibri"/>
              </a:rPr>
              <a:t>✓</a:t>
            </a:r>
          </a:p>
        </p:txBody>
      </p:sp>
      <p:sp>
        <p:nvSpPr>
          <p:cNvPr id="42" name="Rectangle 41"/>
          <p:cNvSpPr/>
          <p:nvPr/>
        </p:nvSpPr>
        <p:spPr>
          <a:xfrm>
            <a:off x="6140000" y="46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43" name="Rectangle 42"/>
          <p:cNvSpPr/>
          <p:nvPr/>
        </p:nvSpPr>
        <p:spPr>
          <a:xfrm>
            <a:off x="6560000" y="46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44" name="Rectangle 43"/>
          <p:cNvSpPr/>
          <p:nvPr/>
        </p:nvSpPr>
        <p:spPr>
          <a:xfrm>
            <a:off x="6980000" y="46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45" name="Rectangle 44"/>
          <p:cNvSpPr/>
          <p:nvPr/>
        </p:nvSpPr>
        <p:spPr>
          <a:xfrm>
            <a:off x="7400000" y="46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46" name="Rectangle 45"/>
          <p:cNvSpPr/>
          <p:nvPr/>
        </p:nvSpPr>
        <p:spPr>
          <a:xfrm>
            <a:off x="7820000" y="46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47" name="Rectangle 46"/>
          <p:cNvSpPr/>
          <p:nvPr/>
        </p:nvSpPr>
        <p:spPr>
          <a:xfrm>
            <a:off x="8240000" y="46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48" name="Rectangle 47"/>
          <p:cNvSpPr/>
          <p:nvPr/>
        </p:nvSpPr>
        <p:spPr>
          <a:xfrm>
            <a:off x="8660000" y="4620000"/>
            <a:ext cx="360000" cy="360000"/>
          </a:xfrm>
          <a:prstGeom prst="rect">
            <a:avLst/>
          </a:prstGeom>
          <a:solidFill>
            <a:srgbClr val="2E5C2E"/>
          </a:solidFill>
          <a:ln w="12700">
            <a:solidFill>
              <a:srgbClr val="9CCC65"/>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9CCC65"/>
                </a:solidFill>
                <a:latin typeface="Calibri"/>
              </a:rPr>
              <a:t>✓</a:t>
            </a:r>
          </a:p>
        </p:txBody>
      </p:sp>
      <p:sp>
        <p:nvSpPr>
          <p:cNvPr id="49" name="Rectangle 48"/>
          <p:cNvSpPr/>
          <p:nvPr/>
        </p:nvSpPr>
        <p:spPr>
          <a:xfrm>
            <a:off x="9080000" y="46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50" name="Rectangle 49"/>
          <p:cNvSpPr/>
          <p:nvPr/>
        </p:nvSpPr>
        <p:spPr>
          <a:xfrm>
            <a:off x="9500000" y="46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51" name="Rectangle 50"/>
          <p:cNvSpPr/>
          <p:nvPr/>
        </p:nvSpPr>
        <p:spPr>
          <a:xfrm>
            <a:off x="9920000" y="46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52" name="Rectangle 51"/>
          <p:cNvSpPr/>
          <p:nvPr/>
        </p:nvSpPr>
        <p:spPr>
          <a:xfrm>
            <a:off x="10340000" y="4620000"/>
            <a:ext cx="360000" cy="360000"/>
          </a:xfrm>
          <a:prstGeom prst="rect">
            <a:avLst/>
          </a:prstGeom>
          <a:solidFill>
            <a:srgbClr val="663030"/>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E57373"/>
                </a:solidFill>
                <a:latin typeface="Calibri"/>
              </a:rPr>
              <a:t>✗</a:t>
            </a:r>
          </a:p>
        </p:txBody>
      </p:sp>
      <p:sp>
        <p:nvSpPr>
          <p:cNvPr id="53" name="Rectangle 52"/>
          <p:cNvSpPr/>
          <p:nvPr/>
        </p:nvSpPr>
        <p:spPr>
          <a:xfrm>
            <a:off x="10760000" y="4620000"/>
            <a:ext cx="360000" cy="360000"/>
          </a:xfrm>
          <a:prstGeom prst="rect">
            <a:avLst/>
          </a:prstGeom>
          <a:solidFill>
            <a:srgbClr val="2E5C2E"/>
          </a:solidFill>
          <a:ln w="12700">
            <a:solidFill>
              <a:srgbClr val="9CCC65"/>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400" b="1">
                <a:solidFill>
                  <a:srgbClr val="9CCC65"/>
                </a:solidFill>
                <a:latin typeface="Calibri"/>
              </a:rPr>
              <a:t>✓</a:t>
            </a:r>
          </a:p>
        </p:txBody>
      </p:sp>
      <p:cxnSp>
        <p:nvCxnSpPr>
          <p:cNvPr id="54" name="Connector 53"/>
          <p:cNvCxnSpPr/>
          <p:nvPr/>
        </p:nvCxnSpPr>
        <p:spPr>
          <a:xfrm flipV="1">
            <a:off x="2248640" y="2400000"/>
            <a:ext cx="1151360" cy="1400000"/>
          </a:xfrm>
          <a:prstGeom prst="line">
            <a:avLst/>
          </a:prstGeom>
          <a:ln w="19050">
            <a:solidFill>
              <a:srgbClr val="9E9E9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2248640" y="3600000"/>
            <a:ext cx="1151360" cy="200000"/>
          </a:xfrm>
          <a:prstGeom prst="line">
            <a:avLst/>
          </a:prstGeom>
          <a:ln w="19050">
            <a:solidFill>
              <a:srgbClr val="9E9E9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2248640" y="3800000"/>
            <a:ext cx="1151360" cy="1000000"/>
          </a:xfrm>
          <a:prstGeom prst="line">
            <a:avLst/>
          </a:prstGeom>
          <a:ln w="19050">
            <a:solidFill>
              <a:srgbClr val="9E9E9E"/>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548640" y="5500000"/>
            <a:ext cx="11000000" cy="300000"/>
          </a:xfrm>
          <a:prstGeom prst="rect">
            <a:avLst/>
          </a:prstGeom>
          <a:noFill/>
        </p:spPr>
        <p:txBody>
          <a:bodyPr wrap="square">
            <a:spAutoFit/>
          </a:bodyPr>
          <a:lstStyle/>
          <a:p>
            <a:pPr algn="l"/>
            <a:r>
              <a:rPr sz="1300" b="0" i="0">
                <a:solidFill>
                  <a:srgbClr val="E0E0E0"/>
                </a:solidFill>
                <a:latin typeface="Calibri"/>
              </a:rPr>
              <a:t>Legend:   ✗ red = loaded then rejected by WHERE       ✓ green = actually matches creationDate &gt; :sinceDate</a:t>
            </a:r>
          </a:p>
        </p:txBody>
      </p:sp>
      <p:sp>
        <p:nvSpPr>
          <p:cNvPr id="58" name="TextBox 57"/>
          <p:cNvSpPr txBox="1"/>
          <p:nvPr/>
        </p:nvSpPr>
        <p:spPr>
          <a:xfrm>
            <a:off x="548640" y="5900000"/>
            <a:ext cx="11000000" cy="280000"/>
          </a:xfrm>
          <a:prstGeom prst="rect">
            <a:avLst/>
          </a:prstGeom>
          <a:noFill/>
        </p:spPr>
        <p:txBody>
          <a:bodyPr wrap="square">
            <a:spAutoFit/>
          </a:bodyPr>
          <a:lstStyle/>
          <a:p>
            <a:pPr algn="l"/>
            <a:r>
              <a:rPr sz="1400" b="1" i="0">
                <a:solidFill>
                  <a:srgbClr val="FCB13E"/>
                </a:solidFill>
                <a:latin typeface="Calibri"/>
              </a:rPr>
              <a:t>Reality: 200 friends × 5,000 posts = 1,000,000 vertex loads; ~0.2% pass WHERE.</a:t>
            </a:r>
          </a:p>
        </p:txBody>
      </p:sp>
      <p:sp>
        <p:nvSpPr>
          <p:cNvPr id="59" name="TextBox 58"/>
          <p:cNvSpPr txBox="1"/>
          <p:nvPr/>
        </p:nvSpPr>
        <p:spPr>
          <a:xfrm>
            <a:off x="548640" y="6280000"/>
            <a:ext cx="11000000" cy="280000"/>
          </a:xfrm>
          <a:prstGeom prst="rect">
            <a:avLst/>
          </a:prstGeom>
          <a:noFill/>
        </p:spPr>
        <p:txBody>
          <a:bodyPr wrap="square">
            <a:spAutoFit/>
          </a:bodyPr>
          <a:lstStyle/>
          <a:p>
            <a:pPr algn="l"/>
            <a:r>
              <a:rPr sz="1400" b="1" i="0">
                <a:solidFill>
                  <a:srgbClr val="FCB13E"/>
                </a:solidFill>
                <a:latin typeface="Calibri"/>
              </a:rPr>
              <a:t>The optimization skips every red box.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The idea — ask the index once, intersect for free</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If WHERE matches an index, the index already knows which RIDs qualify</a:t>
            </a:r>
          </a:p>
        </p:txBody>
      </p:sp>
      <p:sp>
        <p:nvSpPr>
          <p:cNvPr id="4" name="TextBox 3"/>
          <p:cNvSpPr txBox="1"/>
          <p:nvPr/>
        </p:nvSpPr>
        <p:spPr>
          <a:xfrm>
            <a:off x="548640" y="1330000"/>
            <a:ext cx="11094720" cy="500000"/>
          </a:xfrm>
          <a:prstGeom prst="rect">
            <a:avLst/>
          </a:prstGeom>
          <a:noFill/>
        </p:spPr>
        <p:txBody>
          <a:bodyPr wrap="square">
            <a:spAutoFit/>
          </a:bodyPr>
          <a:lstStyle/>
          <a:p>
            <a:r>
              <a:rPr sz="1700" b="0">
                <a:solidFill>
                  <a:srgbClr val="E0E0E0"/>
                </a:solidFill>
                <a:latin typeface="Calibri"/>
              </a:rPr>
              <a:t>Class </a:t>
            </a:r>
            <a:r>
              <a:rPr sz="1700" b="1">
                <a:solidFill>
                  <a:srgbClr val="FCB13E"/>
                </a:solidFill>
                <a:latin typeface="Calibri"/>
              </a:rPr>
              <a:t>Message</a:t>
            </a:r>
            <a:r>
              <a:rPr sz="1700" b="0">
                <a:solidFill>
                  <a:srgbClr val="E0E0E0"/>
                </a:solidFill>
                <a:latin typeface="Calibri"/>
              </a:rPr>
              <a:t> has an index on </a:t>
            </a:r>
            <a:r>
              <a:rPr sz="1500" b="0">
                <a:solidFill>
                  <a:srgbClr val="B0E0B0"/>
                </a:solidFill>
                <a:latin typeface="Consolas"/>
              </a:rPr>
              <a:t>creationDate</a:t>
            </a:r>
            <a:r>
              <a:rPr sz="1700" b="0">
                <a:solidFill>
                  <a:srgbClr val="E0E0E0"/>
                </a:solidFill>
                <a:latin typeface="Calibri"/>
              </a:rPr>
              <a:t>. One scan of the index gives every qualifying RID — for the whole query, once.</a:t>
            </a:r>
          </a:p>
        </p:txBody>
      </p:sp>
      <p:sp>
        <p:nvSpPr>
          <p:cNvPr id="5" name="TextBox 4"/>
          <p:cNvSpPr txBox="1"/>
          <p:nvPr/>
        </p:nvSpPr>
        <p:spPr>
          <a:xfrm>
            <a:off x="548640" y="1850000"/>
            <a:ext cx="11094720" cy="2400000"/>
          </a:xfrm>
          <a:prstGeom prst="rect">
            <a:avLst/>
          </a:prstGeom>
          <a:solidFill>
            <a:srgbClr val="121220"/>
          </a:solidFill>
          <a:ln w="6350">
            <a:solidFill>
              <a:srgbClr val="404060"/>
            </a:solidFill>
          </a:ln>
        </p:spPr>
        <p:txBody>
          <a:bodyPr wrap="square">
            <a:spAutoFit/>
          </a:bodyPr>
          <a:lstStyle/>
          <a:p>
            <a:r>
              <a:rPr sz="1300">
                <a:solidFill>
                  <a:srgbClr val="B0E0B0"/>
                </a:solidFill>
                <a:latin typeface="Consolas"/>
              </a:rPr>
              <a:t>// once, before the friend loop:</a:t>
            </a:r>
          </a:p>
          <a:p>
            <a:r>
              <a:rPr sz="1300">
                <a:solidFill>
                  <a:srgbClr val="B0E0B0"/>
                </a:solidFill>
                <a:latin typeface="Consolas"/>
              </a:rPr>
              <a:t>qualifyingRids = creationDateIndex.scan(&gt; :sinceDate)   // 14 000 RIDs</a:t>
            </a:r>
          </a:p>
          <a:p>
            <a:r>
              <a:rPr sz="1300">
                <a:solidFill>
                  <a:srgbClr val="B0E0B0"/>
                </a:solidFill>
                <a:latin typeface="Consolas"/>
              </a:rPr>
              <a:t>ridSet         = new RidSet(qualifyingRids)             // fast lookup bitmap</a:t>
            </a:r>
          </a:p>
          <a:p>
            <a:r>
              <a:rPr sz="1300">
                <a:solidFill>
                  <a:srgbClr val="B0E0B0"/>
                </a:solidFill>
                <a:latin typeface="Consolas"/>
              </a:rPr>
              <a:t/>
            </a:r>
          </a:p>
          <a:p>
            <a:r>
              <a:rPr sz="1300">
                <a:solidFill>
                  <a:srgbClr val="B0E0B0"/>
                </a:solidFill>
                <a:latin typeface="Consolas"/>
              </a:rPr>
              <a:t>// per friend:</a:t>
            </a:r>
          </a:p>
          <a:p>
            <a:r>
              <a:rPr sz="1300">
                <a:solidFill>
                  <a:srgbClr val="B0E0B0"/>
                </a:solidFill>
                <a:latin typeface="Consolas"/>
              </a:rPr>
              <a:t>for friend in person.out('KNOWS'):</a:t>
            </a:r>
          </a:p>
          <a:p>
            <a:r>
              <a:rPr sz="1300">
                <a:solidFill>
                  <a:srgbClr val="B0E0B0"/>
                </a:solidFill>
                <a:latin typeface="Consolas"/>
              </a:rPr>
              <a:t>    bag = friend.in_HAS_CREATOR                          // 5 000 RIDs</a:t>
            </a:r>
          </a:p>
          <a:p>
            <a:r>
              <a:rPr sz="1300">
                <a:solidFill>
                  <a:srgbClr val="B0E0B0"/>
                </a:solidFill>
                <a:latin typeface="Consolas"/>
              </a:rPr>
              <a:t>    for rid in bag:</a:t>
            </a:r>
          </a:p>
          <a:p>
            <a:r>
              <a:rPr sz="1300">
                <a:solidFill>
                  <a:srgbClr val="B0E0B0"/>
                </a:solidFill>
                <a:latin typeface="Consolas"/>
              </a:rPr>
              <a:t>        if ridSet.contains(rid):                         // O(1), no I/O</a:t>
            </a:r>
          </a:p>
          <a:p>
            <a:r>
              <a:rPr sz="1300">
                <a:solidFill>
                  <a:srgbClr val="B0E0B0"/>
                </a:solidFill>
                <a:latin typeface="Consolas"/>
              </a:rPr>
              <a:t>            yield loadEntity(rid)                        // only ~10 survive</a:t>
            </a:r>
          </a:p>
        </p:txBody>
      </p:sp>
      <p:sp>
        <p:nvSpPr>
          <p:cNvPr id="6" name="TextBox 5"/>
          <p:cNvSpPr txBox="1"/>
          <p:nvPr/>
        </p:nvSpPr>
        <p:spPr>
          <a:xfrm>
            <a:off x="548640" y="4400000"/>
            <a:ext cx="11094720" cy="2400000"/>
          </a:xfrm>
          <a:prstGeom prst="rect">
            <a:avLst/>
          </a:prstGeom>
          <a:noFill/>
        </p:spPr>
        <p:txBody>
          <a:bodyPr wrap="square">
            <a:spAutoFit/>
          </a:bodyPr>
          <a:lstStyle/>
          <a:p>
            <a:r>
              <a:rPr sz="1800" b="1">
                <a:solidFill>
                  <a:srgbClr val="FCB13E"/>
                </a:solidFill>
                <a:latin typeface="Calibri"/>
              </a:rPr>
              <a:t>What changed</a:t>
            </a:r>
          </a:p>
          <a:p>
            <a:r>
              <a:rPr sz="1700" b="0">
                <a:solidFill>
                  <a:srgbClr val="E0E0E0"/>
                </a:solidFill>
                <a:latin typeface="Calibri"/>
              </a:rPr>
              <a:t>• </a:t>
            </a:r>
            <a:r>
              <a:rPr sz="1500" b="0">
                <a:solidFill>
                  <a:srgbClr val="B0E0B0"/>
                </a:solidFill>
                <a:latin typeface="Consolas"/>
              </a:rPr>
              <a:t>loadEntity()</a:t>
            </a:r>
            <a:r>
              <a:rPr sz="1700" b="0">
                <a:solidFill>
                  <a:srgbClr val="E0E0E0"/>
                </a:solidFill>
                <a:latin typeface="Calibri"/>
              </a:rPr>
              <a:t> runs only for RIDs that </a:t>
            </a:r>
            <a:r>
              <a:rPr sz="1700" b="1">
                <a:solidFill>
                  <a:srgbClr val="FCB13E"/>
                </a:solidFill>
                <a:latin typeface="Calibri"/>
              </a:rPr>
              <a:t>already passed</a:t>
            </a:r>
            <a:r>
              <a:rPr sz="1700" b="0">
                <a:solidFill>
                  <a:srgbClr val="E0E0E0"/>
                </a:solidFill>
                <a:latin typeface="Calibri"/>
              </a:rPr>
              <a:t> the WHERE — no wasted reads</a:t>
            </a:r>
          </a:p>
          <a:p>
            <a:r>
              <a:rPr sz="1700" b="0">
                <a:solidFill>
                  <a:srgbClr val="E0E0E0"/>
                </a:solidFill>
                <a:latin typeface="Calibri"/>
              </a:rPr>
              <a:t>• The index scan is paid </a:t>
            </a:r>
            <a:r>
              <a:rPr sz="1700" b="1">
                <a:solidFill>
                  <a:srgbClr val="FCB13E"/>
                </a:solidFill>
                <a:latin typeface="Calibri"/>
              </a:rPr>
              <a:t>once</a:t>
            </a:r>
            <a:r>
              <a:rPr sz="1700" b="0">
                <a:solidFill>
                  <a:srgbClr val="E0E0E0"/>
                </a:solidFill>
                <a:latin typeface="Calibri"/>
              </a:rPr>
              <a:t> per query — every friend reuses the same RidSet</a:t>
            </a:r>
          </a:p>
          <a:p>
            <a:r>
              <a:rPr sz="1700" b="0">
                <a:solidFill>
                  <a:srgbClr val="E0E0E0"/>
                </a:solidFill>
                <a:latin typeface="Calibri"/>
              </a:rPr>
              <a:t>• The </a:t>
            </a:r>
            <a:r>
              <a:rPr sz="1500" b="0">
                <a:solidFill>
                  <a:srgbClr val="B0E0B0"/>
                </a:solidFill>
                <a:latin typeface="Consolas"/>
              </a:rPr>
              <a:t>ridSet.contains(rid)</a:t>
            </a:r>
            <a:r>
              <a:rPr sz="1700" b="0">
                <a:solidFill>
                  <a:srgbClr val="E0E0E0"/>
                </a:solidFill>
                <a:latin typeface="Calibri"/>
              </a:rPr>
              <a:t> probe is a bitmap operation — orders of magnitude cheaper than a vertex load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Before vs. after — concrete numbers</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Same query, same data, two execution strategies</a:t>
            </a:r>
          </a:p>
        </p:txBody>
      </p:sp>
      <p:graphicFrame>
        <p:nvGraphicFramePr>
          <p:cNvPr id="4" name="Table 3"/>
          <p:cNvGraphicFramePr>
            <a:graphicFrameLocks noGrp="1"/>
          </p:cNvGraphicFramePr>
          <p:nvPr/>
        </p:nvGraphicFramePr>
        <p:xfrm>
          <a:off x="548640" y="1380000"/>
          <a:ext cx="11200000" cy="2700000"/>
        </p:xfrm>
        <a:graphic>
          <a:graphicData uri="http://schemas.openxmlformats.org/drawingml/2006/table">
            <a:tbl>
              <a:tblPr firstRow="1" bandRow="1">
                <a:tableStyleId>{5C22544A-7EE6-4342-B048-85BDC9FD1C3A}</a:tableStyleId>
              </a:tblPr>
              <a:tblGrid>
                <a:gridCol w="3500000"/>
                <a:gridCol w="3700000"/>
                <a:gridCol w="4000000"/>
              </a:tblGrid>
              <a:tr h="540000">
                <a:tc>
                  <a:txBody>
                    <a:bodyPr wrap="square"/>
                    <a:lstStyle/>
                    <a:p>
                      <a:r>
                        <a:rPr sz="1200" b="1">
                          <a:solidFill>
                            <a:srgbClr val="FFA0C8"/>
                          </a:solidFill>
                          <a:latin typeface="Calibri"/>
                        </a:rPr>
                        <a:t>Cost component</a:t>
                      </a:r>
                    </a:p>
                  </a:txBody>
                  <a:tcPr>
                    <a:solidFill>
                      <a:srgbClr val="401530"/>
                    </a:solidFill>
                  </a:tcPr>
                </a:tc>
                <a:tc>
                  <a:txBody>
                    <a:bodyPr wrap="square"/>
                    <a:lstStyle/>
                    <a:p>
                      <a:r>
                        <a:rPr sz="1200" b="1">
                          <a:solidFill>
                            <a:srgbClr val="FFA0C8"/>
                          </a:solidFill>
                          <a:latin typeface="Calibri"/>
                        </a:rPr>
                        <a:t>Before</a:t>
                      </a:r>
                    </a:p>
                  </a:txBody>
                  <a:tcPr>
                    <a:solidFill>
                      <a:srgbClr val="401530"/>
                    </a:solidFill>
                  </a:tcPr>
                </a:tc>
                <a:tc>
                  <a:txBody>
                    <a:bodyPr wrap="square"/>
                    <a:lstStyle/>
                    <a:p>
                      <a:r>
                        <a:rPr sz="1200" b="1">
                          <a:solidFill>
                            <a:srgbClr val="FFA0C8"/>
                          </a:solidFill>
                          <a:latin typeface="Calibri"/>
                        </a:rPr>
                        <a:t>After (with IndexLookup)</a:t>
                      </a:r>
                    </a:p>
                  </a:txBody>
                  <a:tcPr>
                    <a:solidFill>
                      <a:srgbClr val="401530"/>
                    </a:solidFill>
                  </a:tcPr>
                </a:tc>
              </a:tr>
              <a:tr h="540000">
                <a:tc>
                  <a:txBody>
                    <a:bodyPr wrap="square"/>
                    <a:lstStyle/>
                    <a:p>
                      <a:r>
                        <a:rPr sz="1100" b="1">
                          <a:solidFill>
                            <a:srgbClr val="FCB13E"/>
                          </a:solidFill>
                          <a:latin typeface="Calibri"/>
                        </a:rPr>
                        <a:t>Index scan (once per query)</a:t>
                      </a:r>
                    </a:p>
                  </a:txBody>
                  <a:tcPr>
                    <a:solidFill>
                      <a:srgbClr val="15152A"/>
                    </a:solidFill>
                  </a:tcPr>
                </a:tc>
                <a:tc>
                  <a:txBody>
                    <a:bodyPr wrap="square"/>
                    <a:lstStyle/>
                    <a:p>
                      <a:r>
                        <a:rPr sz="1100" b="0">
                          <a:solidFill>
                            <a:srgbClr val="E0E0E0"/>
                          </a:solidFill>
                          <a:latin typeface="Calibri"/>
                        </a:rPr>
                        <a:t>—</a:t>
                      </a:r>
                    </a:p>
                  </a:txBody>
                  <a:tcPr>
                    <a:solidFill>
                      <a:srgbClr val="15152A"/>
                    </a:solidFill>
                  </a:tcPr>
                </a:tc>
                <a:tc>
                  <a:txBody>
                    <a:bodyPr wrap="square"/>
                    <a:lstStyle/>
                    <a:p>
                      <a:r>
                        <a:rPr sz="1100" b="0">
                          <a:solidFill>
                            <a:srgbClr val="E0E0E0"/>
                          </a:solidFill>
                          <a:latin typeface="Calibri"/>
                        </a:rPr>
                        <a:t>14 000 entries</a:t>
                      </a:r>
                    </a:p>
                  </a:txBody>
                  <a:tcPr>
                    <a:solidFill>
                      <a:srgbClr val="15152A"/>
                    </a:solidFill>
                  </a:tcPr>
                </a:tc>
              </a:tr>
              <a:tr h="540000">
                <a:tc>
                  <a:txBody>
                    <a:bodyPr wrap="square"/>
                    <a:lstStyle/>
                    <a:p>
                      <a:r>
                        <a:rPr sz="1100" b="1">
                          <a:solidFill>
                            <a:srgbClr val="FCB13E"/>
                          </a:solidFill>
                          <a:latin typeface="Calibri"/>
                        </a:rPr>
                        <a:t>Per-friend probes against RidSet</a:t>
                      </a:r>
                    </a:p>
                  </a:txBody>
                  <a:tcPr>
                    <a:solidFill>
                      <a:srgbClr val="15152A"/>
                    </a:solidFill>
                  </a:tcPr>
                </a:tc>
                <a:tc>
                  <a:txBody>
                    <a:bodyPr wrap="square"/>
                    <a:lstStyle/>
                    <a:p>
                      <a:r>
                        <a:rPr sz="1100" b="0">
                          <a:solidFill>
                            <a:srgbClr val="E0E0E0"/>
                          </a:solidFill>
                          <a:latin typeface="Calibri"/>
                        </a:rPr>
                        <a:t>—</a:t>
                      </a:r>
                    </a:p>
                  </a:txBody>
                  <a:tcPr>
                    <a:solidFill>
                      <a:srgbClr val="15152A"/>
                    </a:solidFill>
                  </a:tcPr>
                </a:tc>
                <a:tc>
                  <a:txBody>
                    <a:bodyPr wrap="square"/>
                    <a:lstStyle/>
                    <a:p>
                      <a:r>
                        <a:rPr sz="1100" b="0">
                          <a:solidFill>
                            <a:srgbClr val="E0E0E0"/>
                          </a:solidFill>
                          <a:latin typeface="Calibri"/>
                        </a:rPr>
                        <a:t>200 × 5 000 = 1 000 000 O(1) probes</a:t>
                      </a:r>
                    </a:p>
                  </a:txBody>
                  <a:tcPr>
                    <a:solidFill>
                      <a:srgbClr val="15152A"/>
                    </a:solidFill>
                  </a:tcPr>
                </a:tc>
              </a:tr>
              <a:tr h="540000">
                <a:tc>
                  <a:txBody>
                    <a:bodyPr wrap="square"/>
                    <a:lstStyle/>
                    <a:p>
                      <a:r>
                        <a:rPr sz="1100" b="1">
                          <a:solidFill>
                            <a:srgbClr val="FCB13E"/>
                          </a:solidFill>
                          <a:latin typeface="Calibri"/>
                        </a:rPr>
                        <a:t>Vertex loads (random I/O)</a:t>
                      </a:r>
                    </a:p>
                  </a:txBody>
                  <a:tcPr>
                    <a:solidFill>
                      <a:srgbClr val="15152A"/>
                    </a:solidFill>
                  </a:tcPr>
                </a:tc>
                <a:tc>
                  <a:txBody>
                    <a:bodyPr wrap="square"/>
                    <a:lstStyle/>
                    <a:p>
                      <a:r>
                        <a:rPr sz="1100" b="0">
                          <a:solidFill>
                            <a:srgbClr val="E0E0E0"/>
                          </a:solidFill>
                          <a:latin typeface="Calibri"/>
                        </a:rPr>
                        <a:t>200 × 5 000 = 1 000 000</a:t>
                      </a:r>
                    </a:p>
                  </a:txBody>
                  <a:tcPr>
                    <a:solidFill>
                      <a:srgbClr val="15152A"/>
                    </a:solidFill>
                  </a:tcPr>
                </a:tc>
                <a:tc>
                  <a:txBody>
                    <a:bodyPr wrap="square"/>
                    <a:lstStyle/>
                    <a:p>
                      <a:r>
                        <a:rPr sz="1100" b="0">
                          <a:solidFill>
                            <a:srgbClr val="E0E0E0"/>
                          </a:solidFill>
                          <a:latin typeface="Calibri"/>
                        </a:rPr>
                        <a:t>200 × ~10 = 2 000</a:t>
                      </a:r>
                    </a:p>
                  </a:txBody>
                  <a:tcPr>
                    <a:solidFill>
                      <a:srgbClr val="15152A"/>
                    </a:solidFill>
                  </a:tcPr>
                </a:tc>
              </a:tr>
              <a:tr h="540000">
                <a:tc>
                  <a:txBody>
                    <a:bodyPr wrap="square"/>
                    <a:lstStyle/>
                    <a:p>
                      <a:r>
                        <a:rPr sz="1100" b="1">
                          <a:solidFill>
                            <a:srgbClr val="FCB13E"/>
                          </a:solidFill>
                          <a:latin typeface="Calibri"/>
                        </a:rPr>
                        <a:t>Total expensive I/O</a:t>
                      </a:r>
                    </a:p>
                  </a:txBody>
                  <a:tcPr>
                    <a:solidFill>
                      <a:srgbClr val="15152A"/>
                    </a:solidFill>
                  </a:tcPr>
                </a:tc>
                <a:tc>
                  <a:txBody>
                    <a:bodyPr wrap="square"/>
                    <a:lstStyle/>
                    <a:p>
                      <a:r>
                        <a:rPr sz="1100" b="0">
                          <a:solidFill>
                            <a:srgbClr val="E0E0E0"/>
                          </a:solidFill>
                          <a:latin typeface="Calibri"/>
                        </a:rPr>
                        <a:t>1 000 000 vertex loads</a:t>
                      </a:r>
                    </a:p>
                  </a:txBody>
                  <a:tcPr>
                    <a:solidFill>
                      <a:srgbClr val="15152A"/>
                    </a:solidFill>
                  </a:tcPr>
                </a:tc>
                <a:tc>
                  <a:txBody>
                    <a:bodyPr wrap="square"/>
                    <a:lstStyle/>
                    <a:p>
                      <a:r>
                        <a:rPr sz="1100" b="0">
                          <a:solidFill>
                            <a:srgbClr val="E0E0E0"/>
                          </a:solidFill>
                          <a:latin typeface="Calibri"/>
                        </a:rPr>
                        <a:t>14 000 index + 2 000 vertex</a:t>
                      </a:r>
                    </a:p>
                  </a:txBody>
                  <a:tcPr>
                    <a:solidFill>
                      <a:srgbClr val="15152A"/>
                    </a:solidFill>
                  </a:tcPr>
                </a:tc>
              </a:tr>
            </a:tbl>
          </a:graphicData>
        </a:graphic>
      </p:graphicFrame>
      <p:sp>
        <p:nvSpPr>
          <p:cNvPr id="5" name="TextBox 4"/>
          <p:cNvSpPr txBox="1"/>
          <p:nvPr/>
        </p:nvSpPr>
        <p:spPr>
          <a:xfrm>
            <a:off x="548640" y="4200000"/>
            <a:ext cx="11094720" cy="2600000"/>
          </a:xfrm>
          <a:prstGeom prst="rect">
            <a:avLst/>
          </a:prstGeom>
          <a:noFill/>
        </p:spPr>
        <p:txBody>
          <a:bodyPr wrap="square">
            <a:spAutoFit/>
          </a:bodyPr>
          <a:lstStyle/>
          <a:p>
            <a:r>
              <a:rPr sz="1900" b="1">
                <a:solidFill>
                  <a:srgbClr val="FCB13E"/>
                </a:solidFill>
                <a:latin typeface="Calibri"/>
              </a:rPr>
              <a:t>Reduction</a:t>
            </a:r>
          </a:p>
          <a:p>
            <a:r>
              <a:rPr sz="1700" b="0">
                <a:solidFill>
                  <a:srgbClr val="E0E0E0"/>
                </a:solidFill>
                <a:latin typeface="Calibri"/>
              </a:rPr>
              <a:t>• Vertex loads:  1 000 000  →  2 000   (</a:t>
            </a:r>
            <a:r>
              <a:rPr sz="1700" b="1">
                <a:solidFill>
                  <a:srgbClr val="9CCC65"/>
                </a:solidFill>
                <a:latin typeface="Calibri"/>
              </a:rPr>
              <a:t>500×</a:t>
            </a:r>
            <a:r>
              <a:rPr sz="1700" b="0">
                <a:solidFill>
                  <a:srgbClr val="E0E0E0"/>
                </a:solidFill>
                <a:latin typeface="Calibri"/>
              </a:rPr>
              <a:t> reduction)</a:t>
            </a:r>
          </a:p>
          <a:p>
            <a:r>
              <a:rPr sz="1700" b="0">
                <a:solidFill>
                  <a:srgbClr val="E0E0E0"/>
                </a:solidFill>
                <a:latin typeface="Calibri"/>
              </a:rPr>
              <a:t>• Total expensive I/O:  1 000 000  →  16 000   (</a:t>
            </a:r>
            <a:r>
              <a:rPr sz="1700" b="1">
                <a:solidFill>
                  <a:srgbClr val="9CCC65"/>
                </a:solidFill>
                <a:latin typeface="Calibri"/>
              </a:rPr>
              <a:t>~62×</a:t>
            </a:r>
            <a:r>
              <a:rPr sz="1700" b="0">
                <a:solidFill>
                  <a:srgbClr val="E0E0E0"/>
                </a:solidFill>
                <a:latin typeface="Calibri"/>
              </a:rPr>
              <a:t> reduction)</a:t>
            </a:r>
          </a:p>
          <a:p>
            <a:r>
              <a:rPr sz="600" b="0">
                <a:solidFill>
                  <a:srgbClr val="E0E0E0"/>
                </a:solidFill>
                <a:latin typeface="Calibri"/>
              </a:rPr>
              <a:t/>
            </a:r>
          </a:p>
          <a:p>
            <a:r>
              <a:rPr sz="1700" b="0">
                <a:solidFill>
                  <a:srgbClr val="E0E0E0"/>
                </a:solidFill>
                <a:latin typeface="Calibri"/>
              </a:rPr>
              <a:t>Measured on LDBC SF 1, query IC9 recentFofMessages: </a:t>
            </a:r>
            <a:r>
              <a:rPr sz="1700" b="1">
                <a:solidFill>
                  <a:srgbClr val="9CCC65"/>
                </a:solidFill>
                <a:latin typeface="Calibri"/>
              </a:rPr>
              <a:t>+483% throughput</a:t>
            </a:r>
            <a:r>
              <a:rPr sz="1700" b="0">
                <a:solidFill>
                  <a:srgbClr val="E0E0E0"/>
                </a:solidFill>
                <a:latin typeface="Calibri"/>
              </a:rPr>
              <a:t> (single-thread)</a:t>
            </a:r>
          </a:p>
          <a:p>
            <a:r>
              <a:rPr sz="1700" b="0">
                <a:solidFill>
                  <a:srgbClr val="E0E0E0"/>
                </a:solidFill>
                <a:latin typeface="Calibri"/>
              </a:rPr>
              <a:t>IC3 friendsInCountries (two IndexLookups stacked): </a:t>
            </a:r>
            <a:r>
              <a:rPr sz="1700" b="1">
                <a:solidFill>
                  <a:srgbClr val="9CCC65"/>
                </a:solidFill>
                <a:latin typeface="Calibri"/>
              </a:rPr>
              <a:t>+1117%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Which queries benefit?</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MATCH target nodes whose WHERE matches an index on the target class</a:t>
            </a:r>
          </a:p>
        </p:txBody>
      </p:sp>
      <p:sp>
        <p:nvSpPr>
          <p:cNvPr id="4" name="TextBox 3"/>
          <p:cNvSpPr txBox="1"/>
          <p:nvPr/>
        </p:nvSpPr>
        <p:spPr>
          <a:xfrm>
            <a:off x="548640" y="1330000"/>
            <a:ext cx="11094720" cy="500000"/>
          </a:xfrm>
          <a:prstGeom prst="rect">
            <a:avLst/>
          </a:prstGeom>
          <a:noFill/>
        </p:spPr>
        <p:txBody>
          <a:bodyPr wrap="square">
            <a:spAutoFit/>
          </a:bodyPr>
          <a:lstStyle/>
          <a:p>
            <a:r>
              <a:rPr sz="1800" b="1">
                <a:solidFill>
                  <a:srgbClr val="FCB13E"/>
                </a:solidFill>
                <a:latin typeface="Calibri"/>
              </a:rPr>
              <a:t>Query shapes the planner recognises:</a:t>
            </a:r>
          </a:p>
        </p:txBody>
      </p:sp>
      <p:sp>
        <p:nvSpPr>
          <p:cNvPr id="5" name="TextBox 4"/>
          <p:cNvSpPr txBox="1"/>
          <p:nvPr/>
        </p:nvSpPr>
        <p:spPr>
          <a:xfrm>
            <a:off x="548640" y="1850000"/>
            <a:ext cx="11094720" cy="1500000"/>
          </a:xfrm>
          <a:prstGeom prst="rect">
            <a:avLst/>
          </a:prstGeom>
          <a:solidFill>
            <a:srgbClr val="121220"/>
          </a:solidFill>
          <a:ln w="6350">
            <a:solidFill>
              <a:srgbClr val="404060"/>
            </a:solidFill>
          </a:ln>
        </p:spPr>
        <p:txBody>
          <a:bodyPr wrap="square">
            <a:spAutoFit/>
          </a:bodyPr>
          <a:lstStyle/>
          <a:p>
            <a:r>
              <a:rPr sz="1400">
                <a:solidFill>
                  <a:srgbClr val="B0E0B0"/>
                </a:solidFill>
                <a:latin typeface="Consolas"/>
              </a:rPr>
              <a:t>{as: msg,      where: (creationDate &gt;= :start AND creationDate &lt; :end)}</a:t>
            </a:r>
          </a:p>
          <a:p>
            <a:r>
              <a:rPr sz="1400">
                <a:solidFill>
                  <a:srgbClr val="B0E0B0"/>
                </a:solidFill>
                <a:latin typeface="Consolas"/>
              </a:rPr>
              <a:t>{as: country,  where: (name IN [:cX, :cY])}</a:t>
            </a:r>
          </a:p>
          <a:p>
            <a:r>
              <a:rPr sz="1400">
                <a:solidFill>
                  <a:srgbClr val="B0E0B0"/>
                </a:solidFill>
                <a:latin typeface="Consolas"/>
              </a:rPr>
              <a:t>{as: post,     where: (length BETWEEN 100 AND 500)}     // rewritten to &gt;= AND &lt;=</a:t>
            </a:r>
          </a:p>
          <a:p>
            <a:r>
              <a:rPr sz="1400">
                <a:solidFill>
                  <a:srgbClr val="B0E0B0"/>
                </a:solidFill>
                <a:latin typeface="Consolas"/>
              </a:rPr>
              <a:t>{as: forum,    where: (title = :title)}                 // unique index</a:t>
            </a:r>
          </a:p>
        </p:txBody>
      </p:sp>
      <p:sp>
        <p:nvSpPr>
          <p:cNvPr id="6" name="TextBox 5"/>
          <p:cNvSpPr txBox="1"/>
          <p:nvPr/>
        </p:nvSpPr>
        <p:spPr>
          <a:xfrm>
            <a:off x="548640" y="3500000"/>
            <a:ext cx="11094720" cy="3300000"/>
          </a:xfrm>
          <a:prstGeom prst="rect">
            <a:avLst/>
          </a:prstGeom>
          <a:noFill/>
        </p:spPr>
        <p:txBody>
          <a:bodyPr wrap="square">
            <a:spAutoFit/>
          </a:bodyPr>
          <a:lstStyle/>
          <a:p>
            <a:r>
              <a:rPr sz="1800" b="1">
                <a:solidFill>
                  <a:srgbClr val="FCB13E"/>
                </a:solidFill>
                <a:latin typeface="Calibri"/>
              </a:rPr>
              <a:t>Three requirements</a:t>
            </a:r>
          </a:p>
          <a:p>
            <a:r>
              <a:rPr sz="1600" b="0">
                <a:solidFill>
                  <a:srgbClr val="E0E0E0"/>
                </a:solidFill>
                <a:latin typeface="Calibri"/>
              </a:rPr>
              <a:t>1. Target node has a WHERE clause</a:t>
            </a:r>
          </a:p>
          <a:p>
            <a:r>
              <a:rPr sz="1600" b="0">
                <a:solidFill>
                  <a:srgbClr val="E0E0E0"/>
                </a:solidFill>
                <a:latin typeface="Calibri"/>
              </a:rPr>
              <a:t>2. The class has an index covering that condition (range, hash, unique, etc.)</a:t>
            </a:r>
          </a:p>
          <a:p>
            <a:r>
              <a:rPr sz="1600" b="0">
                <a:solidFill>
                  <a:srgbClr val="E0E0E0"/>
                </a:solidFill>
                <a:latin typeface="Calibri"/>
              </a:rPr>
              <a:t>3. The condition does </a:t>
            </a:r>
            <a:r>
              <a:rPr sz="1600" b="1">
                <a:solidFill>
                  <a:srgbClr val="FCB13E"/>
                </a:solidFill>
                <a:latin typeface="Calibri"/>
              </a:rPr>
              <a:t>not reference $matched</a:t>
            </a:r>
            <a:r>
              <a:rPr sz="1600" b="0">
                <a:solidFill>
                  <a:srgbClr val="E0E0E0"/>
                </a:solidFill>
                <a:latin typeface="Calibri"/>
              </a:rPr>
              <a:t> — index parameters must be resolvable when the query starts</a:t>
            </a:r>
          </a:p>
          <a:p>
            <a:r>
              <a:rPr sz="600" b="0">
                <a:solidFill>
                  <a:srgbClr val="E0E0E0"/>
                </a:solidFill>
                <a:latin typeface="Calibri"/>
              </a:rPr>
              <a:t/>
            </a:r>
          </a:p>
          <a:p>
            <a:r>
              <a:rPr sz="1800" b="1">
                <a:solidFill>
                  <a:srgbClr val="FCB13E"/>
                </a:solidFill>
                <a:latin typeface="Calibri"/>
              </a:rPr>
              <a:t>LDBC SNB queries that hit this pattern</a:t>
            </a:r>
          </a:p>
          <a:p>
            <a:r>
              <a:rPr sz="1600" b="0">
                <a:solidFill>
                  <a:srgbClr val="E0E0E0"/>
                </a:solidFill>
                <a:latin typeface="Calibri"/>
              </a:rPr>
              <a:t>• IC3 friendsInCountries — date range + name-IN list (two IndexLookups)</a:t>
            </a:r>
          </a:p>
          <a:p>
            <a:r>
              <a:rPr sz="1600" b="0">
                <a:solidFill>
                  <a:srgbClr val="E0E0E0"/>
                </a:solidFill>
                <a:latin typeface="Calibri"/>
              </a:rPr>
              <a:t>• IC9 recentFofMessages — date range on Message.creationDate</a:t>
            </a:r>
          </a:p>
          <a:p>
            <a:r>
              <a:rPr sz="1600" b="0">
                <a:solidFill>
                  <a:srgbClr val="E0E0E0"/>
                </a:solidFill>
                <a:latin typeface="Calibri"/>
              </a:rPr>
              <a:t>• IS7 messageReplies — indexed property on edge target</a:t>
            </a:r>
          </a:p>
          <a:p>
            <a:r>
              <a:rPr sz="1600" b="0">
                <a:solidFill>
                  <a:srgbClr val="E0E0E0"/>
                </a:solidFill>
                <a:latin typeface="Calibri"/>
              </a:rPr>
              <a:t>• Any production query whose target node filters on an indexed range / equality / 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The catch — the index scan itself costs something</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If the source is small, the scan can cost more than the savings</a:t>
            </a:r>
          </a:p>
        </p:txBody>
      </p:sp>
      <p:sp>
        <p:nvSpPr>
          <p:cNvPr id="4" name="TextBox 3"/>
          <p:cNvSpPr txBox="1"/>
          <p:nvPr/>
        </p:nvSpPr>
        <p:spPr>
          <a:xfrm>
            <a:off x="548640" y="1330000"/>
            <a:ext cx="11094720" cy="600000"/>
          </a:xfrm>
          <a:prstGeom prst="rect">
            <a:avLst/>
          </a:prstGeom>
          <a:noFill/>
        </p:spPr>
        <p:txBody>
          <a:bodyPr wrap="square">
            <a:spAutoFit/>
          </a:bodyPr>
          <a:lstStyle/>
          <a:p>
            <a:r>
              <a:rPr sz="1700" b="0">
                <a:solidFill>
                  <a:srgbClr val="E0E0E0"/>
                </a:solidFill>
                <a:latin typeface="Calibri"/>
              </a:rPr>
              <a:t>Index scan produces 14 000 RIDs.  Cost ≈ 14 000 I/O reads </a:t>
            </a:r>
            <a:r>
              <a:rPr sz="1700" b="1">
                <a:solidFill>
                  <a:srgbClr val="FCB13E"/>
                </a:solidFill>
                <a:latin typeface="Calibri"/>
              </a:rPr>
              <a:t>once</a:t>
            </a:r>
            <a:r>
              <a:rPr sz="1700" b="0">
                <a:solidFill>
                  <a:srgbClr val="E0E0E0"/>
                </a:solidFill>
                <a:latin typeface="Calibri"/>
              </a:rPr>
              <a:t> — that's the </a:t>
            </a:r>
            <a:r>
              <a:rPr sz="1700" b="1">
                <a:solidFill>
                  <a:srgbClr val="FCB13E"/>
                </a:solidFill>
                <a:latin typeface="Calibri"/>
              </a:rPr>
              <a:t>build cost (denoted B from here on)</a:t>
            </a:r>
            <a:r>
              <a:rPr sz="1700" b="0">
                <a:solidFill>
                  <a:srgbClr val="E0E0E0"/>
                </a:solidFill>
                <a:latin typeface="Calibri"/>
              </a:rPr>
              <a:t>.</a:t>
            </a:r>
          </a:p>
        </p:txBody>
      </p:sp>
      <p:graphicFrame>
        <p:nvGraphicFramePr>
          <p:cNvPr id="5" name="Table 4"/>
          <p:cNvGraphicFramePr>
            <a:graphicFrameLocks noGrp="1"/>
          </p:cNvGraphicFramePr>
          <p:nvPr/>
        </p:nvGraphicFramePr>
        <p:xfrm>
          <a:off x="548640" y="2000000"/>
          <a:ext cx="11100000" cy="2300000"/>
        </p:xfrm>
        <a:graphic>
          <a:graphicData uri="http://schemas.openxmlformats.org/drawingml/2006/table">
            <a:tbl>
              <a:tblPr firstRow="1" bandRow="1">
                <a:tableStyleId>{5C22544A-7EE6-4342-B048-85BDC9FD1C3A}</a:tableStyleId>
              </a:tblPr>
              <a:tblGrid>
                <a:gridCol w="2300000"/>
                <a:gridCol w="2000000"/>
                <a:gridCol w="1400000"/>
                <a:gridCol w="2000000"/>
                <a:gridCol w="1700000"/>
                <a:gridCol w="1700000"/>
              </a:tblGrid>
              <a:tr h="575000">
                <a:tc>
                  <a:txBody>
                    <a:bodyPr wrap="square"/>
                    <a:lstStyle/>
                    <a:p>
                      <a:r>
                        <a:rPr sz="1200" b="1">
                          <a:solidFill>
                            <a:srgbClr val="FFA0C8"/>
                          </a:solidFill>
                          <a:latin typeface="Calibri"/>
                        </a:rPr>
                        <a:t>Scenario</a:t>
                      </a:r>
                    </a:p>
                  </a:txBody>
                  <a:tcPr>
                    <a:solidFill>
                      <a:srgbClr val="401530"/>
                    </a:solidFill>
                  </a:tcPr>
                </a:tc>
                <a:tc>
                  <a:txBody>
                    <a:bodyPr wrap="square"/>
                    <a:lstStyle/>
                    <a:p>
                      <a:r>
                        <a:rPr sz="1200" b="1">
                          <a:solidFill>
                            <a:srgbClr val="FFA0C8"/>
                          </a:solidFill>
                          <a:latin typeface="Calibri"/>
                        </a:rPr>
                        <a:t>Traversal volume (n)</a:t>
                      </a:r>
                    </a:p>
                  </a:txBody>
                  <a:tcPr>
                    <a:solidFill>
                      <a:srgbClr val="401530"/>
                    </a:solidFill>
                  </a:tcPr>
                </a:tc>
                <a:tc>
                  <a:txBody>
                    <a:bodyPr wrap="square"/>
                    <a:lstStyle/>
                    <a:p>
                      <a:r>
                        <a:rPr sz="1200" b="1">
                          <a:solidFill>
                            <a:srgbClr val="FFA0C8"/>
                          </a:solidFill>
                          <a:latin typeface="Calibri"/>
                        </a:rPr>
                        <a:t>Build cost (B)</a:t>
                      </a:r>
                    </a:p>
                  </a:txBody>
                  <a:tcPr>
                    <a:solidFill>
                      <a:srgbClr val="401530"/>
                    </a:solidFill>
                  </a:tcPr>
                </a:tc>
                <a:tc>
                  <a:txBody>
                    <a:bodyPr wrap="square"/>
                    <a:lstStyle/>
                    <a:p>
                      <a:r>
                        <a:rPr sz="1200" b="1">
                          <a:solidFill>
                            <a:srgbClr val="FFA0C8"/>
                          </a:solidFill>
                          <a:latin typeface="Calibri"/>
                        </a:rPr>
                        <a:t>Without optimization</a:t>
                      </a:r>
                    </a:p>
                  </a:txBody>
                  <a:tcPr>
                    <a:solidFill>
                      <a:srgbClr val="401530"/>
                    </a:solidFill>
                  </a:tcPr>
                </a:tc>
                <a:tc>
                  <a:txBody>
                    <a:bodyPr wrap="square"/>
                    <a:lstStyle/>
                    <a:p>
                      <a:r>
                        <a:rPr sz="1200" b="1">
                          <a:solidFill>
                            <a:srgbClr val="FFA0C8"/>
                          </a:solidFill>
                          <a:latin typeface="Calibri"/>
                        </a:rPr>
                        <a:t>With optimization</a:t>
                      </a:r>
                    </a:p>
                  </a:txBody>
                  <a:tcPr>
                    <a:solidFill>
                      <a:srgbClr val="401530"/>
                    </a:solidFill>
                  </a:tcPr>
                </a:tc>
                <a:tc>
                  <a:txBody>
                    <a:bodyPr wrap="square"/>
                    <a:lstStyle/>
                    <a:p>
                      <a:r>
                        <a:rPr sz="1200" b="1">
                          <a:solidFill>
                            <a:srgbClr val="FFA0C8"/>
                          </a:solidFill>
                          <a:latin typeface="Calibri"/>
                        </a:rPr>
                        <a:t>Verdict</a:t>
                      </a:r>
                    </a:p>
                  </a:txBody>
                  <a:tcPr>
                    <a:solidFill>
                      <a:srgbClr val="401530"/>
                    </a:solidFill>
                  </a:tcPr>
                </a:tc>
              </a:tr>
              <a:tr h="575000">
                <a:tc>
                  <a:txBody>
                    <a:bodyPr wrap="square"/>
                    <a:lstStyle/>
                    <a:p>
                      <a:r>
                        <a:rPr sz="1100" b="1">
                          <a:solidFill>
                            <a:srgbClr val="FCB13E"/>
                          </a:solidFill>
                          <a:latin typeface="Calibri"/>
                        </a:rPr>
                        <a:t>200 friends × 5 000 bag</a:t>
                      </a:r>
                    </a:p>
                  </a:txBody>
                  <a:tcPr>
                    <a:solidFill>
                      <a:srgbClr val="15152A"/>
                    </a:solidFill>
                  </a:tcPr>
                </a:tc>
                <a:tc>
                  <a:txBody>
                    <a:bodyPr wrap="square"/>
                    <a:lstStyle/>
                    <a:p>
                      <a:r>
                        <a:rPr sz="1100" b="0">
                          <a:solidFill>
                            <a:srgbClr val="E0E0E0"/>
                          </a:solidFill>
                          <a:latin typeface="Calibri"/>
                        </a:rPr>
                        <a:t>1 000 000 probes</a:t>
                      </a:r>
                    </a:p>
                  </a:txBody>
                  <a:tcPr>
                    <a:solidFill>
                      <a:srgbClr val="15152A"/>
                    </a:solidFill>
                  </a:tcPr>
                </a:tc>
                <a:tc>
                  <a:txBody>
                    <a:bodyPr wrap="square"/>
                    <a:lstStyle/>
                    <a:p>
                      <a:r>
                        <a:rPr sz="1100" b="0">
                          <a:solidFill>
                            <a:srgbClr val="E0E0E0"/>
                          </a:solidFill>
                          <a:latin typeface="Calibri"/>
                        </a:rPr>
                        <a:t>14 000 reads</a:t>
                      </a:r>
                    </a:p>
                  </a:txBody>
                  <a:tcPr>
                    <a:solidFill>
                      <a:srgbClr val="15152A"/>
                    </a:solidFill>
                  </a:tcPr>
                </a:tc>
                <a:tc>
                  <a:txBody>
                    <a:bodyPr wrap="square"/>
                    <a:lstStyle/>
                    <a:p>
                      <a:r>
                        <a:rPr sz="1100" b="0">
                          <a:solidFill>
                            <a:srgbClr val="E0E0E0"/>
                          </a:solidFill>
                          <a:latin typeface="Calibri"/>
                        </a:rPr>
                        <a:t>1 000 000 vertex loads</a:t>
                      </a:r>
                    </a:p>
                  </a:txBody>
                  <a:tcPr>
                    <a:solidFill>
                      <a:srgbClr val="15152A"/>
                    </a:solidFill>
                  </a:tcPr>
                </a:tc>
                <a:tc>
                  <a:txBody>
                    <a:bodyPr wrap="square"/>
                    <a:lstStyle/>
                    <a:p>
                      <a:r>
                        <a:rPr sz="1100" b="0">
                          <a:solidFill>
                            <a:srgbClr val="E0E0E0"/>
                          </a:solidFill>
                          <a:latin typeface="Calibri"/>
                        </a:rPr>
                        <a:t>16 000 I/O</a:t>
                      </a:r>
                    </a:p>
                  </a:txBody>
                  <a:tcPr>
                    <a:solidFill>
                      <a:srgbClr val="15152A"/>
                    </a:solidFill>
                  </a:tcPr>
                </a:tc>
                <a:tc>
                  <a:txBody>
                    <a:bodyPr wrap="square"/>
                    <a:lstStyle/>
                    <a:p>
                      <a:r>
                        <a:rPr sz="1100" b="0">
                          <a:solidFill>
                            <a:srgbClr val="E0E0E0"/>
                          </a:solidFill>
                          <a:latin typeface="Calibri"/>
                        </a:rPr>
                        <a:t>WIN  (62×)</a:t>
                      </a:r>
                    </a:p>
                  </a:txBody>
                  <a:tcPr>
                    <a:solidFill>
                      <a:srgbClr val="15152A"/>
                    </a:solidFill>
                  </a:tcPr>
                </a:tc>
              </a:tr>
              <a:tr h="575000">
                <a:tc>
                  <a:txBody>
                    <a:bodyPr wrap="square"/>
                    <a:lstStyle/>
                    <a:p>
                      <a:r>
                        <a:rPr sz="1100" b="1">
                          <a:solidFill>
                            <a:srgbClr val="FCB13E"/>
                          </a:solidFill>
                          <a:latin typeface="Calibri"/>
                        </a:rPr>
                        <a:t>10 friends × 50 bag</a:t>
                      </a:r>
                    </a:p>
                  </a:txBody>
                  <a:tcPr>
                    <a:solidFill>
                      <a:srgbClr val="15152A"/>
                    </a:solidFill>
                  </a:tcPr>
                </a:tc>
                <a:tc>
                  <a:txBody>
                    <a:bodyPr wrap="square"/>
                    <a:lstStyle/>
                    <a:p>
                      <a:r>
                        <a:rPr sz="1100" b="0">
                          <a:solidFill>
                            <a:srgbClr val="E0E0E0"/>
                          </a:solidFill>
                          <a:latin typeface="Calibri"/>
                        </a:rPr>
                        <a:t>500 probes</a:t>
                      </a:r>
                    </a:p>
                  </a:txBody>
                  <a:tcPr>
                    <a:solidFill>
                      <a:srgbClr val="15152A"/>
                    </a:solidFill>
                  </a:tcPr>
                </a:tc>
                <a:tc>
                  <a:txBody>
                    <a:bodyPr wrap="square"/>
                    <a:lstStyle/>
                    <a:p>
                      <a:r>
                        <a:rPr sz="1100" b="0">
                          <a:solidFill>
                            <a:srgbClr val="E0E0E0"/>
                          </a:solidFill>
                          <a:latin typeface="Calibri"/>
                        </a:rPr>
                        <a:t>14 000 reads</a:t>
                      </a:r>
                    </a:p>
                  </a:txBody>
                  <a:tcPr>
                    <a:solidFill>
                      <a:srgbClr val="15152A"/>
                    </a:solidFill>
                  </a:tcPr>
                </a:tc>
                <a:tc>
                  <a:txBody>
                    <a:bodyPr wrap="square"/>
                    <a:lstStyle/>
                    <a:p>
                      <a:r>
                        <a:rPr sz="1100" b="0">
                          <a:solidFill>
                            <a:srgbClr val="E0E0E0"/>
                          </a:solidFill>
                          <a:latin typeface="Calibri"/>
                        </a:rPr>
                        <a:t>500 vertex loads</a:t>
                      </a:r>
                    </a:p>
                  </a:txBody>
                  <a:tcPr>
                    <a:solidFill>
                      <a:srgbClr val="15152A"/>
                    </a:solidFill>
                  </a:tcPr>
                </a:tc>
                <a:tc>
                  <a:txBody>
                    <a:bodyPr wrap="square"/>
                    <a:lstStyle/>
                    <a:p>
                      <a:r>
                        <a:rPr sz="1100" b="0">
                          <a:solidFill>
                            <a:srgbClr val="E0E0E0"/>
                          </a:solidFill>
                          <a:latin typeface="Calibri"/>
                        </a:rPr>
                        <a:t>14 050 I/O</a:t>
                      </a:r>
                    </a:p>
                  </a:txBody>
                  <a:tcPr>
                    <a:solidFill>
                      <a:srgbClr val="15152A"/>
                    </a:solidFill>
                  </a:tcPr>
                </a:tc>
                <a:tc>
                  <a:txBody>
                    <a:bodyPr wrap="square"/>
                    <a:lstStyle/>
                    <a:p>
                      <a:r>
                        <a:rPr sz="1100" b="0">
                          <a:solidFill>
                            <a:srgbClr val="E0E0E0"/>
                          </a:solidFill>
                          <a:latin typeface="Calibri"/>
                        </a:rPr>
                        <a:t>LOSS (28×)</a:t>
                      </a:r>
                    </a:p>
                  </a:txBody>
                  <a:tcPr>
                    <a:solidFill>
                      <a:srgbClr val="15152A"/>
                    </a:solidFill>
                  </a:tcPr>
                </a:tc>
              </a:tr>
              <a:tr h="575000">
                <a:tc>
                  <a:txBody>
                    <a:bodyPr wrap="square"/>
                    <a:lstStyle/>
                    <a:p>
                      <a:r>
                        <a:rPr sz="1100" b="1">
                          <a:solidFill>
                            <a:srgbClr val="FCB13E"/>
                          </a:solidFill>
                          <a:latin typeface="Calibri"/>
                        </a:rPr>
                        <a:t>3 friends × 500 bag</a:t>
                      </a:r>
                    </a:p>
                  </a:txBody>
                  <a:tcPr>
                    <a:solidFill>
                      <a:srgbClr val="15152A"/>
                    </a:solidFill>
                  </a:tcPr>
                </a:tc>
                <a:tc>
                  <a:txBody>
                    <a:bodyPr wrap="square"/>
                    <a:lstStyle/>
                    <a:p>
                      <a:r>
                        <a:rPr sz="1100" b="0">
                          <a:solidFill>
                            <a:srgbClr val="E0E0E0"/>
                          </a:solidFill>
                          <a:latin typeface="Calibri"/>
                        </a:rPr>
                        <a:t>1 500 probes</a:t>
                      </a:r>
                    </a:p>
                  </a:txBody>
                  <a:tcPr>
                    <a:solidFill>
                      <a:srgbClr val="15152A"/>
                    </a:solidFill>
                  </a:tcPr>
                </a:tc>
                <a:tc>
                  <a:txBody>
                    <a:bodyPr wrap="square"/>
                    <a:lstStyle/>
                    <a:p>
                      <a:r>
                        <a:rPr sz="1100" b="0">
                          <a:solidFill>
                            <a:srgbClr val="E0E0E0"/>
                          </a:solidFill>
                          <a:latin typeface="Calibri"/>
                        </a:rPr>
                        <a:t>14 000 reads</a:t>
                      </a:r>
                    </a:p>
                  </a:txBody>
                  <a:tcPr>
                    <a:solidFill>
                      <a:srgbClr val="15152A"/>
                    </a:solidFill>
                  </a:tcPr>
                </a:tc>
                <a:tc>
                  <a:txBody>
                    <a:bodyPr wrap="square"/>
                    <a:lstStyle/>
                    <a:p>
                      <a:r>
                        <a:rPr sz="1100" b="0">
                          <a:solidFill>
                            <a:srgbClr val="E0E0E0"/>
                          </a:solidFill>
                          <a:latin typeface="Calibri"/>
                        </a:rPr>
                        <a:t>1 500 vertex loads</a:t>
                      </a:r>
                    </a:p>
                  </a:txBody>
                  <a:tcPr>
                    <a:solidFill>
                      <a:srgbClr val="15152A"/>
                    </a:solidFill>
                  </a:tcPr>
                </a:tc>
                <a:tc>
                  <a:txBody>
                    <a:bodyPr wrap="square"/>
                    <a:lstStyle/>
                    <a:p>
                      <a:r>
                        <a:rPr sz="1100" b="0">
                          <a:solidFill>
                            <a:srgbClr val="E0E0E0"/>
                          </a:solidFill>
                          <a:latin typeface="Calibri"/>
                        </a:rPr>
                        <a:t>14 015 I/O</a:t>
                      </a:r>
                    </a:p>
                  </a:txBody>
                  <a:tcPr>
                    <a:solidFill>
                      <a:srgbClr val="15152A"/>
                    </a:solidFill>
                  </a:tcPr>
                </a:tc>
                <a:tc>
                  <a:txBody>
                    <a:bodyPr wrap="square"/>
                    <a:lstStyle/>
                    <a:p>
                      <a:r>
                        <a:rPr sz="1100" b="0">
                          <a:solidFill>
                            <a:srgbClr val="E0E0E0"/>
                          </a:solidFill>
                          <a:latin typeface="Calibri"/>
                        </a:rPr>
                        <a:t>LOSS (9×)</a:t>
                      </a:r>
                    </a:p>
                  </a:txBody>
                  <a:tcPr>
                    <a:solidFill>
                      <a:srgbClr val="15152A"/>
                    </a:solidFill>
                  </a:tcPr>
                </a:tc>
              </a:tr>
            </a:tbl>
          </a:graphicData>
        </a:graphic>
      </p:graphicFrame>
      <p:sp>
        <p:nvSpPr>
          <p:cNvPr id="6" name="TextBox 5"/>
          <p:cNvSpPr txBox="1"/>
          <p:nvPr/>
        </p:nvSpPr>
        <p:spPr>
          <a:xfrm>
            <a:off x="548640" y="4400000"/>
            <a:ext cx="11094720" cy="2400000"/>
          </a:xfrm>
          <a:prstGeom prst="rect">
            <a:avLst/>
          </a:prstGeom>
          <a:noFill/>
        </p:spPr>
        <p:txBody>
          <a:bodyPr wrap="square">
            <a:spAutoFit/>
          </a:bodyPr>
          <a:lstStyle/>
          <a:p>
            <a:r>
              <a:rPr sz="1900" b="1">
                <a:solidFill>
                  <a:srgbClr val="FCB13E"/>
                </a:solidFill>
                <a:latin typeface="Calibri"/>
              </a:rPr>
              <a:t>Consequence</a:t>
            </a:r>
          </a:p>
          <a:p>
            <a:r>
              <a:rPr sz="1700" b="0">
                <a:solidFill>
                  <a:srgbClr val="E0E0E0"/>
                </a:solidFill>
                <a:latin typeface="Calibri"/>
              </a:rPr>
              <a:t>• Building the index-backed RidSet is </a:t>
            </a:r>
            <a:r>
              <a:rPr sz="1700" b="1">
                <a:solidFill>
                  <a:srgbClr val="FCB13E"/>
                </a:solidFill>
                <a:latin typeface="Calibri"/>
              </a:rPr>
              <a:t>not always profitable</a:t>
            </a:r>
          </a:p>
          <a:p>
            <a:r>
              <a:rPr sz="1700" b="0">
                <a:solidFill>
                  <a:srgbClr val="E0E0E0"/>
                </a:solidFill>
                <a:latin typeface="Calibri"/>
              </a:rPr>
              <a:t>• We need a </a:t>
            </a:r>
            <a:r>
              <a:rPr sz="1700" b="1">
                <a:solidFill>
                  <a:srgbClr val="FCB13E"/>
                </a:solidFill>
                <a:latin typeface="Calibri"/>
              </a:rPr>
              <a:t>runtime decision</a:t>
            </a:r>
            <a:r>
              <a:rPr sz="1700" b="0">
                <a:solidFill>
                  <a:srgbClr val="E0E0E0"/>
                </a:solidFill>
                <a:latin typeface="Calibri"/>
              </a:rPr>
              <a:t>: should this edge build the set, or should it skip the optimization?</a:t>
            </a:r>
          </a:p>
          <a:p>
            <a:r>
              <a:rPr sz="1700" b="0">
                <a:solidFill>
                  <a:srgbClr val="E0E0E0"/>
                </a:solidFill>
                <a:latin typeface="Calibri"/>
              </a:rPr>
              <a:t>• That decision is the core of the IndexLookup optimization — everything that follows is about </a:t>
            </a:r>
            <a:r>
              <a:rPr sz="1700" b="1">
                <a:solidFill>
                  <a:srgbClr val="FCB13E"/>
                </a:solidFill>
                <a:latin typeface="Calibri"/>
              </a:rPr>
              <a:t>making it well</a:t>
            </a:r>
          </a:p>
          <a:p>
            <a:r>
              <a:rPr sz="1700">
                <a:solidFill>
                  <a:srgbClr val="E0E0E0"/>
                </a:solidFill>
                <a:latin typeface="Calibri"/>
              </a:rPr>
              <a:t>• Formal break-even formula on slide 15: </a:t>
            </a:r>
            <a:r>
              <a:rPr sz="1500">
                <a:solidFill>
                  <a:srgbClr val="B0E0B0"/>
                </a:solidFill>
                <a:latin typeface="Consolas"/>
              </a:rPr>
              <a:t>m = B / (loadToScanRatio × (1 − 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The optimization in three pieces</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Planner detection — runtime decision — per-edge cache</a:t>
            </a:r>
          </a:p>
        </p:txBody>
      </p:sp>
      <p:sp>
        <p:nvSpPr>
          <p:cNvPr id="4" name="TextBox 3"/>
          <p:cNvSpPr txBox="1"/>
          <p:nvPr/>
        </p:nvSpPr>
        <p:spPr>
          <a:xfrm>
            <a:off x="548640" y="1350000"/>
            <a:ext cx="11094720" cy="4900000"/>
          </a:xfrm>
          <a:prstGeom prst="rect">
            <a:avLst/>
          </a:prstGeom>
          <a:solidFill>
            <a:srgbClr val="121220"/>
          </a:solidFill>
          <a:ln w="6350">
            <a:solidFill>
              <a:srgbClr val="404060"/>
            </a:solidFill>
          </a:ln>
        </p:spPr>
        <p:txBody>
          <a:bodyPr wrap="square">
            <a:spAutoFit/>
          </a:bodyPr>
          <a:lstStyle/>
          <a:p>
            <a:r>
              <a:rPr sz="1200">
                <a:solidFill>
                  <a:srgbClr val="B0E0B0"/>
                </a:solidFill>
                <a:latin typeface="Consolas"/>
              </a:rPr>
              <a:t>┌──────────────────────────────────────────────────────────────────────────┐</a:t>
            </a:r>
          </a:p>
          <a:p>
            <a:r>
              <a:rPr sz="1200">
                <a:solidFill>
                  <a:srgbClr val="B0E0B0"/>
                </a:solidFill>
                <a:latin typeface="Consolas"/>
              </a:rPr>
              <a:t>│  PLANNING — once per query                                               │</a:t>
            </a:r>
          </a:p>
          <a:p>
            <a:r>
              <a:rPr sz="1200">
                <a:solidFill>
                  <a:srgbClr val="B0E0B0"/>
                </a:solidFill>
                <a:latin typeface="Consolas"/>
              </a:rPr>
              <a:t>│                                                                          │</a:t>
            </a:r>
          </a:p>
          <a:p>
            <a:r>
              <a:rPr sz="1200">
                <a:solidFill>
                  <a:srgbClr val="B0E0B0"/>
                </a:solidFill>
                <a:latin typeface="Consolas"/>
              </a:rPr>
              <a:t>│  MatchExecutionPlanner walks the pattern.                                │</a:t>
            </a:r>
          </a:p>
          <a:p>
            <a:r>
              <a:rPr sz="1200">
                <a:solidFill>
                  <a:srgbClr val="B0E0B0"/>
                </a:solidFill>
                <a:latin typeface="Consolas"/>
              </a:rPr>
              <a:t>│  For each MATCH target node whose WHERE matches an index:                │</a:t>
            </a:r>
          </a:p>
          <a:p>
            <a:r>
              <a:rPr sz="1200">
                <a:solidFill>
                  <a:srgbClr val="B0E0B0"/>
                </a:solidFill>
                <a:latin typeface="Consolas"/>
              </a:rPr>
              <a:t>│      attach an IndexLookup descriptor to the edge leading there.         │</a:t>
            </a:r>
          </a:p>
          <a:p>
            <a:r>
              <a:rPr sz="1200">
                <a:solidFill>
                  <a:srgbClr val="B0E0B0"/>
                </a:solidFill>
                <a:latin typeface="Consolas"/>
              </a:rPr>
              <a:t>│  Also computes a forecast (how many traversals will go through the edge).│</a:t>
            </a:r>
          </a:p>
          <a:p>
            <a:r>
              <a:rPr sz="1200">
                <a:solidFill>
                  <a:srgbClr val="B0E0B0"/>
                </a:solidFill>
                <a:latin typeface="Consolas"/>
              </a:rPr>
              <a:t>└──────────────────────────────────────────────────────────────────────────┘</a:t>
            </a:r>
          </a:p>
          <a:p>
            <a:r>
              <a:rPr sz="1200">
                <a:solidFill>
                  <a:srgbClr val="B0E0B0"/>
                </a:solidFill>
                <a:latin typeface="Consolas"/>
              </a:rPr>
              <a:t>                                  │</a:t>
            </a:r>
          </a:p>
          <a:p>
            <a:r>
              <a:rPr sz="1200">
                <a:solidFill>
                  <a:srgbClr val="B0E0B0"/>
                </a:solidFill>
                <a:latin typeface="Consolas"/>
              </a:rPr>
              <a:t>                                  ▼</a:t>
            </a:r>
          </a:p>
          <a:p>
            <a:r>
              <a:rPr sz="1200">
                <a:solidFill>
                  <a:srgbClr val="B0E0B0"/>
                </a:solidFill>
                <a:latin typeface="Consolas"/>
              </a:rPr>
              <a:t>┌──────────────────────────────────────────────────────────────────────────┐</a:t>
            </a:r>
          </a:p>
          <a:p>
            <a:r>
              <a:rPr sz="1200">
                <a:solidFill>
                  <a:srgbClr val="B0E0B0"/>
                </a:solidFill>
                <a:latin typeface="Consolas"/>
              </a:rPr>
              <a:t>│  EXECUTION — per source vertex of the edge                               │</a:t>
            </a:r>
          </a:p>
          <a:p>
            <a:r>
              <a:rPr sz="1200">
                <a:solidFill>
                  <a:srgbClr val="B0E0B0"/>
                </a:solidFill>
                <a:latin typeface="Consolas"/>
              </a:rPr>
              <a:t>│                                                                          │</a:t>
            </a:r>
          </a:p>
          <a:p>
            <a:r>
              <a:rPr sz="1200">
                <a:solidFill>
                  <a:srgbClr val="B0E0B0"/>
                </a:solidFill>
                <a:latin typeface="Consolas"/>
              </a:rPr>
              <a:t>│  Look in the per-edge cache (key = the descriptor's fingerprint).        │</a:t>
            </a:r>
          </a:p>
          <a:p>
            <a:r>
              <a:rPr sz="1200">
                <a:solidFill>
                  <a:srgbClr val="B0E0B0"/>
                </a:solidFill>
                <a:latin typeface="Consolas"/>
              </a:rPr>
              <a:t>│      hit  → use the cached RidSet to filter this vertex's LinkBag.       │</a:t>
            </a:r>
          </a:p>
          <a:p>
            <a:r>
              <a:rPr sz="1200">
                <a:solidFill>
                  <a:srgbClr val="B0E0B0"/>
                </a:solidFill>
                <a:latin typeface="Consolas"/>
              </a:rPr>
              <a:t>│      miss → two gates decide whether to build now:                       │</a:t>
            </a:r>
          </a:p>
          <a:p>
            <a:r>
              <a:rPr sz="1200">
                <a:solidFill>
                  <a:srgbClr val="B0E0B0"/>
                </a:solidFill>
                <a:latin typeface="Consolas"/>
              </a:rPr>
              <a:t>│                Gate 1: is the filter selective enough at all?            │</a:t>
            </a:r>
          </a:p>
          <a:p>
            <a:r>
              <a:rPr sz="1200">
                <a:solidFill>
                  <a:srgbClr val="B0E0B0"/>
                </a:solidFill>
                <a:latin typeface="Consolas"/>
              </a:rPr>
              <a:t>│                Gate 2: will the traversal volume pay back the build?     │</a:t>
            </a:r>
          </a:p>
          <a:p>
            <a:r>
              <a:rPr sz="1200">
                <a:solidFill>
                  <a:srgbClr val="B0E0B0"/>
                </a:solidFill>
                <a:latin typeface="Consolas"/>
              </a:rPr>
              <a:t>│              If both pass, run the index scan → RidSet → cache it.       │</a:t>
            </a:r>
          </a:p>
          <a:p>
            <a:r>
              <a:rPr sz="1200">
                <a:solidFill>
                  <a:srgbClr val="B0E0B0"/>
                </a:solidFill>
                <a:latin typeface="Consolas"/>
              </a:rPr>
              <a:t>└──────────────────────────────────────────────────────────────────────────┘</a:t>
            </a:r>
          </a:p>
          <a:p>
            <a:r>
              <a:rPr sz="1200">
                <a:solidFill>
                  <a:srgbClr val="B0E0B0"/>
                </a:solidFill>
                <a:latin typeface="Consolas"/>
              </a:rPr>
              <a:t>                                  │</a:t>
            </a:r>
          </a:p>
          <a:p>
            <a:r>
              <a:rPr sz="1200">
                <a:solidFill>
                  <a:srgbClr val="B0E0B0"/>
                </a:solidFill>
                <a:latin typeface="Consolas"/>
              </a:rPr>
              <a:t>                                  ▼</a:t>
            </a:r>
          </a:p>
          <a:p>
            <a:r>
              <a:rPr sz="1200">
                <a:solidFill>
                  <a:srgbClr val="B0E0B0"/>
                </a:solidFill>
                <a:latin typeface="Consolas"/>
              </a:rPr>
              <a:t>             loadEntity()  — only for RIDs that the RidSet keeps</a:t>
            </a:r>
          </a:p>
        </p:txBody>
      </p:sp>
      <p:sp>
        <p:nvSpPr>
          <p:cNvPr id="5" name="TextBox 4"/>
          <p:cNvSpPr txBox="1"/>
          <p:nvPr/>
        </p:nvSpPr>
        <p:spPr>
          <a:xfrm>
            <a:off x="548640" y="6350000"/>
            <a:ext cx="11094720" cy="450000"/>
          </a:xfrm>
          <a:prstGeom prst="rect">
            <a:avLst/>
          </a:prstGeom>
          <a:noFill/>
        </p:spPr>
        <p:txBody>
          <a:bodyPr wrap="square">
            <a:spAutoFit/>
          </a:bodyPr>
          <a:lstStyle/>
          <a:p>
            <a:r>
              <a:rPr sz="1600" b="0">
                <a:solidFill>
                  <a:srgbClr val="E0E0E0"/>
                </a:solidFill>
                <a:latin typeface="Calibri"/>
              </a:rPr>
              <a:t>• The RidSet is constant for the query → </a:t>
            </a:r>
            <a:r>
              <a:rPr sz="1600" b="1">
                <a:solidFill>
                  <a:srgbClr val="FCB13E"/>
                </a:solidFill>
                <a:latin typeface="Calibri"/>
              </a:rPr>
              <a:t>built once, reused for every subsequent vertex through the edge</a:t>
            </a:r>
          </a:p>
          <a:p>
            <a:r>
              <a:rPr sz="1600" b="0">
                <a:solidFill>
                  <a:srgbClr val="E0E0E0"/>
                </a:solidFill>
                <a:latin typeface="Calibri"/>
              </a:rPr>
              <a:t>• Gates protect against the LOSS cases shown earlier — when in doubt, skip the build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The descriptor — what gets attached to the edge</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A small object the planner creates and the runtime consults</a:t>
            </a:r>
          </a:p>
        </p:txBody>
      </p:sp>
      <p:sp>
        <p:nvSpPr>
          <p:cNvPr id="4" name="TextBox 3"/>
          <p:cNvSpPr txBox="1"/>
          <p:nvPr/>
        </p:nvSpPr>
        <p:spPr>
          <a:xfrm>
            <a:off x="548640" y="1350000"/>
            <a:ext cx="11094720" cy="2350000"/>
          </a:xfrm>
          <a:prstGeom prst="rect">
            <a:avLst/>
          </a:prstGeom>
          <a:solidFill>
            <a:srgbClr val="121220"/>
          </a:solidFill>
          <a:ln w="6350">
            <a:solidFill>
              <a:srgbClr val="404060"/>
            </a:solidFill>
          </a:ln>
        </p:spPr>
        <p:txBody>
          <a:bodyPr wrap="square">
            <a:spAutoFit/>
          </a:bodyPr>
          <a:lstStyle/>
          <a:p>
            <a:r>
              <a:rPr sz="1300">
                <a:solidFill>
                  <a:srgbClr val="B0E0B0"/>
                </a:solidFill>
                <a:latin typeface="Consolas"/>
              </a:rPr>
              <a:t>record IndexLookup(IndexSearchDescriptor indexDescriptor) {</a:t>
            </a:r>
          </a:p>
          <a:p>
            <a:r>
              <a:rPr sz="1300">
                <a:solidFill>
                  <a:srgbClr val="B0E0B0"/>
                </a:solidFill>
                <a:latin typeface="Consolas"/>
              </a:rPr>
              <a:t/>
            </a:r>
          </a:p>
          <a:p>
            <a:r>
              <a:rPr sz="1300">
                <a:solidFill>
                  <a:srgbClr val="B0E0B0"/>
                </a:solidFill>
                <a:latin typeface="Consolas"/>
              </a:rPr>
              <a:t>  // cheap estimate before deciding to build</a:t>
            </a:r>
          </a:p>
          <a:p>
            <a:r>
              <a:rPr sz="1300">
                <a:solidFill>
                  <a:srgbClr val="B0E0B0"/>
                </a:solidFill>
                <a:latin typeface="Consolas"/>
              </a:rPr>
              <a:t>  estimatedSize()         → indexDescriptor.estimateHits()   // histogram, O(1)</a:t>
            </a:r>
          </a:p>
          <a:p>
            <a:r>
              <a:rPr sz="1300">
                <a:solidFill>
                  <a:srgbClr val="B0E0B0"/>
                </a:solidFill>
                <a:latin typeface="Consolas"/>
              </a:rPr>
              <a:t/>
            </a:r>
          </a:p>
          <a:p>
            <a:r>
              <a:rPr sz="1300">
                <a:solidFill>
                  <a:srgbClr val="B0E0B0"/>
                </a:solidFill>
                <a:latin typeface="Consolas"/>
              </a:rPr>
              <a:t>  // actually run the index scan and materialise the bitmap</a:t>
            </a:r>
          </a:p>
          <a:p>
            <a:r>
              <a:rPr sz="1300">
                <a:solidFill>
                  <a:srgbClr val="B0E0B0"/>
                </a:solidFill>
                <a:latin typeface="Consolas"/>
              </a:rPr>
              <a:t>  resolve()               → run index scan → fill RidSet</a:t>
            </a:r>
          </a:p>
          <a:p>
            <a:r>
              <a:rPr sz="1300">
                <a:solidFill>
                  <a:srgbClr val="B0E0B0"/>
                </a:solidFill>
                <a:latin typeface="Consolas"/>
              </a:rPr>
              <a:t/>
            </a:r>
          </a:p>
          <a:p>
            <a:r>
              <a:rPr sz="1300">
                <a:solidFill>
                  <a:srgbClr val="B0E0B0"/>
                </a:solidFill>
                <a:latin typeface="Consolas"/>
              </a:rPr>
              <a:t>  // cache lookup key — same index + same condition → same RidSet</a:t>
            </a:r>
          </a:p>
          <a:p>
            <a:r>
              <a:rPr sz="1300">
                <a:solidFill>
                  <a:srgbClr val="B0E0B0"/>
                </a:solidFill>
                <a:latin typeface="Consolas"/>
              </a:rPr>
              <a:t>  cacheKey()              → indexDescriptor.cacheFingerprint()</a:t>
            </a:r>
          </a:p>
          <a:p>
            <a:r>
              <a:rPr sz="1300">
                <a:solidFill>
                  <a:srgbClr val="B0E0B0"/>
                </a:solidFill>
                <a:latin typeface="Consolas"/>
              </a:rPr>
              <a:t/>
            </a:r>
          </a:p>
          <a:p>
            <a:r>
              <a:rPr sz="1300">
                <a:solidFill>
                  <a:srgbClr val="B0E0B0"/>
                </a:solidFill>
                <a:latin typeface="Consolas"/>
              </a:rPr>
              <a:t>  // gate 1</a:t>
            </a:r>
          </a:p>
          <a:p>
            <a:r>
              <a:rPr sz="1300">
                <a:solidFill>
                  <a:srgbClr val="B0E0B0"/>
                </a:solidFill>
                <a:latin typeface="Consolas"/>
              </a:rPr>
              <a:t>  passesSelectivityCheck() → estimateSelectivity() ≤ 0.95</a:t>
            </a:r>
          </a:p>
          <a:p>
            <a:r>
              <a:rPr sz="1300">
                <a:solidFill>
                  <a:srgbClr val="B0E0B0"/>
                </a:solidFill>
                <a:latin typeface="Consolas"/>
              </a:rPr>
              <a:t>}</a:t>
            </a:r>
          </a:p>
        </p:txBody>
      </p:sp>
      <p:sp>
        <p:nvSpPr>
          <p:cNvPr id="5" name="TextBox 4"/>
          <p:cNvSpPr txBox="1"/>
          <p:nvPr/>
        </p:nvSpPr>
        <p:spPr>
          <a:xfrm>
            <a:off x="548640" y="3850000"/>
            <a:ext cx="11094720" cy="2900000"/>
          </a:xfrm>
          <a:prstGeom prst="rect">
            <a:avLst/>
          </a:prstGeom>
          <a:noFill/>
        </p:spPr>
        <p:txBody>
          <a:bodyPr wrap="square">
            <a:spAutoFit/>
          </a:bodyPr>
          <a:lstStyle/>
          <a:p>
            <a:r>
              <a:rPr sz="1700" b="1">
                <a:solidFill>
                  <a:srgbClr val="FCB13E"/>
                </a:solidFill>
                <a:latin typeface="Calibri"/>
              </a:rPr>
              <a:t>The fingerprint = index name + key condition + range condition</a:t>
            </a:r>
          </a:p>
          <a:p>
            <a:r>
              <a:rPr sz="1600" b="0">
                <a:solidFill>
                  <a:srgbClr val="E0E0E0"/>
                </a:solidFill>
                <a:latin typeface="Calibri"/>
              </a:rPr>
              <a:t>• Same index used twice with different conditions must NOT share a cache entry</a:t>
            </a:r>
          </a:p>
          <a:p>
            <a:r>
              <a:rPr sz="1600" b="0">
                <a:solidFill>
                  <a:srgbClr val="E0E0E0"/>
                </a:solidFill>
                <a:latin typeface="Calibri"/>
              </a:rPr>
              <a:t>• Today's planner emits at most one IndexLookup per edge — collision was latent, but the fingerprint pins correctness on data, not on planner discipline</a:t>
            </a:r>
          </a:p>
          <a:p>
            <a:r>
              <a:rPr sz="600" b="0">
                <a:solidFill>
                  <a:srgbClr val="E0E0E0"/>
                </a:solidFill>
                <a:latin typeface="Calibri"/>
              </a:rPr>
              <a:t/>
            </a:r>
          </a:p>
          <a:p>
            <a:r>
              <a:rPr sz="1700" b="1">
                <a:solidFill>
                  <a:srgbClr val="FCB13E"/>
                </a:solidFill>
                <a:latin typeface="Calibri"/>
              </a:rPr>
              <a:t>Where it's attached: </a:t>
            </a:r>
            <a:r>
              <a:rPr sz="1400" b="0">
                <a:solidFill>
                  <a:srgbClr val="B0E0B0"/>
                </a:solidFill>
                <a:latin typeface="Consolas"/>
              </a:rPr>
              <a:t>MatchExecutionPlanner.optimizeScheduleWithIntersections</a:t>
            </a:r>
          </a:p>
          <a:p>
            <a:r>
              <a:rPr sz="1700" b="1">
                <a:solidFill>
                  <a:srgbClr val="FCB13E"/>
                </a:solidFill>
                <a:latin typeface="Calibri"/>
              </a:rPr>
              <a:t>Where it's consumed: </a:t>
            </a:r>
            <a:r>
              <a:rPr sz="1400" b="0">
                <a:solidFill>
                  <a:srgbClr val="B0E0B0"/>
                </a:solidFill>
                <a:latin typeface="Consolas"/>
              </a:rPr>
              <a:t>EdgeTraversal.resolveWithCache</a:t>
            </a:r>
            <a:r>
              <a:rPr sz="1700" b="0">
                <a:solidFill>
                  <a:srgbClr val="E0E0E0"/>
                </a:solidFill>
                <a:latin typeface="Calibri"/>
              </a:rPr>
              <a:t> (cache + gates) and </a:t>
            </a:r>
            <a:r>
              <a:rPr sz="1400" b="0">
                <a:solidFill>
                  <a:srgbClr val="B0E0B0"/>
                </a:solidFill>
                <a:latin typeface="Consolas"/>
              </a:rPr>
              <a:t>MatchEdgeTraverser.applyPreFilter</a:t>
            </a:r>
            <a:r>
              <a:rPr sz="1700" b="0">
                <a:solidFill>
                  <a:srgbClr val="E0E0E0"/>
                </a:solidFill>
                <a:latin typeface="Calibri"/>
              </a:rPr>
              <a:t> (per-vertex)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The decision flow — one picture for both gates</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What happens for each source vertex of the edge, from cache lookup to RidSet filter</a:t>
            </a:r>
          </a:p>
        </p:txBody>
      </p:sp>
      <p:sp>
        <p:nvSpPr>
          <p:cNvPr id="4" name="TextBox 3"/>
          <p:cNvSpPr txBox="1"/>
          <p:nvPr/>
        </p:nvSpPr>
        <p:spPr>
          <a:xfrm>
            <a:off x="548640" y="1330000"/>
            <a:ext cx="11094720" cy="5500000"/>
          </a:xfrm>
          <a:prstGeom prst="rect">
            <a:avLst/>
          </a:prstGeom>
          <a:solidFill>
            <a:srgbClr val="121220"/>
          </a:solidFill>
          <a:ln w="6350">
            <a:solidFill>
              <a:srgbClr val="404060"/>
            </a:solidFill>
          </a:ln>
        </p:spPr>
        <p:txBody>
          <a:bodyPr wrap="square">
            <a:spAutoFit/>
          </a:bodyPr>
          <a:lstStyle/>
          <a:p>
            <a:r>
              <a:rPr sz="1100">
                <a:solidFill>
                  <a:srgbClr val="B0E0B0"/>
                </a:solidFill>
                <a:latin typeface="Consolas"/>
              </a:rPr>
              <a:t>                       per source vertex v:</a:t>
            </a:r>
          </a:p>
          <a:p>
            <a:r>
              <a:rPr sz="1100">
                <a:solidFill>
                  <a:srgbClr val="B0E0B0"/>
                </a:solidFill>
                <a:latin typeface="Consolas"/>
              </a:rPr>
              <a:t>                                │</a:t>
            </a:r>
          </a:p>
          <a:p>
            <a:r>
              <a:rPr sz="1100">
                <a:solidFill>
                  <a:srgbClr val="B0E0B0"/>
                </a:solidFill>
                <a:latin typeface="Consolas"/>
              </a:rPr>
              <a:t>                                ▼</a:t>
            </a:r>
          </a:p>
          <a:p>
            <a:r>
              <a:rPr sz="1100">
                <a:solidFill>
                  <a:srgbClr val="B0E0B0"/>
                </a:solidFill>
                <a:latin typeface="Consolas"/>
              </a:rPr>
              <a:t>                  ┌────────────────────────────┐</a:t>
            </a:r>
          </a:p>
          <a:p>
            <a:r>
              <a:rPr sz="1100">
                <a:solidFill>
                  <a:srgbClr val="B0E0B0"/>
                </a:solidFill>
                <a:latin typeface="Consolas"/>
              </a:rPr>
              <a:t>                  │   cache.lookup(fingerprint)│</a:t>
            </a:r>
          </a:p>
          <a:p>
            <a:r>
              <a:rPr sz="1100">
                <a:solidFill>
                  <a:srgbClr val="B0E0B0"/>
                </a:solidFill>
                <a:latin typeface="Consolas"/>
              </a:rPr>
              <a:t>                  └─────┬─────────────┬────────┘</a:t>
            </a:r>
          </a:p>
          <a:p>
            <a:r>
              <a:rPr sz="1100">
                <a:solidFill>
                  <a:srgbClr val="B0E0B0"/>
                </a:solidFill>
                <a:latin typeface="Consolas"/>
              </a:rPr>
              <a:t>                        │             │</a:t>
            </a:r>
          </a:p>
          <a:p>
            <a:r>
              <a:rPr sz="1100">
                <a:solidFill>
                  <a:srgbClr val="B0E0B0"/>
                </a:solidFill>
                <a:latin typeface="Consolas"/>
              </a:rPr>
              <a:t>                    HIT (RidSet)   HIT (null)</a:t>
            </a:r>
          </a:p>
          <a:p>
            <a:r>
              <a:rPr sz="1100">
                <a:solidFill>
                  <a:srgbClr val="B0E0B0"/>
                </a:solidFill>
                <a:latin typeface="Consolas"/>
              </a:rPr>
              <a:t>                        │             │</a:t>
            </a:r>
          </a:p>
          <a:p>
            <a:r>
              <a:rPr sz="1100">
                <a:solidFill>
                  <a:srgbClr val="B0E0B0"/>
                </a:solidFill>
                <a:latin typeface="Consolas"/>
              </a:rPr>
              <a:t>                        │             ▼</a:t>
            </a:r>
          </a:p>
          <a:p>
            <a:r>
              <a:rPr sz="1100">
                <a:solidFill>
                  <a:srgbClr val="B0E0B0"/>
                </a:solidFill>
                <a:latin typeface="Consolas"/>
              </a:rPr>
              <a:t>                        │      restore cached skipReason</a:t>
            </a:r>
          </a:p>
          <a:p>
            <a:r>
              <a:rPr sz="1100">
                <a:solidFill>
                  <a:srgbClr val="B0E0B0"/>
                </a:solidFill>
                <a:latin typeface="Consolas"/>
              </a:rPr>
              <a:t>                        │      → no filter on this vertex</a:t>
            </a:r>
          </a:p>
          <a:p>
            <a:r>
              <a:rPr sz="1100">
                <a:solidFill>
                  <a:srgbClr val="B0E0B0"/>
                </a:solidFill>
                <a:latin typeface="Consolas"/>
              </a:rPr>
              <a:t>                        │</a:t>
            </a:r>
          </a:p>
          <a:p>
            <a:r>
              <a:rPr sz="1100">
                <a:solidFill>
                  <a:srgbClr val="B0E0B0"/>
                </a:solidFill>
                <a:latin typeface="Consolas"/>
              </a:rPr>
              <a:t>                     MISS</a:t>
            </a:r>
          </a:p>
          <a:p>
            <a:r>
              <a:rPr sz="1100">
                <a:solidFill>
                  <a:srgbClr val="B0E0B0"/>
                </a:solidFill>
                <a:latin typeface="Consolas"/>
              </a:rPr>
              <a:t>                        │</a:t>
            </a:r>
          </a:p>
          <a:p>
            <a:r>
              <a:rPr sz="1100">
                <a:solidFill>
                  <a:srgbClr val="B0E0B0"/>
                </a:solidFill>
                <a:latin typeface="Consolas"/>
              </a:rPr>
              <a:t>                        ▼</a:t>
            </a:r>
          </a:p>
          <a:p>
            <a:r>
              <a:rPr sz="1100">
                <a:solidFill>
                  <a:srgbClr val="B0E0B0"/>
                </a:solidFill>
                <a:latin typeface="Consolas"/>
              </a:rPr>
              <a:t>         ┌─────────────────────────────────────────────┐</a:t>
            </a:r>
          </a:p>
          <a:p>
            <a:r>
              <a:rPr sz="1100">
                <a:solidFill>
                  <a:srgbClr val="B0E0B0"/>
                </a:solidFill>
                <a:latin typeface="Consolas"/>
              </a:rPr>
              <a:t>         │   GATE 1   estimateSelectivity ≤ 0.95 ?     │</a:t>
            </a:r>
          </a:p>
          <a:p>
            <a:r>
              <a:rPr sz="1100">
                <a:solidFill>
                  <a:srgbClr val="B0E0B0"/>
                </a:solidFill>
                <a:latin typeface="Consolas"/>
              </a:rPr>
              <a:t>         └───────┬────────────────────────────────┬────┘</a:t>
            </a:r>
          </a:p>
          <a:p>
            <a:r>
              <a:rPr sz="1100">
                <a:solidFill>
                  <a:srgbClr val="B0E0B0"/>
                </a:solidFill>
                <a:latin typeface="Consolas"/>
              </a:rPr>
              <a:t>             pass│                       reject (unknown / &gt; 0.95)</a:t>
            </a:r>
          </a:p>
          <a:p>
            <a:r>
              <a:rPr sz="1100">
                <a:solidFill>
                  <a:srgbClr val="B0E0B0"/>
                </a:solidFill>
                <a:latin typeface="Consolas"/>
              </a:rPr>
              <a:t>                 │                                │</a:t>
            </a:r>
          </a:p>
          <a:p>
            <a:r>
              <a:rPr sz="1100">
                <a:solidFill>
                  <a:srgbClr val="B0E0B0"/>
                </a:solidFill>
                <a:latin typeface="Consolas"/>
              </a:rPr>
              <a:t>                 ▼                                ▼</a:t>
            </a:r>
          </a:p>
          <a:p>
            <a:r>
              <a:rPr sz="1100">
                <a:solidFill>
                  <a:srgbClr val="B0E0B0"/>
                </a:solidFill>
                <a:latin typeface="Consolas"/>
              </a:rPr>
              <a:t>    ┌─────────────────────────────────┐   cache.put(key, null)</a:t>
            </a:r>
          </a:p>
          <a:p>
            <a:r>
              <a:rPr sz="1100">
                <a:solidFill>
                  <a:srgbClr val="B0E0B0"/>
                </a:solidFill>
                <a:latin typeface="Consolas"/>
              </a:rPr>
              <a:t>    │  GATE 2   checkAmortization     │   cachedSkipReasons.put(STATS_UNAVAILABLE</a:t>
            </a:r>
          </a:p>
          <a:p>
            <a:r>
              <a:rPr sz="1100">
                <a:solidFill>
                  <a:srgbClr val="B0E0B0"/>
                </a:solidFill>
                <a:latin typeface="Consolas"/>
              </a:rPr>
              <a:t>    │  decides one of three modes:    │                       | SELECTIVITY_TOO_LOW)</a:t>
            </a:r>
          </a:p>
          <a:p>
            <a:r>
              <a:rPr sz="1100">
                <a:solidFill>
                  <a:srgbClr val="B0E0B0"/>
                </a:solidFill>
                <a:latin typeface="Consolas"/>
              </a:rPr>
              <a:t>    └───┬──────────────┬──────────┬───┘   → no filter on this vertex</a:t>
            </a:r>
          </a:p>
          <a:p>
            <a:r>
              <a:rPr sz="1100">
                <a:solidFill>
                  <a:srgbClr val="B0E0B0"/>
                </a:solidFill>
                <a:latin typeface="Consolas"/>
              </a:rPr>
              <a:t>        │              │          │</a:t>
            </a:r>
          </a:p>
          <a:p>
            <a:r>
              <a:rPr sz="1100">
                <a:solidFill>
                  <a:srgbClr val="B0E0B0"/>
                </a:solidFill>
                <a:latin typeface="Consolas"/>
              </a:rPr>
              <a:t>   BUILD_EAGER   DEFERRED_WITH_NET   REJECT</a:t>
            </a:r>
          </a:p>
          <a:p>
            <a:r>
              <a:rPr sz="1100">
                <a:solidFill>
                  <a:srgbClr val="B0E0B0"/>
                </a:solidFill>
                <a:latin typeface="Consolas"/>
              </a:rPr>
              <a:t>        │              │          │</a:t>
            </a:r>
          </a:p>
          <a:p>
            <a:r>
              <a:rPr sz="1100">
                <a:solidFill>
                  <a:srgbClr val="B0E0B0"/>
                </a:solidFill>
                <a:latin typeface="Consolas"/>
              </a:rPr>
              <a:t>        │       accumulator       │</a:t>
            </a:r>
          </a:p>
          <a:p>
            <a:r>
              <a:rPr sz="1100">
                <a:solidFill>
                  <a:srgbClr val="B0E0B0"/>
                </a:solidFill>
                <a:latin typeface="Consolas"/>
              </a:rPr>
              <a:t>        │       T = max(2·forecast, m)</a:t>
            </a:r>
          </a:p>
          <a:p>
            <a:r>
              <a:rPr sz="1100">
                <a:solidFill>
                  <a:srgbClr val="B0E0B0"/>
                </a:solidFill>
                <a:latin typeface="Consolas"/>
              </a:rPr>
              <a:t>        │              │          │</a:t>
            </a:r>
          </a:p>
          <a:p>
            <a:r>
              <a:rPr sz="1100">
                <a:solidFill>
                  <a:srgbClr val="B0E0B0"/>
                </a:solidFill>
                <a:latin typeface="Consolas"/>
              </a:rPr>
              <a:t>        ▼              ▼          ▼</a:t>
            </a:r>
          </a:p>
          <a:p>
            <a:r>
              <a:rPr sz="1100">
                <a:solidFill>
                  <a:srgbClr val="B0E0B0"/>
                </a:solidFill>
                <a:latin typeface="Consolas"/>
              </a:rPr>
              <a:t>   desc.resolve()  (wait until threshold)   cache.put(key, null)</a:t>
            </a:r>
          </a:p>
          <a:p>
            <a:r>
              <a:rPr sz="1100">
                <a:solidFill>
                  <a:srgbClr val="B0E0B0"/>
                </a:solidFill>
                <a:latin typeface="Consolas"/>
              </a:rPr>
              <a:t>        │              │          cachedSkipReasons.put(BUILD_NOT_AMORTIZED)</a:t>
            </a:r>
          </a:p>
          <a:p>
            <a:r>
              <a:rPr sz="1100">
                <a:solidFill>
                  <a:srgbClr val="B0E0B0"/>
                </a:solidFill>
                <a:latin typeface="Consolas"/>
              </a:rPr>
              <a:t>        ▼              ▼</a:t>
            </a:r>
          </a:p>
          <a:p>
            <a:r>
              <a:rPr sz="1100">
                <a:solidFill>
                  <a:srgbClr val="B0E0B0"/>
                </a:solidFill>
                <a:latin typeface="Consolas"/>
              </a:rPr>
              <a:t>   cache.put(key, RidSet) — every subsequent vertex hits the cache for free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Gate 1 — is the filter selective enough at all?</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Skip the optimization when the filter passes almost everything through</a:t>
            </a:r>
          </a:p>
        </p:txBody>
      </p:sp>
      <p:sp>
        <p:nvSpPr>
          <p:cNvPr id="4" name="TextBox 3"/>
          <p:cNvSpPr txBox="1"/>
          <p:nvPr/>
        </p:nvSpPr>
        <p:spPr>
          <a:xfrm>
            <a:off x="548640" y="1350000"/>
            <a:ext cx="11094720" cy="700000"/>
          </a:xfrm>
          <a:prstGeom prst="rect">
            <a:avLst/>
          </a:prstGeom>
          <a:solidFill>
            <a:srgbClr val="121220"/>
          </a:solidFill>
          <a:ln w="6350">
            <a:solidFill>
              <a:srgbClr val="404060"/>
            </a:solidFill>
          </a:ln>
        </p:spPr>
        <p:txBody>
          <a:bodyPr wrap="square">
            <a:spAutoFit/>
          </a:bodyPr>
          <a:lstStyle/>
          <a:p>
            <a:r>
              <a:rPr sz="1500">
                <a:solidFill>
                  <a:srgbClr val="B0E0B0"/>
                </a:solidFill>
                <a:latin typeface="Consolas"/>
              </a:rPr>
              <a:t>selectivity = hits / classTotalCount      ∈ [0, 1]</a:t>
            </a:r>
          </a:p>
          <a:p>
            <a:r>
              <a:rPr sz="1500">
                <a:solidFill>
                  <a:srgbClr val="B0E0B0"/>
                </a:solidFill>
                <a:latin typeface="Consolas"/>
              </a:rPr>
              <a:t>pass  ⇔  selectivity ≤ 0.95</a:t>
            </a:r>
          </a:p>
        </p:txBody>
      </p:sp>
      <p:sp>
        <p:nvSpPr>
          <p:cNvPr id="5" name="TextBox 4"/>
          <p:cNvSpPr txBox="1"/>
          <p:nvPr/>
        </p:nvSpPr>
        <p:spPr>
          <a:xfrm>
            <a:off x="548640" y="2200000"/>
            <a:ext cx="11094720" cy="4500000"/>
          </a:xfrm>
          <a:prstGeom prst="rect">
            <a:avLst/>
          </a:prstGeom>
          <a:noFill/>
        </p:spPr>
        <p:txBody>
          <a:bodyPr wrap="square">
            <a:spAutoFit/>
          </a:bodyPr>
          <a:lstStyle/>
          <a:p>
            <a:r>
              <a:rPr sz="1800" b="1">
                <a:solidFill>
                  <a:srgbClr val="FCB13E"/>
                </a:solidFill>
                <a:latin typeface="Calibri"/>
              </a:rPr>
              <a:t>Reading the threshold</a:t>
            </a:r>
          </a:p>
          <a:p>
            <a:r>
              <a:rPr sz="1600" b="0">
                <a:solidFill>
                  <a:srgbClr val="E0E0E0"/>
                </a:solidFill>
                <a:latin typeface="Calibri"/>
              </a:rPr>
              <a:t>• Low selectivity (e.g. 0.05) = filter keeps only 5% of the class — very useful</a:t>
            </a:r>
          </a:p>
          <a:p>
            <a:r>
              <a:rPr sz="1600" b="0">
                <a:solidFill>
                  <a:srgbClr val="E0E0E0"/>
                </a:solidFill>
                <a:latin typeface="Calibri"/>
              </a:rPr>
              <a:t>• High selectivity (e.g. 0.99) = filter keeps 99% of the class — would barely help</a:t>
            </a:r>
          </a:p>
          <a:p>
            <a:r>
              <a:rPr sz="1600" b="0">
                <a:solidFill>
                  <a:srgbClr val="E0E0E0"/>
                </a:solidFill>
                <a:latin typeface="Calibri"/>
              </a:rPr>
              <a:t>• Above 0.95, even a free build wouldn't save meaningful work — skip without scanning</a:t>
            </a:r>
          </a:p>
          <a:p>
            <a:r>
              <a:rPr sz="1600" b="0">
                <a:solidFill>
                  <a:srgbClr val="E0E0E0"/>
                </a:solidFill>
                <a:latin typeface="Calibri"/>
              </a:rPr>
              <a:t>• This is a property of the class, not of any vertex → constant for the whole query → checked once, cached</a:t>
            </a:r>
          </a:p>
          <a:p>
            <a:r>
              <a:rPr sz="600" b="0">
                <a:solidFill>
                  <a:srgbClr val="E0E0E0"/>
                </a:solidFill>
                <a:latin typeface="Calibri"/>
              </a:rPr>
              <a:t/>
            </a:r>
          </a:p>
          <a:p>
            <a:r>
              <a:rPr sz="1800" b="1">
                <a:solidFill>
                  <a:srgbClr val="FCB13E"/>
                </a:solidFill>
                <a:latin typeface="Calibri"/>
              </a:rPr>
              <a:t>Why no lower bound</a:t>
            </a:r>
          </a:p>
          <a:p>
            <a:r>
              <a:rPr sz="1600" b="0">
                <a:solidFill>
                  <a:srgbClr val="E0E0E0"/>
                </a:solidFill>
                <a:latin typeface="Calibri"/>
              </a:rPr>
              <a:t>• A more selective filter is always strictly better — more savings per traversal</a:t>
            </a:r>
          </a:p>
          <a:p>
            <a:r>
              <a:rPr sz="1600" b="0">
                <a:solidFill>
                  <a:srgbClr val="E0E0E0"/>
                </a:solidFill>
                <a:latin typeface="Calibri"/>
              </a:rPr>
              <a:t>• Whether the volume justifies even a small build is gate 2's job</a:t>
            </a:r>
          </a:p>
          <a:p>
            <a:r>
              <a:rPr sz="600" b="0">
                <a:solidFill>
                  <a:srgbClr val="E0E0E0"/>
                </a:solidFill>
                <a:latin typeface="Calibri"/>
              </a:rPr>
              <a:t/>
            </a:r>
          </a:p>
          <a:p>
            <a:r>
              <a:rPr sz="1800" b="1">
                <a:solidFill>
                  <a:srgbClr val="FCB13E"/>
                </a:solidFill>
                <a:latin typeface="Calibri"/>
              </a:rPr>
              <a:t>Special case — unknown selectivity</a:t>
            </a:r>
          </a:p>
          <a:p>
            <a:r>
              <a:rPr sz="1600" b="0">
                <a:solidFill>
                  <a:srgbClr val="E0E0E0"/>
                </a:solidFill>
                <a:latin typeface="Calibri"/>
              </a:rPr>
              <a:t>• Index has no histogram (never used, or fresh) → </a:t>
            </a:r>
            <a:r>
              <a:rPr sz="1400" b="0">
                <a:solidFill>
                  <a:srgbClr val="B0E0B0"/>
                </a:solidFill>
                <a:latin typeface="Consolas"/>
              </a:rPr>
              <a:t>estimateSelectivity()</a:t>
            </a:r>
            <a:r>
              <a:rPr sz="1600" b="0">
                <a:solidFill>
                  <a:srgbClr val="E0E0E0"/>
                </a:solidFill>
                <a:latin typeface="Calibri"/>
              </a:rPr>
              <a:t> returns -1</a:t>
            </a:r>
          </a:p>
          <a:p>
            <a:r>
              <a:rPr sz="1600" b="0">
                <a:solidFill>
                  <a:srgbClr val="E0E0E0"/>
                </a:solidFill>
                <a:latin typeface="Calibri"/>
              </a:rPr>
              <a:t>• Gate 1 returns REJECT — cached with skip reason </a:t>
            </a:r>
            <a:r>
              <a:rPr sz="1600" b="1">
                <a:solidFill>
                  <a:srgbClr val="FCB13E"/>
                </a:solidFill>
                <a:latin typeface="Calibri"/>
              </a:rPr>
              <a:t>STATS_UNAVAILABLE</a:t>
            </a:r>
            <a:r>
              <a:rPr sz="1600" b="0">
                <a:solidFill>
                  <a:srgbClr val="E0E0E0"/>
                </a:solidFill>
                <a:latin typeface="Calibri"/>
              </a:rPr>
              <a:t>, every subsequent vertex on this edge reuses the rejection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The deferral tax — why naive 'n &gt; m' is wrong</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Cost arithmetic motivating BUILD_EAGER  ·  B = build cost (14 000 reads in slide 9), L = per-vertex load, s = selectivity</a:t>
            </a:r>
          </a:p>
        </p:txBody>
      </p:sp>
      <p:graphicFrame>
        <p:nvGraphicFramePr>
          <p:cNvPr id="4" name="Table 3"/>
          <p:cNvGraphicFramePr>
            <a:graphicFrameLocks noGrp="1"/>
          </p:cNvGraphicFramePr>
          <p:nvPr/>
        </p:nvGraphicFramePr>
        <p:xfrm>
          <a:off x="548640" y="1300000"/>
          <a:ext cx="11100000" cy="1800000"/>
        </p:xfrm>
        <a:graphic>
          <a:graphicData uri="http://schemas.openxmlformats.org/drawingml/2006/table">
            <a:tbl>
              <a:tblPr firstRow="1" bandRow="1">
                <a:tableStyleId>{5C22544A-7EE6-4342-B048-85BDC9FD1C3A}</a:tableStyleId>
              </a:tblPr>
              <a:tblGrid>
                <a:gridCol w="4700000"/>
                <a:gridCol w="6400000"/>
              </a:tblGrid>
              <a:tr h="450000">
                <a:tc>
                  <a:txBody>
                    <a:bodyPr wrap="square"/>
                    <a:lstStyle/>
                    <a:p>
                      <a:r>
                        <a:rPr sz="1200" b="1">
                          <a:solidFill>
                            <a:srgbClr val="FFA0C8"/>
                          </a:solidFill>
                          <a:latin typeface="Calibri"/>
                        </a:rPr>
                        <a:t>Policy</a:t>
                      </a:r>
                    </a:p>
                  </a:txBody>
                  <a:tcPr>
                    <a:solidFill>
                      <a:srgbClr val="401530"/>
                    </a:solidFill>
                  </a:tcPr>
                </a:tc>
                <a:tc>
                  <a:txBody>
                    <a:bodyPr wrap="square"/>
                    <a:lstStyle/>
                    <a:p>
                      <a:r>
                        <a:rPr sz="1200" b="1">
                          <a:solidFill>
                            <a:srgbClr val="FFA0C8"/>
                          </a:solidFill>
                          <a:latin typeface="Calibri"/>
                        </a:rPr>
                        <a:t>Total work for an edge with n total neighbors</a:t>
                      </a:r>
                    </a:p>
                  </a:txBody>
                  <a:tcPr>
                    <a:solidFill>
                      <a:srgbClr val="401530"/>
                    </a:solidFill>
                  </a:tcPr>
                </a:tc>
              </a:tr>
              <a:tr h="450000">
                <a:tc>
                  <a:txBody>
                    <a:bodyPr wrap="square"/>
                    <a:lstStyle/>
                    <a:p>
                      <a:r>
                        <a:rPr sz="1100" b="1">
                          <a:solidFill>
                            <a:srgbClr val="FCB13E"/>
                          </a:solidFill>
                          <a:latin typeface="Calibri"/>
                        </a:rPr>
                        <a:t>No pre-filter</a:t>
                      </a:r>
                    </a:p>
                  </a:txBody>
                  <a:tcPr>
                    <a:solidFill>
                      <a:srgbClr val="15152A"/>
                    </a:solidFill>
                  </a:tcPr>
                </a:tc>
                <a:tc>
                  <a:txBody>
                    <a:bodyPr wrap="square"/>
                    <a:lstStyle/>
                    <a:p>
                      <a:r>
                        <a:rPr sz="1100" b="0">
                          <a:solidFill>
                            <a:srgbClr val="E0E0E0"/>
                          </a:solidFill>
                          <a:latin typeface="Calibri"/>
                        </a:rPr>
                        <a:t>n · L</a:t>
                      </a:r>
                    </a:p>
                  </a:txBody>
                  <a:tcPr>
                    <a:solidFill>
                      <a:srgbClr val="15152A"/>
                    </a:solidFill>
                  </a:tcPr>
                </a:tc>
              </a:tr>
              <a:tr h="450000">
                <a:tc>
                  <a:txBody>
                    <a:bodyPr wrap="square"/>
                    <a:lstStyle/>
                    <a:p>
                      <a:r>
                        <a:rPr sz="1100" b="1">
                          <a:solidFill>
                            <a:srgbClr val="FCB13E"/>
                          </a:solidFill>
                          <a:latin typeface="Calibri"/>
                        </a:rPr>
                        <a:t>Perfect oracle (knows exactly when to build)</a:t>
                      </a:r>
                    </a:p>
                  </a:txBody>
                  <a:tcPr>
                    <a:solidFill>
                      <a:srgbClr val="15152A"/>
                    </a:solidFill>
                  </a:tcPr>
                </a:tc>
                <a:tc>
                  <a:txBody>
                    <a:bodyPr wrap="square"/>
                    <a:lstStyle/>
                    <a:p>
                      <a:r>
                        <a:rPr sz="1100" b="0">
                          <a:solidFill>
                            <a:srgbClr val="E0E0E0"/>
                          </a:solidFill>
                          <a:latin typeface="Calibri"/>
                        </a:rPr>
                        <a:t>B + n · s · L</a:t>
                      </a:r>
                    </a:p>
                  </a:txBody>
                  <a:tcPr>
                    <a:solidFill>
                      <a:srgbClr val="15152A"/>
                    </a:solidFill>
                  </a:tcPr>
                </a:tc>
              </a:tr>
              <a:tr h="450000">
                <a:tc>
                  <a:txBody>
                    <a:bodyPr wrap="square"/>
                    <a:lstStyle/>
                    <a:p>
                      <a:r>
                        <a:rPr sz="1100" b="1">
                          <a:solidFill>
                            <a:srgbClr val="FCB13E"/>
                          </a:solidFill>
                          <a:latin typeface="Calibri"/>
                        </a:rPr>
                        <a:t>Runtime accumulator (build at n = m)</a:t>
                      </a:r>
                    </a:p>
                  </a:txBody>
                  <a:tcPr>
                    <a:solidFill>
                      <a:srgbClr val="15152A"/>
                    </a:solidFill>
                  </a:tcPr>
                </a:tc>
                <a:tc>
                  <a:txBody>
                    <a:bodyPr wrap="square"/>
                    <a:lstStyle/>
                    <a:p>
                      <a:r>
                        <a:rPr sz="1100" b="0">
                          <a:solidFill>
                            <a:srgbClr val="E0E0E0"/>
                          </a:solidFill>
                          <a:latin typeface="Calibri"/>
                        </a:rPr>
                        <a:t>m · L + B + (n − m) · s · L</a:t>
                      </a:r>
                    </a:p>
                  </a:txBody>
                  <a:tcPr>
                    <a:solidFill>
                      <a:srgbClr val="15152A"/>
                    </a:solidFill>
                  </a:tcPr>
                </a:tc>
              </a:tr>
            </a:tbl>
          </a:graphicData>
        </a:graphic>
      </p:graphicFrame>
      <p:sp>
        <p:nvSpPr>
          <p:cNvPr id="5" name="TextBox 4"/>
          <p:cNvSpPr txBox="1"/>
          <p:nvPr/>
        </p:nvSpPr>
        <p:spPr>
          <a:xfrm>
            <a:off x="548640" y="3200000"/>
            <a:ext cx="11094720" cy="1800000"/>
          </a:xfrm>
          <a:prstGeom prst="rect">
            <a:avLst/>
          </a:prstGeom>
          <a:noFill/>
        </p:spPr>
        <p:txBody>
          <a:bodyPr wrap="square">
            <a:spAutoFit/>
          </a:bodyPr>
          <a:lstStyle/>
          <a:p>
            <a:r>
              <a:rPr sz="1800" b="1">
                <a:solidFill>
                  <a:srgbClr val="FCB13E"/>
                </a:solidFill>
                <a:latin typeface="Consolas"/>
              </a:rPr>
              <a:t>Cost(accumulator) − Cost(oracle) = B</a:t>
            </a:r>
            <a:r>
              <a:rPr sz="1700" b="0">
                <a:solidFill>
                  <a:srgbClr val="E0E0E0"/>
                </a:solidFill>
                <a:latin typeface="Calibri"/>
              </a:rPr>
              <a:t>    (always, regardless of n or s)</a:t>
            </a:r>
          </a:p>
          <a:p>
            <a:r>
              <a:rPr sz="1600" b="0">
                <a:solidFill>
                  <a:srgbClr val="E0E0E0"/>
                </a:solidFill>
                <a:latin typeface="Calibri"/>
              </a:rPr>
              <a:t>• During deferral, m neighbors are loaded at full L. Oracle would load them at s · L.</a:t>
            </a:r>
          </a:p>
          <a:p>
            <a:r>
              <a:rPr sz="1600" b="0">
                <a:solidFill>
                  <a:srgbClr val="E0E0E0"/>
                </a:solidFill>
                <a:latin typeface="Calibri"/>
              </a:rPr>
              <a:t>• Forfeited savings:  </a:t>
            </a:r>
            <a:r>
              <a:rPr sz="1500" b="0">
                <a:solidFill>
                  <a:srgbClr val="B0E0B0"/>
                </a:solidFill>
                <a:latin typeface="Consolas"/>
              </a:rPr>
              <a:t>m · (1 − s) · L</a:t>
            </a:r>
            <a:r>
              <a:rPr sz="1600" b="0">
                <a:solidFill>
                  <a:srgbClr val="E0E0E0"/>
                </a:solidFill>
                <a:latin typeface="Calibri"/>
              </a:rPr>
              <a:t>   = B   by the definition of m.</a:t>
            </a:r>
          </a:p>
          <a:p>
            <a:r>
              <a:rPr sz="1600" b="0">
                <a:solidFill>
                  <a:srgbClr val="E0E0E0"/>
                </a:solidFill>
                <a:latin typeface="Calibri"/>
              </a:rPr>
              <a:t>• Effectively pays for the build TWICE: once as the build, once as savings forfeited during deferral.</a:t>
            </a:r>
          </a:p>
        </p:txBody>
      </p:sp>
      <p:sp>
        <p:nvSpPr>
          <p:cNvPr id="6" name="TextBox 5"/>
          <p:cNvSpPr txBox="1"/>
          <p:nvPr/>
        </p:nvSpPr>
        <p:spPr>
          <a:xfrm>
            <a:off x="548640" y="5050000"/>
            <a:ext cx="11094720" cy="1700000"/>
          </a:xfrm>
          <a:prstGeom prst="rect">
            <a:avLst/>
          </a:prstGeom>
          <a:noFill/>
        </p:spPr>
        <p:txBody>
          <a:bodyPr wrap="square">
            <a:spAutoFit/>
          </a:bodyPr>
          <a:lstStyle/>
          <a:p>
            <a:r>
              <a:rPr sz="1900" b="1">
                <a:solidFill>
                  <a:srgbClr val="FCB13E"/>
                </a:solidFill>
                <a:latin typeface="Calibri"/>
              </a:rPr>
              <a:t>The danger zone</a:t>
            </a:r>
          </a:p>
          <a:p>
            <a:r>
              <a:rPr sz="1600" b="0">
                <a:solidFill>
                  <a:srgbClr val="E0E0E0"/>
                </a:solidFill>
                <a:latin typeface="Calibri"/>
              </a:rPr>
              <a:t>• Runtime accumulator beats no-prefilter only when </a:t>
            </a:r>
            <a:r>
              <a:rPr sz="1600" b="1">
                <a:solidFill>
                  <a:srgbClr val="FCB13E"/>
                </a:solidFill>
                <a:latin typeface="Calibri"/>
              </a:rPr>
              <a:t>n &gt; 2m</a:t>
            </a:r>
            <a:r>
              <a:rPr sz="1600" b="0">
                <a:solidFill>
                  <a:srgbClr val="E0E0E0"/>
                </a:solidFill>
                <a:latin typeface="Calibri"/>
              </a:rPr>
              <a:t>  — not n &gt; m as the naive formula suggests</a:t>
            </a:r>
          </a:p>
          <a:p>
            <a:r>
              <a:rPr sz="1600" b="0">
                <a:solidFill>
                  <a:srgbClr val="E0E0E0"/>
                </a:solidFill>
                <a:latin typeface="Calibri"/>
              </a:rPr>
              <a:t>• In the interval </a:t>
            </a:r>
            <a:r>
              <a:rPr sz="1600" b="1">
                <a:solidFill>
                  <a:srgbClr val="E57373"/>
                </a:solidFill>
                <a:latin typeface="Calibri"/>
              </a:rPr>
              <a:t>[m, 2m)</a:t>
            </a:r>
            <a:r>
              <a:rPr sz="1600" b="0">
                <a:solidFill>
                  <a:srgbClr val="E0E0E0"/>
                </a:solidFill>
                <a:latin typeface="Calibri"/>
              </a:rPr>
              <a:t> the runtime accumulator is </a:t>
            </a:r>
            <a:r>
              <a:rPr sz="1600" b="1">
                <a:solidFill>
                  <a:srgbClr val="E57373"/>
                </a:solidFill>
                <a:latin typeface="Calibri"/>
              </a:rPr>
              <a:t>actively slower</a:t>
            </a:r>
            <a:r>
              <a:rPr sz="1600" b="0">
                <a:solidFill>
                  <a:srgbClr val="E0E0E0"/>
                </a:solidFill>
                <a:latin typeface="Calibri"/>
              </a:rPr>
              <a:t> than no optimization at all</a:t>
            </a:r>
          </a:p>
          <a:p>
            <a:r>
              <a:rPr sz="1600" b="0">
                <a:solidFill>
                  <a:srgbClr val="E0E0E0"/>
                </a:solidFill>
                <a:latin typeface="Calibri"/>
              </a:rPr>
              <a:t>• At n ≈ m it can be </a:t>
            </a:r>
            <a:r>
              <a:rPr sz="1600" b="1">
                <a:solidFill>
                  <a:srgbClr val="E57373"/>
                </a:solidFill>
                <a:latin typeface="Calibri"/>
              </a:rPr>
              <a:t>~2× slower than nothing</a:t>
            </a:r>
          </a:p>
          <a:p>
            <a:r>
              <a:rPr sz="1600" b="0">
                <a:solidFill>
                  <a:srgbClr val="E0E0E0"/>
                </a:solidFill>
                <a:latin typeface="Calibri"/>
              </a:rPr>
              <a:t>• This is why BUILD_EAGER exists (no deferral phase = no tax) and why the safety-net trigger has m as its floor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Gate 2 — will the traversal volume pay back the build?</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Break-even math: how many traversals before the index scan is recovered</a:t>
            </a:r>
          </a:p>
        </p:txBody>
      </p:sp>
      <p:sp>
        <p:nvSpPr>
          <p:cNvPr id="4" name="TextBox 3"/>
          <p:cNvSpPr txBox="1"/>
          <p:nvPr/>
        </p:nvSpPr>
        <p:spPr>
          <a:xfrm>
            <a:off x="548640" y="1350000"/>
            <a:ext cx="11094720" cy="900000"/>
          </a:xfrm>
          <a:prstGeom prst="rect">
            <a:avLst/>
          </a:prstGeom>
          <a:solidFill>
            <a:srgbClr val="121220"/>
          </a:solidFill>
          <a:ln w="6350">
            <a:solidFill>
              <a:srgbClr val="404060"/>
            </a:solidFill>
          </a:ln>
        </p:spPr>
        <p:txBody>
          <a:bodyPr wrap="square">
            <a:spAutoFit/>
          </a:bodyPr>
          <a:lstStyle/>
          <a:p>
            <a:r>
              <a:rPr sz="1200">
                <a:solidFill>
                  <a:srgbClr val="B0E0B0"/>
                </a:solidFill>
                <a:latin typeface="Consolas"/>
              </a:rPr>
              <a:t>m  =  estimatedSize  /  (loadToScanRatio × (1 − selectivity))</a:t>
            </a:r>
          </a:p>
          <a:p>
            <a:r>
              <a:rPr sz="1200">
                <a:solidFill>
                  <a:srgbClr val="B0E0B0"/>
                </a:solidFill>
                <a:latin typeface="Consolas"/>
              </a:rPr>
              <a:t/>
            </a:r>
          </a:p>
          <a:p>
            <a:r>
              <a:rPr sz="1200">
                <a:solidFill>
                  <a:srgbClr val="B0E0B0"/>
                </a:solidFill>
                <a:latin typeface="Consolas"/>
              </a:rPr>
              <a:t>    estimatedSize    ≈ build cost   (one I/O per index hit)</a:t>
            </a:r>
          </a:p>
          <a:p>
            <a:r>
              <a:rPr sz="1200">
                <a:solidFill>
                  <a:srgbClr val="B0E0B0"/>
                </a:solidFill>
                <a:latin typeface="Consolas"/>
              </a:rPr>
              <a:t>    (1 − selectivity)= LinkBag fraction rejected per vertex (savings per probe)</a:t>
            </a:r>
          </a:p>
          <a:p>
            <a:r>
              <a:rPr sz="1200">
                <a:solidFill>
                  <a:srgbClr val="B0E0B0"/>
                </a:solidFill>
                <a:latin typeface="Consolas"/>
              </a:rPr>
              <a:t>    loadToScanRatio  = 100          (random vertex load vs RidSet probe)</a:t>
            </a:r>
          </a:p>
          <a:p>
            <a:r>
              <a:rPr sz="1300">
                <a:solidFill>
                  <a:srgbClr val="B0E0B0"/>
                </a:solidFill>
                <a:latin typeface="Consolas"/>
              </a:rPr>
              <a:t/>
            </a:r>
          </a:p>
          <a:p>
            <a:r>
              <a:rPr sz="1200">
                <a:solidFill>
                  <a:srgbClr val="B0E0B0"/>
                </a:solidFill>
                <a:latin typeface="Consolas"/>
              </a:rPr>
              <a:t>    Equivalent in slide 14's notation:  m = B / (loadToScanRatio × (1 − s))</a:t>
            </a:r>
          </a:p>
        </p:txBody>
      </p:sp>
      <p:sp>
        <p:nvSpPr>
          <p:cNvPr id="5" name="TextBox 4"/>
          <p:cNvSpPr txBox="1"/>
          <p:nvPr/>
        </p:nvSpPr>
        <p:spPr>
          <a:xfrm>
            <a:off x="548640" y="2450000"/>
            <a:ext cx="11094720" cy="500000"/>
          </a:xfrm>
          <a:prstGeom prst="rect">
            <a:avLst/>
          </a:prstGeom>
          <a:noFill/>
        </p:spPr>
        <p:txBody>
          <a:bodyPr wrap="square">
            <a:spAutoFit/>
          </a:bodyPr>
          <a:lstStyle/>
          <a:p>
            <a:r>
              <a:rPr sz="1800" b="1">
                <a:solidFill>
                  <a:srgbClr val="FCB13E"/>
                </a:solidFill>
                <a:latin typeface="Calibri"/>
              </a:rPr>
              <a:t>Three concrete cases:</a:t>
            </a:r>
          </a:p>
        </p:txBody>
      </p:sp>
      <p:graphicFrame>
        <p:nvGraphicFramePr>
          <p:cNvPr id="6" name="Table 5"/>
          <p:cNvGraphicFramePr>
            <a:graphicFrameLocks noGrp="1"/>
          </p:cNvGraphicFramePr>
          <p:nvPr/>
        </p:nvGraphicFramePr>
        <p:xfrm>
          <a:off x="548640" y="3000000"/>
          <a:ext cx="11100000" cy="2200000"/>
        </p:xfrm>
        <a:graphic>
          <a:graphicData uri="http://schemas.openxmlformats.org/drawingml/2006/table">
            <a:tbl>
              <a:tblPr firstRow="1" bandRow="1">
                <a:tableStyleId>{5C22544A-7EE6-4342-B048-85BDC9FD1C3A}</a:tableStyleId>
              </a:tblPr>
              <a:tblGrid>
                <a:gridCol w="2900000"/>
                <a:gridCol w="1400000"/>
                <a:gridCol w="1600000"/>
                <a:gridCol w="2400000"/>
                <a:gridCol w="2800000"/>
              </a:tblGrid>
              <a:tr h="550000">
                <a:tc>
                  <a:txBody>
                    <a:bodyPr wrap="square"/>
                    <a:lstStyle/>
                    <a:p>
                      <a:r>
                        <a:rPr sz="1200" b="1">
                          <a:solidFill>
                            <a:srgbClr val="FFA0C8"/>
                          </a:solidFill>
                          <a:latin typeface="Calibri"/>
                        </a:rPr>
                        <a:t>Filter on</a:t>
                      </a:r>
                    </a:p>
                  </a:txBody>
                  <a:tcPr>
                    <a:solidFill>
                      <a:srgbClr val="401530"/>
                    </a:solidFill>
                  </a:tcPr>
                </a:tc>
                <a:tc>
                  <a:txBody>
                    <a:bodyPr wrap="square"/>
                    <a:lstStyle/>
                    <a:p>
                      <a:r>
                        <a:rPr sz="1200" b="1">
                          <a:solidFill>
                            <a:srgbClr val="FFA0C8"/>
                          </a:solidFill>
                          <a:latin typeface="Calibri"/>
                        </a:rPr>
                        <a:t>selectivity</a:t>
                      </a:r>
                    </a:p>
                  </a:txBody>
                  <a:tcPr>
                    <a:solidFill>
                      <a:srgbClr val="401530"/>
                    </a:solidFill>
                  </a:tcPr>
                </a:tc>
                <a:tc>
                  <a:txBody>
                    <a:bodyPr wrap="square"/>
                    <a:lstStyle/>
                    <a:p>
                      <a:r>
                        <a:rPr sz="1200" b="1">
                          <a:solidFill>
                            <a:srgbClr val="FFA0C8"/>
                          </a:solidFill>
                          <a:latin typeface="Calibri"/>
                        </a:rPr>
                        <a:t>estimatedSize</a:t>
                      </a:r>
                    </a:p>
                  </a:txBody>
                  <a:tcPr>
                    <a:solidFill>
                      <a:srgbClr val="401530"/>
                    </a:solidFill>
                  </a:tcPr>
                </a:tc>
                <a:tc>
                  <a:txBody>
                    <a:bodyPr wrap="square"/>
                    <a:lstStyle/>
                    <a:p>
                      <a:r>
                        <a:rPr sz="1200" b="1">
                          <a:solidFill>
                            <a:srgbClr val="FFA0C8"/>
                          </a:solidFill>
                          <a:latin typeface="Calibri"/>
                        </a:rPr>
                        <a:t>m (break-even probes)</a:t>
                      </a:r>
                    </a:p>
                  </a:txBody>
                  <a:tcPr>
                    <a:solidFill>
                      <a:srgbClr val="401530"/>
                    </a:solidFill>
                  </a:tcPr>
                </a:tc>
                <a:tc>
                  <a:txBody>
                    <a:bodyPr wrap="square"/>
                    <a:lstStyle/>
                    <a:p>
                      <a:r>
                        <a:rPr sz="1200" b="1">
                          <a:solidFill>
                            <a:srgbClr val="FFA0C8"/>
                          </a:solidFill>
                          <a:latin typeface="Calibri"/>
                        </a:rPr>
                        <a:t>Reading</a:t>
                      </a:r>
                    </a:p>
                  </a:txBody>
                  <a:tcPr>
                    <a:solidFill>
                      <a:srgbClr val="401530"/>
                    </a:solidFill>
                  </a:tcPr>
                </a:tc>
              </a:tr>
              <a:tr h="550000">
                <a:tc>
                  <a:txBody>
                    <a:bodyPr wrap="square"/>
                    <a:lstStyle/>
                    <a:p>
                      <a:r>
                        <a:rPr sz="1100" b="1">
                          <a:solidFill>
                            <a:srgbClr val="FCB13E"/>
                          </a:solidFill>
                          <a:latin typeface="Calibri"/>
                        </a:rPr>
                        <a:t>creationDate &gt; :date (typical)</a:t>
                      </a:r>
                    </a:p>
                  </a:txBody>
                  <a:tcPr>
                    <a:solidFill>
                      <a:srgbClr val="15152A"/>
                    </a:solidFill>
                  </a:tcPr>
                </a:tc>
                <a:tc>
                  <a:txBody>
                    <a:bodyPr wrap="square"/>
                    <a:lstStyle/>
                    <a:p>
                      <a:r>
                        <a:rPr sz="1100" b="0">
                          <a:solidFill>
                            <a:srgbClr val="E0E0E0"/>
                          </a:solidFill>
                          <a:latin typeface="Calibri"/>
                        </a:rPr>
                        <a:t>0.10</a:t>
                      </a:r>
                    </a:p>
                  </a:txBody>
                  <a:tcPr>
                    <a:solidFill>
                      <a:srgbClr val="15152A"/>
                    </a:solidFill>
                  </a:tcPr>
                </a:tc>
                <a:tc>
                  <a:txBody>
                    <a:bodyPr wrap="square"/>
                    <a:lstStyle/>
                    <a:p>
                      <a:r>
                        <a:rPr sz="1100" b="0">
                          <a:solidFill>
                            <a:srgbClr val="E0E0E0"/>
                          </a:solidFill>
                          <a:latin typeface="Calibri"/>
                        </a:rPr>
                        <a:t>5 000</a:t>
                      </a:r>
                    </a:p>
                  </a:txBody>
                  <a:tcPr>
                    <a:solidFill>
                      <a:srgbClr val="15152A"/>
                    </a:solidFill>
                  </a:tcPr>
                </a:tc>
                <a:tc>
                  <a:txBody>
                    <a:bodyPr wrap="square"/>
                    <a:lstStyle/>
                    <a:p>
                      <a:r>
                        <a:rPr sz="1100" b="0">
                          <a:solidFill>
                            <a:srgbClr val="E0E0E0"/>
                          </a:solidFill>
                          <a:latin typeface="Calibri"/>
                        </a:rPr>
                        <a:t>≈ 56</a:t>
                      </a:r>
                    </a:p>
                  </a:txBody>
                  <a:tcPr>
                    <a:solidFill>
                      <a:srgbClr val="15152A"/>
                    </a:solidFill>
                  </a:tcPr>
                </a:tc>
                <a:tc>
                  <a:txBody>
                    <a:bodyPr wrap="square"/>
                    <a:lstStyle/>
                    <a:p>
                      <a:r>
                        <a:rPr sz="1100" b="0">
                          <a:solidFill>
                            <a:srgbClr val="E0E0E0"/>
                          </a:solidFill>
                          <a:latin typeface="Calibri"/>
                        </a:rPr>
                        <a:t>tiny m — even a small source pays back</a:t>
                      </a:r>
                    </a:p>
                  </a:txBody>
                  <a:tcPr>
                    <a:solidFill>
                      <a:srgbClr val="15152A"/>
                    </a:solidFill>
                  </a:tcPr>
                </a:tc>
              </a:tr>
              <a:tr h="550000">
                <a:tc>
                  <a:txBody>
                    <a:bodyPr wrap="square"/>
                    <a:lstStyle/>
                    <a:p>
                      <a:r>
                        <a:rPr sz="1100" b="1">
                          <a:solidFill>
                            <a:srgbClr val="FCB13E"/>
                          </a:solidFill>
                          <a:latin typeface="Calibri"/>
                        </a:rPr>
                        <a:t>creationDate &gt; :date (popular)</a:t>
                      </a:r>
                    </a:p>
                  </a:txBody>
                  <a:tcPr>
                    <a:solidFill>
                      <a:srgbClr val="15152A"/>
                    </a:solidFill>
                  </a:tcPr>
                </a:tc>
                <a:tc>
                  <a:txBody>
                    <a:bodyPr wrap="square"/>
                    <a:lstStyle/>
                    <a:p>
                      <a:r>
                        <a:rPr sz="1100" b="0">
                          <a:solidFill>
                            <a:srgbClr val="E0E0E0"/>
                          </a:solidFill>
                          <a:latin typeface="Calibri"/>
                        </a:rPr>
                        <a:t>0.30</a:t>
                      </a:r>
                    </a:p>
                  </a:txBody>
                  <a:tcPr>
                    <a:solidFill>
                      <a:srgbClr val="15152A"/>
                    </a:solidFill>
                  </a:tcPr>
                </a:tc>
                <a:tc>
                  <a:txBody>
                    <a:bodyPr wrap="square"/>
                    <a:lstStyle/>
                    <a:p>
                      <a:r>
                        <a:rPr sz="1100" b="0">
                          <a:solidFill>
                            <a:srgbClr val="E0E0E0"/>
                          </a:solidFill>
                          <a:latin typeface="Calibri"/>
                        </a:rPr>
                        <a:t>30 000</a:t>
                      </a:r>
                    </a:p>
                  </a:txBody>
                  <a:tcPr>
                    <a:solidFill>
                      <a:srgbClr val="15152A"/>
                    </a:solidFill>
                  </a:tcPr>
                </a:tc>
                <a:tc>
                  <a:txBody>
                    <a:bodyPr wrap="square"/>
                    <a:lstStyle/>
                    <a:p>
                      <a:r>
                        <a:rPr sz="1100" b="0">
                          <a:solidFill>
                            <a:srgbClr val="E0E0E0"/>
                          </a:solidFill>
                          <a:latin typeface="Calibri"/>
                        </a:rPr>
                        <a:t>≈ 429</a:t>
                      </a:r>
                    </a:p>
                  </a:txBody>
                  <a:tcPr>
                    <a:solidFill>
                      <a:srgbClr val="15152A"/>
                    </a:solidFill>
                  </a:tcPr>
                </a:tc>
                <a:tc>
                  <a:txBody>
                    <a:bodyPr wrap="square"/>
                    <a:lstStyle/>
                    <a:p>
                      <a:r>
                        <a:rPr sz="1100" b="0">
                          <a:solidFill>
                            <a:srgbClr val="E0E0E0"/>
                          </a:solidFill>
                          <a:latin typeface="Calibri"/>
                        </a:rPr>
                        <a:t>modest m — needs a moderate edge</a:t>
                      </a:r>
                    </a:p>
                  </a:txBody>
                  <a:tcPr>
                    <a:solidFill>
                      <a:srgbClr val="15152A"/>
                    </a:solidFill>
                  </a:tcPr>
                </a:tc>
              </a:tr>
              <a:tr h="550000">
                <a:tc>
                  <a:txBody>
                    <a:bodyPr wrap="square"/>
                    <a:lstStyle/>
                    <a:p>
                      <a:r>
                        <a:rPr sz="1100" b="1">
                          <a:solidFill>
                            <a:srgbClr val="FCB13E"/>
                          </a:solidFill>
                          <a:latin typeface="Calibri"/>
                        </a:rPr>
                        <a:t>country.name IN [..]</a:t>
                      </a:r>
                    </a:p>
                  </a:txBody>
                  <a:tcPr>
                    <a:solidFill>
                      <a:srgbClr val="15152A"/>
                    </a:solidFill>
                  </a:tcPr>
                </a:tc>
                <a:tc>
                  <a:txBody>
                    <a:bodyPr wrap="square"/>
                    <a:lstStyle/>
                    <a:p>
                      <a:r>
                        <a:rPr sz="1100" b="0">
                          <a:solidFill>
                            <a:srgbClr val="E0E0E0"/>
                          </a:solidFill>
                          <a:latin typeface="Calibri"/>
                        </a:rPr>
                        <a:t>0.90</a:t>
                      </a:r>
                    </a:p>
                  </a:txBody>
                  <a:tcPr>
                    <a:solidFill>
                      <a:srgbClr val="15152A"/>
                    </a:solidFill>
                  </a:tcPr>
                </a:tc>
                <a:tc>
                  <a:txBody>
                    <a:bodyPr wrap="square"/>
                    <a:lstStyle/>
                    <a:p>
                      <a:r>
                        <a:rPr sz="1100" b="0">
                          <a:solidFill>
                            <a:srgbClr val="E0E0E0"/>
                          </a:solidFill>
                          <a:latin typeface="Calibri"/>
                        </a:rPr>
                        <a:t>50 000</a:t>
                      </a:r>
                    </a:p>
                  </a:txBody>
                  <a:tcPr>
                    <a:solidFill>
                      <a:srgbClr val="15152A"/>
                    </a:solidFill>
                  </a:tcPr>
                </a:tc>
                <a:tc>
                  <a:txBody>
                    <a:bodyPr wrap="square"/>
                    <a:lstStyle/>
                    <a:p>
                      <a:r>
                        <a:rPr sz="1100" b="0">
                          <a:solidFill>
                            <a:srgbClr val="E0E0E0"/>
                          </a:solidFill>
                          <a:latin typeface="Calibri"/>
                        </a:rPr>
                        <a:t>= 5 000</a:t>
                      </a:r>
                    </a:p>
                  </a:txBody>
                  <a:tcPr>
                    <a:solidFill>
                      <a:srgbClr val="15152A"/>
                    </a:solidFill>
                  </a:tcPr>
                </a:tc>
                <a:tc>
                  <a:txBody>
                    <a:bodyPr wrap="square"/>
                    <a:lstStyle/>
                    <a:p>
                      <a:r>
                        <a:rPr sz="1100" b="0">
                          <a:solidFill>
                            <a:srgbClr val="E0E0E0"/>
                          </a:solidFill>
                          <a:latin typeface="Calibri"/>
                        </a:rPr>
                        <a:t>high m — only big edges should build</a:t>
                      </a:r>
                    </a:p>
                  </a:txBody>
                  <a:tcPr>
                    <a:solidFill>
                      <a:srgbClr val="15152A"/>
                    </a:solidFill>
                  </a:tcPr>
                </a:tc>
              </a:tr>
            </a:tbl>
          </a:graphicData>
        </a:graphic>
      </p:graphicFrame>
      <p:sp>
        <p:nvSpPr>
          <p:cNvPr id="7" name="TextBox 6"/>
          <p:cNvSpPr txBox="1"/>
          <p:nvPr/>
        </p:nvSpPr>
        <p:spPr>
          <a:xfrm>
            <a:off x="548640" y="5400000"/>
            <a:ext cx="11094720" cy="1400000"/>
          </a:xfrm>
          <a:prstGeom prst="rect">
            <a:avLst/>
          </a:prstGeom>
          <a:noFill/>
        </p:spPr>
        <p:txBody>
          <a:bodyPr wrap="square">
            <a:spAutoFit/>
          </a:bodyPr>
          <a:lstStyle/>
          <a:p>
            <a:r>
              <a:rPr sz="1800" b="1">
                <a:solidFill>
                  <a:srgbClr val="FCB13E"/>
                </a:solidFill>
                <a:latin typeface="Calibri"/>
              </a:rPr>
              <a:t>Decision</a:t>
            </a:r>
          </a:p>
          <a:p>
            <a:r>
              <a:rPr sz="1600" b="0">
                <a:solidFill>
                  <a:srgbClr val="E0E0E0"/>
                </a:solidFill>
                <a:latin typeface="Calibri"/>
              </a:rPr>
              <a:t>• If the planner's traversal forecast (</a:t>
            </a:r>
            <a:r>
              <a:rPr sz="1400" b="0">
                <a:solidFill>
                  <a:srgbClr val="B0E0B0"/>
                </a:solidFill>
                <a:latin typeface="Consolas"/>
              </a:rPr>
              <a:t>forecastN</a:t>
            </a:r>
            <a:r>
              <a:rPr sz="1600" b="0">
                <a:solidFill>
                  <a:srgbClr val="E0E0E0"/>
                </a:solidFill>
                <a:latin typeface="Calibri"/>
              </a:rPr>
              <a:t>) is comfortably greater than m → </a:t>
            </a:r>
            <a:r>
              <a:rPr sz="1600" b="1">
                <a:solidFill>
                  <a:srgbClr val="9CCC65"/>
                </a:solidFill>
                <a:latin typeface="Calibri"/>
              </a:rPr>
              <a:t>BUILD_EAGER</a:t>
            </a:r>
          </a:p>
          <a:p>
            <a:r>
              <a:rPr sz="1600" b="0">
                <a:solidFill>
                  <a:srgbClr val="E0E0E0"/>
                </a:solidFill>
                <a:latin typeface="Calibri"/>
              </a:rPr>
              <a:t>• If the forecast is uncertain or below m → </a:t>
            </a:r>
            <a:r>
              <a:rPr sz="1600" b="1">
                <a:solidFill>
                  <a:srgbClr val="FCB13E"/>
                </a:solidFill>
                <a:latin typeface="Calibri"/>
              </a:rPr>
              <a:t>DEFERRED_WITH_NET</a:t>
            </a:r>
            <a:r>
              <a:rPr sz="1600" b="0">
                <a:solidFill>
                  <a:srgbClr val="E0E0E0"/>
                </a:solidFill>
                <a:latin typeface="Calibri"/>
              </a:rPr>
              <a:t> — accumulate at runtime, build only when reality crosses the threshold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Three modes — eager, deferred, reject</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Decided once per edge at the first call, then memoised</a:t>
            </a:r>
          </a:p>
        </p:txBody>
      </p:sp>
      <p:graphicFrame>
        <p:nvGraphicFramePr>
          <p:cNvPr id="4" name="Table 3"/>
          <p:cNvGraphicFramePr>
            <a:graphicFrameLocks noGrp="1"/>
          </p:cNvGraphicFramePr>
          <p:nvPr/>
        </p:nvGraphicFramePr>
        <p:xfrm>
          <a:off x="548640" y="1350000"/>
          <a:ext cx="11100000" cy="2700000"/>
        </p:xfrm>
        <a:graphic>
          <a:graphicData uri="http://schemas.openxmlformats.org/drawingml/2006/table">
            <a:tbl>
              <a:tblPr firstRow="1" bandRow="1">
                <a:tableStyleId>{5C22544A-7EE6-4342-B048-85BDC9FD1C3A}</a:tableStyleId>
              </a:tblPr>
              <a:tblGrid>
                <a:gridCol w="2400000"/>
                <a:gridCol w="4500000"/>
                <a:gridCol w="4200000"/>
              </a:tblGrid>
              <a:tr h="675000">
                <a:tc>
                  <a:txBody>
                    <a:bodyPr wrap="square"/>
                    <a:lstStyle/>
                    <a:p>
                      <a:r>
                        <a:rPr sz="1200" b="1">
                          <a:solidFill>
                            <a:srgbClr val="FFA0C8"/>
                          </a:solidFill>
                          <a:latin typeface="Calibri"/>
                        </a:rPr>
                        <a:t>Mode</a:t>
                      </a:r>
                    </a:p>
                  </a:txBody>
                  <a:tcPr>
                    <a:solidFill>
                      <a:srgbClr val="401530"/>
                    </a:solidFill>
                  </a:tcPr>
                </a:tc>
                <a:tc>
                  <a:txBody>
                    <a:bodyPr wrap="square"/>
                    <a:lstStyle/>
                    <a:p>
                      <a:r>
                        <a:rPr sz="1200" b="1">
                          <a:solidFill>
                            <a:srgbClr val="FFA0C8"/>
                          </a:solidFill>
                          <a:latin typeface="Calibri"/>
                        </a:rPr>
                        <a:t>Condition</a:t>
                      </a:r>
                    </a:p>
                  </a:txBody>
                  <a:tcPr>
                    <a:solidFill>
                      <a:srgbClr val="401530"/>
                    </a:solidFill>
                  </a:tcPr>
                </a:tc>
                <a:tc>
                  <a:txBody>
                    <a:bodyPr wrap="square"/>
                    <a:lstStyle/>
                    <a:p>
                      <a:r>
                        <a:rPr sz="1200" b="1">
                          <a:solidFill>
                            <a:srgbClr val="FFA0C8"/>
                          </a:solidFill>
                          <a:latin typeface="Calibri"/>
                        </a:rPr>
                        <a:t>Runtime action</a:t>
                      </a:r>
                    </a:p>
                  </a:txBody>
                  <a:tcPr>
                    <a:solidFill>
                      <a:srgbClr val="401530"/>
                    </a:solidFill>
                  </a:tcPr>
                </a:tc>
              </a:tr>
              <a:tr h="675000">
                <a:tc>
                  <a:txBody>
                    <a:bodyPr wrap="square"/>
                    <a:lstStyle/>
                    <a:p>
                      <a:r>
                        <a:rPr sz="1100" b="1">
                          <a:solidFill>
                            <a:srgbClr val="FCB13E"/>
                          </a:solidFill>
                          <a:latin typeface="Calibri"/>
                        </a:rPr>
                        <a:t>BUILD_EAGER</a:t>
                      </a:r>
                    </a:p>
                  </a:txBody>
                  <a:tcPr>
                    <a:solidFill>
                      <a:srgbClr val="15152A"/>
                    </a:solidFill>
                  </a:tcPr>
                </a:tc>
                <a:tc>
                  <a:txBody>
                    <a:bodyPr wrap="square"/>
                    <a:lstStyle/>
                    <a:p>
                      <a:r>
                        <a:rPr sz="1100" b="0">
                          <a:solidFill>
                            <a:srgbClr val="E0E0E0"/>
                          </a:solidFill>
                          <a:latin typeface="Calibri"/>
                        </a:rPr>
                        <a:t>forecastN &gt; ⌈m⌉   AND   sample big enough for CLT (N ≥ 30)</a:t>
                      </a:r>
                    </a:p>
                  </a:txBody>
                  <a:tcPr>
                    <a:solidFill>
                      <a:srgbClr val="15152A"/>
                    </a:solidFill>
                  </a:tcPr>
                </a:tc>
                <a:tc>
                  <a:txBody>
                    <a:bodyPr wrap="square"/>
                    <a:lstStyle/>
                    <a:p>
                      <a:r>
                        <a:rPr sz="1100" b="0">
                          <a:solidFill>
                            <a:srgbClr val="E0E0E0"/>
                          </a:solidFill>
                          <a:latin typeface="Calibri"/>
                        </a:rPr>
                        <a:t>build on the first qualifying vertex</a:t>
                      </a:r>
                    </a:p>
                  </a:txBody>
                  <a:tcPr>
                    <a:solidFill>
                      <a:srgbClr val="15152A"/>
                    </a:solidFill>
                  </a:tcPr>
                </a:tc>
              </a:tr>
              <a:tr h="675000">
                <a:tc>
                  <a:txBody>
                    <a:bodyPr wrap="square"/>
                    <a:lstStyle/>
                    <a:p>
                      <a:r>
                        <a:rPr sz="1100" b="1">
                          <a:solidFill>
                            <a:srgbClr val="FCB13E"/>
                          </a:solidFill>
                          <a:latin typeface="Calibri"/>
                        </a:rPr>
                        <a:t>DEFERRED_WITH_NET</a:t>
                      </a:r>
                    </a:p>
                  </a:txBody>
                  <a:tcPr>
                    <a:solidFill>
                      <a:srgbClr val="15152A"/>
                    </a:solidFill>
                  </a:tcPr>
                </a:tc>
                <a:tc>
                  <a:txBody>
                    <a:bodyPr wrap="square"/>
                    <a:lstStyle/>
                    <a:p>
                      <a:r>
                        <a:rPr sz="1100" b="0">
                          <a:solidFill>
                            <a:srgbClr val="E0E0E0"/>
                          </a:solidFill>
                          <a:latin typeface="Calibri"/>
                        </a:rPr>
                        <a:t>selectivity known, but eager conditions not met</a:t>
                      </a:r>
                    </a:p>
                  </a:txBody>
                  <a:tcPr>
                    <a:solidFill>
                      <a:srgbClr val="15152A"/>
                    </a:solidFill>
                  </a:tcPr>
                </a:tc>
                <a:tc>
                  <a:txBody>
                    <a:bodyPr wrap="square"/>
                    <a:lstStyle/>
                    <a:p>
                      <a:r>
                        <a:rPr sz="1100" b="0">
                          <a:solidFill>
                            <a:srgbClr val="E0E0E0"/>
                          </a:solidFill>
                          <a:latin typeface="Calibri"/>
                        </a:rPr>
                        <a:t>accumulate linkBagSize per vertex; build when total ≥ max(2·forecastN, m)</a:t>
                      </a:r>
                    </a:p>
                  </a:txBody>
                  <a:tcPr>
                    <a:solidFill>
                      <a:srgbClr val="15152A"/>
                    </a:solidFill>
                  </a:tcPr>
                </a:tc>
              </a:tr>
              <a:tr h="675000">
                <a:tc>
                  <a:txBody>
                    <a:bodyPr wrap="square"/>
                    <a:lstStyle/>
                    <a:p>
                      <a:r>
                        <a:rPr sz="1100" b="1">
                          <a:solidFill>
                            <a:srgbClr val="FCB13E"/>
                          </a:solidFill>
                          <a:latin typeface="Calibri"/>
                        </a:rPr>
                        <a:t>REJECT</a:t>
                      </a:r>
                    </a:p>
                  </a:txBody>
                  <a:tcPr>
                    <a:solidFill>
                      <a:srgbClr val="15152A"/>
                    </a:solidFill>
                  </a:tcPr>
                </a:tc>
                <a:tc>
                  <a:txBody>
                    <a:bodyPr wrap="square"/>
                    <a:lstStyle/>
                    <a:p>
                      <a:r>
                        <a:rPr sz="1100" b="0">
                          <a:solidFill>
                            <a:srgbClr val="E0E0E0"/>
                          </a:solidFill>
                          <a:latin typeface="Calibri"/>
                        </a:rPr>
                        <a:t>unknown selectivity   OR   volume guaranteed too low</a:t>
                      </a:r>
                    </a:p>
                  </a:txBody>
                  <a:tcPr>
                    <a:solidFill>
                      <a:srgbClr val="15152A"/>
                    </a:solidFill>
                  </a:tcPr>
                </a:tc>
                <a:tc>
                  <a:txBody>
                    <a:bodyPr wrap="square"/>
                    <a:lstStyle/>
                    <a:p>
                      <a:r>
                        <a:rPr sz="1100" b="0">
                          <a:solidFill>
                            <a:srgbClr val="E0E0E0"/>
                          </a:solidFill>
                          <a:latin typeface="Calibri"/>
                        </a:rPr>
                        <a:t>cache null with skip reason; never retry on this edge</a:t>
                      </a:r>
                    </a:p>
                  </a:txBody>
                  <a:tcPr>
                    <a:solidFill>
                      <a:srgbClr val="15152A"/>
                    </a:solidFill>
                  </a:tcPr>
                </a:tc>
              </a:tr>
            </a:tbl>
          </a:graphicData>
        </a:graphic>
      </p:graphicFrame>
      <p:sp>
        <p:nvSpPr>
          <p:cNvPr id="5" name="TextBox 4"/>
          <p:cNvSpPr txBox="1"/>
          <p:nvPr/>
        </p:nvSpPr>
        <p:spPr>
          <a:xfrm>
            <a:off x="548640" y="4200000"/>
            <a:ext cx="11094720" cy="2600000"/>
          </a:xfrm>
          <a:prstGeom prst="rect">
            <a:avLst/>
          </a:prstGeom>
          <a:noFill/>
        </p:spPr>
        <p:txBody>
          <a:bodyPr wrap="square">
            <a:spAutoFit/>
          </a:bodyPr>
          <a:lstStyle/>
          <a:p>
            <a:r>
              <a:rPr sz="1800" b="1">
                <a:solidFill>
                  <a:srgbClr val="FCB13E"/>
                </a:solidFill>
                <a:latin typeface="Calibri"/>
              </a:rPr>
              <a:t>Why DEFERRED has a 'net'</a:t>
            </a:r>
          </a:p>
          <a:p>
            <a:r>
              <a:rPr sz="1600" b="0">
                <a:solidFill>
                  <a:srgbClr val="E0E0E0"/>
                </a:solidFill>
                <a:latin typeface="Calibri"/>
              </a:rPr>
              <a:t>• Forecasts can under-estimate when fan-out is heavy-tailed (one 'whale' vertex with thousands of edges)</a:t>
            </a:r>
          </a:p>
          <a:p>
            <a:r>
              <a:rPr sz="1600" b="0">
                <a:solidFill>
                  <a:srgbClr val="E0E0E0"/>
                </a:solidFill>
                <a:latin typeface="Calibri"/>
              </a:rPr>
              <a:t>• The runtime accumulator catches reality: even if forecast said 100, if we actually accumulated 12 000 traversals, the build is now justified</a:t>
            </a:r>
          </a:p>
          <a:p>
            <a:r>
              <a:rPr sz="1600" b="0">
                <a:solidFill>
                  <a:srgbClr val="E0E0E0"/>
                </a:solidFill>
                <a:latin typeface="Calibri"/>
              </a:rPr>
              <a:t>• </a:t>
            </a:r>
            <a:r>
              <a:rPr sz="1400" b="0">
                <a:solidFill>
                  <a:srgbClr val="B0E0B0"/>
                </a:solidFill>
                <a:latin typeface="Consolas"/>
              </a:rPr>
              <a:t>T = max(2·forecastN, m)</a:t>
            </a:r>
            <a:r>
              <a:rPr sz="1600" b="0">
                <a:solidFill>
                  <a:srgbClr val="E0E0E0"/>
                </a:solidFill>
                <a:latin typeface="Calibri"/>
              </a:rPr>
              <a:t> — the 2× term catches under-forecasts, the m floor catches no-forecast cases</a:t>
            </a:r>
          </a:p>
          <a:p>
            <a:r>
              <a:rPr sz="600" b="0">
                <a:solidFill>
                  <a:srgbClr val="E0E0E0"/>
                </a:solidFill>
                <a:latin typeface="Calibri"/>
              </a:rPr>
              <a:t/>
            </a:r>
          </a:p>
          <a:p>
            <a:r>
              <a:rPr sz="1600" b="0">
                <a:solidFill>
                  <a:srgbClr val="E0E0E0"/>
                </a:solidFill>
                <a:latin typeface="Calibri"/>
              </a:rPr>
              <a:t>Once decided, the mode is stored on the EdgeTraversal — no re-evaluation per vertex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Worst-case loss per mode — the bounded-loss contract</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Why DEFERRED_WITH_NET, not pure SKIP, is the right fallback</a:t>
            </a:r>
          </a:p>
        </p:txBody>
      </p:sp>
      <p:graphicFrame>
        <p:nvGraphicFramePr>
          <p:cNvPr id="4" name="Table 3"/>
          <p:cNvGraphicFramePr>
            <a:graphicFrameLocks noGrp="1"/>
          </p:cNvGraphicFramePr>
          <p:nvPr/>
        </p:nvGraphicFramePr>
        <p:xfrm>
          <a:off x="548640" y="1300000"/>
          <a:ext cx="11100000" cy="2899998"/>
        </p:xfrm>
        <a:graphic>
          <a:graphicData uri="http://schemas.openxmlformats.org/drawingml/2006/table">
            <a:tbl>
              <a:tblPr firstRow="1" bandRow="1">
                <a:tableStyleId>{5C22544A-7EE6-4342-B048-85BDC9FD1C3A}</a:tableStyleId>
              </a:tblPr>
              <a:tblGrid>
                <a:gridCol w="4500000"/>
                <a:gridCol w="2800000"/>
                <a:gridCol w="3800000"/>
              </a:tblGrid>
              <a:tr h="483333">
                <a:tc>
                  <a:txBody>
                    <a:bodyPr wrap="square"/>
                    <a:lstStyle/>
                    <a:p>
                      <a:r>
                        <a:rPr sz="1200" b="1">
                          <a:solidFill>
                            <a:srgbClr val="FFA0C8"/>
                          </a:solidFill>
                          <a:latin typeface="Calibri"/>
                        </a:rPr>
                        <a:t>Regime</a:t>
                      </a:r>
                    </a:p>
                  </a:txBody>
                  <a:tcPr>
                    <a:solidFill>
                      <a:srgbClr val="401530"/>
                    </a:solidFill>
                  </a:tcPr>
                </a:tc>
                <a:tc>
                  <a:txBody>
                    <a:bodyPr wrap="square"/>
                    <a:lstStyle/>
                    <a:p>
                      <a:r>
                        <a:rPr sz="1200" b="1">
                          <a:solidFill>
                            <a:srgbClr val="FFA0C8"/>
                          </a:solidFill>
                          <a:latin typeface="Calibri"/>
                        </a:rPr>
                        <a:t>Path</a:t>
                      </a:r>
                    </a:p>
                  </a:txBody>
                  <a:tcPr>
                    <a:solidFill>
                      <a:srgbClr val="401530"/>
                    </a:solidFill>
                  </a:tcPr>
                </a:tc>
                <a:tc>
                  <a:txBody>
                    <a:bodyPr wrap="square"/>
                    <a:lstStyle/>
                    <a:p>
                      <a:r>
                        <a:rPr sz="1200" b="1">
                          <a:solidFill>
                            <a:srgbClr val="FFA0C8"/>
                          </a:solidFill>
                          <a:latin typeface="Calibri"/>
                        </a:rPr>
                        <a:t>Worst-case excess vs no-prefilter</a:t>
                      </a:r>
                    </a:p>
                  </a:txBody>
                  <a:tcPr>
                    <a:solidFill>
                      <a:srgbClr val="401530"/>
                    </a:solidFill>
                  </a:tcPr>
                </a:tc>
              </a:tr>
              <a:tr h="483333">
                <a:tc>
                  <a:txBody>
                    <a:bodyPr wrap="square"/>
                    <a:lstStyle/>
                    <a:p>
                      <a:r>
                        <a:rPr sz="1100" b="1">
                          <a:solidFill>
                            <a:srgbClr val="FCB13E"/>
                          </a:solidFill>
                          <a:latin typeface="Calibri"/>
                        </a:rPr>
                        <a:t>forecast &gt; m</a:t>
                      </a:r>
                    </a:p>
                  </a:txBody>
                  <a:tcPr>
                    <a:solidFill>
                      <a:srgbClr val="15152A"/>
                    </a:solidFill>
                  </a:tcPr>
                </a:tc>
                <a:tc>
                  <a:txBody>
                    <a:bodyPr wrap="square"/>
                    <a:lstStyle/>
                    <a:p>
                      <a:r>
                        <a:rPr sz="1100" b="0">
                          <a:solidFill>
                            <a:srgbClr val="E0E0E0"/>
                          </a:solidFill>
                          <a:latin typeface="Calibri"/>
                        </a:rPr>
                        <a:t>BUILD_EAGER</a:t>
                      </a:r>
                    </a:p>
                  </a:txBody>
                  <a:tcPr>
                    <a:solidFill>
                      <a:srgbClr val="15152A"/>
                    </a:solidFill>
                  </a:tcPr>
                </a:tc>
                <a:tc>
                  <a:txBody>
                    <a:bodyPr wrap="square"/>
                    <a:lstStyle/>
                    <a:p>
                      <a:r>
                        <a:rPr sz="1100" b="0">
                          <a:solidFill>
                            <a:srgbClr val="E0E0E0"/>
                          </a:solidFill>
                          <a:latin typeface="Calibri"/>
                        </a:rPr>
                        <a:t>≤ B   (forecast over-estimates, but loss is bounded)</a:t>
                      </a:r>
                    </a:p>
                  </a:txBody>
                  <a:tcPr>
                    <a:solidFill>
                      <a:srgbClr val="15152A"/>
                    </a:solidFill>
                  </a:tcPr>
                </a:tc>
              </a:tr>
              <a:tr h="483333">
                <a:tc>
                  <a:txBody>
                    <a:bodyPr wrap="square"/>
                    <a:lstStyle/>
                    <a:p>
                      <a:r>
                        <a:rPr sz="1100" b="1">
                          <a:solidFill>
                            <a:srgbClr val="FCB13E"/>
                          </a:solidFill>
                          <a:latin typeface="Calibri"/>
                        </a:rPr>
                        <a:t>forecast ≤ m or absent, actual n &lt; T</a:t>
                      </a:r>
                    </a:p>
                  </a:txBody>
                  <a:tcPr>
                    <a:solidFill>
                      <a:srgbClr val="15152A"/>
                    </a:solidFill>
                  </a:tcPr>
                </a:tc>
                <a:tc>
                  <a:txBody>
                    <a:bodyPr wrap="square"/>
                    <a:lstStyle/>
                    <a:p>
                      <a:r>
                        <a:rPr sz="1100" b="0">
                          <a:solidFill>
                            <a:srgbClr val="E0E0E0"/>
                          </a:solidFill>
                          <a:latin typeface="Calibri"/>
                        </a:rPr>
                        <a:t>DEFERRED_WITH_NET</a:t>
                      </a:r>
                    </a:p>
                  </a:txBody>
                  <a:tcPr>
                    <a:solidFill>
                      <a:srgbClr val="15152A"/>
                    </a:solidFill>
                  </a:tcPr>
                </a:tc>
                <a:tc>
                  <a:txBody>
                    <a:bodyPr wrap="square"/>
                    <a:lstStyle/>
                    <a:p>
                      <a:r>
                        <a:rPr sz="1100" b="0">
                          <a:solidFill>
                            <a:srgbClr val="E0E0E0"/>
                          </a:solidFill>
                          <a:latin typeface="Calibri"/>
                        </a:rPr>
                        <a:t>0   (safety net dormant — the common case)</a:t>
                      </a:r>
                    </a:p>
                  </a:txBody>
                  <a:tcPr>
                    <a:solidFill>
                      <a:srgbClr val="15152A"/>
                    </a:solidFill>
                  </a:tcPr>
                </a:tc>
              </a:tr>
              <a:tr h="483333">
                <a:tc>
                  <a:txBody>
                    <a:bodyPr wrap="square"/>
                    <a:lstStyle/>
                    <a:p>
                      <a:r>
                        <a:rPr sz="1100" b="1">
                          <a:solidFill>
                            <a:srgbClr val="FCB13E"/>
                          </a:solidFill>
                          <a:latin typeface="Calibri"/>
                        </a:rPr>
                        <a:t>forecast ≤ m or absent, n ∈ [T, T + m)</a:t>
                      </a:r>
                    </a:p>
                  </a:txBody>
                  <a:tcPr>
                    <a:solidFill>
                      <a:srgbClr val="15152A"/>
                    </a:solidFill>
                  </a:tcPr>
                </a:tc>
                <a:tc>
                  <a:txBody>
                    <a:bodyPr wrap="square"/>
                    <a:lstStyle/>
                    <a:p>
                      <a:r>
                        <a:rPr sz="1100" b="0">
                          <a:solidFill>
                            <a:srgbClr val="E0E0E0"/>
                          </a:solidFill>
                          <a:latin typeface="Calibri"/>
                        </a:rPr>
                        <a:t>DEFERRED_WITH_NET</a:t>
                      </a:r>
                    </a:p>
                  </a:txBody>
                  <a:tcPr>
                    <a:solidFill>
                      <a:srgbClr val="15152A"/>
                    </a:solidFill>
                  </a:tcPr>
                </a:tc>
                <a:tc>
                  <a:txBody>
                    <a:bodyPr wrap="square"/>
                    <a:lstStyle/>
                    <a:p>
                      <a:r>
                        <a:rPr sz="1100" b="0">
                          <a:solidFill>
                            <a:srgbClr val="E0E0E0"/>
                          </a:solidFill>
                          <a:latin typeface="Calibri"/>
                        </a:rPr>
                        <a:t>≤ B   (residual danger zone, same bound as BUILD_EAGER)</a:t>
                      </a:r>
                    </a:p>
                  </a:txBody>
                  <a:tcPr>
                    <a:solidFill>
                      <a:srgbClr val="15152A"/>
                    </a:solidFill>
                  </a:tcPr>
                </a:tc>
              </a:tr>
              <a:tr h="483333">
                <a:tc>
                  <a:txBody>
                    <a:bodyPr wrap="square"/>
                    <a:lstStyle/>
                    <a:p>
                      <a:r>
                        <a:rPr sz="1100" b="1">
                          <a:solidFill>
                            <a:srgbClr val="FCB13E"/>
                          </a:solidFill>
                          <a:latin typeface="Calibri"/>
                        </a:rPr>
                        <a:t>forecast ≤ m or absent, n ≫ T + m</a:t>
                      </a:r>
                    </a:p>
                  </a:txBody>
                  <a:tcPr>
                    <a:solidFill>
                      <a:srgbClr val="15152A"/>
                    </a:solidFill>
                  </a:tcPr>
                </a:tc>
                <a:tc>
                  <a:txBody>
                    <a:bodyPr wrap="square"/>
                    <a:lstStyle/>
                    <a:p>
                      <a:r>
                        <a:rPr sz="1100" b="0">
                          <a:solidFill>
                            <a:srgbClr val="E0E0E0"/>
                          </a:solidFill>
                          <a:latin typeface="Calibri"/>
                        </a:rPr>
                        <a:t>DEFERRED_WITH_NET</a:t>
                      </a:r>
                    </a:p>
                  </a:txBody>
                  <a:tcPr>
                    <a:solidFill>
                      <a:srgbClr val="15152A"/>
                    </a:solidFill>
                  </a:tcPr>
                </a:tc>
                <a:tc>
                  <a:txBody>
                    <a:bodyPr wrap="square"/>
                    <a:lstStyle/>
                    <a:p>
                      <a:r>
                        <a:rPr sz="1100" b="0">
                          <a:solidFill>
                            <a:srgbClr val="E0E0E0"/>
                          </a:solidFill>
                          <a:latin typeface="Calibri"/>
                        </a:rPr>
                        <a:t>wins  (savings dominate build)</a:t>
                      </a:r>
                    </a:p>
                  </a:txBody>
                  <a:tcPr>
                    <a:solidFill>
                      <a:srgbClr val="15152A"/>
                    </a:solidFill>
                  </a:tcPr>
                </a:tc>
              </a:tr>
              <a:tr h="483333">
                <a:tc>
                  <a:txBody>
                    <a:bodyPr wrap="square"/>
                    <a:lstStyle/>
                    <a:p>
                      <a:r>
                        <a:rPr sz="1100" b="1">
                          <a:solidFill>
                            <a:srgbClr val="FCB13E"/>
                          </a:solidFill>
                          <a:latin typeface="Calibri"/>
                        </a:rPr>
                        <a:t>(pure SKIP, no safety net — NOT what we ship)</a:t>
                      </a:r>
                    </a:p>
                  </a:txBody>
                  <a:tcPr>
                    <a:solidFill>
                      <a:srgbClr val="15152A"/>
                    </a:solidFill>
                  </a:tcPr>
                </a:tc>
                <a:tc>
                  <a:txBody>
                    <a:bodyPr wrap="square"/>
                    <a:lstStyle/>
                    <a:p>
                      <a:r>
                        <a:rPr sz="1100" b="0">
                          <a:solidFill>
                            <a:srgbClr val="E0E0E0"/>
                          </a:solidFill>
                          <a:latin typeface="Calibri"/>
                        </a:rPr>
                        <a:t>—</a:t>
                      </a:r>
                    </a:p>
                  </a:txBody>
                  <a:tcPr>
                    <a:solidFill>
                      <a:srgbClr val="15152A"/>
                    </a:solidFill>
                  </a:tcPr>
                </a:tc>
                <a:tc>
                  <a:txBody>
                    <a:bodyPr wrap="square"/>
                    <a:lstStyle/>
                    <a:p>
                      <a:r>
                        <a:rPr sz="1100" b="0">
                          <a:solidFill>
                            <a:srgbClr val="E0E0E0"/>
                          </a:solidFill>
                          <a:latin typeface="Calibri"/>
                        </a:rPr>
                        <a:t>UNBOUNDED  (scales with actual n if forecast under-estimates)</a:t>
                      </a:r>
                    </a:p>
                  </a:txBody>
                  <a:tcPr>
                    <a:solidFill>
                      <a:srgbClr val="15152A"/>
                    </a:solidFill>
                  </a:tcPr>
                </a:tc>
              </a:tr>
            </a:tbl>
          </a:graphicData>
        </a:graphic>
      </p:graphicFrame>
      <p:sp>
        <p:nvSpPr>
          <p:cNvPr id="5" name="TextBox 4"/>
          <p:cNvSpPr txBox="1"/>
          <p:nvPr/>
        </p:nvSpPr>
        <p:spPr>
          <a:xfrm>
            <a:off x="548640" y="4400000"/>
            <a:ext cx="11094720" cy="2400000"/>
          </a:xfrm>
          <a:prstGeom prst="rect">
            <a:avLst/>
          </a:prstGeom>
          <a:noFill/>
        </p:spPr>
        <p:txBody>
          <a:bodyPr wrap="square">
            <a:spAutoFit/>
          </a:bodyPr>
          <a:lstStyle/>
          <a:p>
            <a:r>
              <a:rPr sz="1900" b="1">
                <a:solidFill>
                  <a:srgbClr val="FCB13E"/>
                </a:solidFill>
                <a:latin typeface="Calibri"/>
              </a:rPr>
              <a:t>Two design properties</a:t>
            </a:r>
          </a:p>
          <a:p>
            <a:r>
              <a:rPr sz="1600" b="0">
                <a:solidFill>
                  <a:srgbClr val="E0E0E0"/>
                </a:solidFill>
                <a:latin typeface="Calibri"/>
              </a:rPr>
              <a:t>• BUILD_EAGER's mis-fire is capped at B regardless of how wrong the forecast is</a:t>
            </a:r>
          </a:p>
          <a:p>
            <a:r>
              <a:rPr sz="1600" b="0">
                <a:solidFill>
                  <a:srgbClr val="E0E0E0"/>
                </a:solidFill>
                <a:latin typeface="Calibri"/>
              </a:rPr>
              <a:t>• DEFERRED_WITH_NET's safety net catches under-forecasts before they grow unbounded</a:t>
            </a:r>
          </a:p>
          <a:p>
            <a:r>
              <a:rPr sz="1600" b="0">
                <a:solidFill>
                  <a:srgbClr val="E0E0E0"/>
                </a:solidFill>
                <a:latin typeface="Calibri"/>
              </a:rPr>
              <a:t>• Pure SKIP (the alternative we rejected) would let actual n run to completion at full L per neighbor — no cap</a:t>
            </a:r>
          </a:p>
          <a:p>
            <a:r>
              <a:rPr sz="600" b="0">
                <a:solidFill>
                  <a:srgbClr val="E0E0E0"/>
                </a:solidFill>
                <a:latin typeface="Calibri"/>
              </a:rPr>
              <a:t/>
            </a:r>
          </a:p>
          <a:p>
            <a:r>
              <a:rPr sz="1900" b="1">
                <a:solidFill>
                  <a:srgbClr val="FCB13E"/>
                </a:solidFill>
                <a:latin typeface="Calibri"/>
              </a:rPr>
              <a:t>Operational consequence</a:t>
            </a:r>
          </a:p>
          <a:p>
            <a:r>
              <a:rPr sz="1600" b="0">
                <a:solidFill>
                  <a:srgbClr val="E0E0E0"/>
                </a:solidFill>
                <a:latin typeface="Calibri"/>
              </a:rPr>
              <a:t>• Aggregate benchmark wins are real, but the load-bearing property is the </a:t>
            </a:r>
            <a:r>
              <a:rPr sz="1600" b="1">
                <a:solidFill>
                  <a:srgbClr val="FCB13E"/>
                </a:solidFill>
                <a:latin typeface="Calibri"/>
              </a:rPr>
              <a:t>per-query latency cap</a:t>
            </a:r>
          </a:p>
          <a:p>
            <a:r>
              <a:rPr sz="1600" b="0">
                <a:solidFill>
                  <a:srgbClr val="E0E0E0"/>
                </a:solidFill>
                <a:latin typeface="Calibri"/>
              </a:rPr>
              <a:t>• Without bounded loss, we couldn't promise consistent SLA on heterogeneous query mixes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Three modes in time — when does the build actually fire?</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Stream of source vertices entering the edge — three different build triggers</a:t>
            </a:r>
          </a:p>
        </p:txBody>
      </p:sp>
      <p:sp>
        <p:nvSpPr>
          <p:cNvPr id="4" name="Rounded Rectangle 3"/>
          <p:cNvSpPr/>
          <p:nvPr/>
        </p:nvSpPr>
        <p:spPr>
          <a:xfrm>
            <a:off x="548640" y="1500000"/>
            <a:ext cx="2400000" cy="1200000"/>
          </a:xfrm>
          <a:prstGeom prst="roundRect">
            <a:avLst/>
          </a:prstGeom>
          <a:solidFill>
            <a:srgbClr val="354266"/>
          </a:solidFill>
          <a:ln w="19050">
            <a:solidFill>
              <a:srgbClr val="9CCC65"/>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300" b="1">
                <a:solidFill>
                  <a:srgbClr val="9CCC65"/>
                </a:solidFill>
                <a:latin typeface="Calibri"/>
              </a:rPr>
              <a:t>BUILD_EAGER</a:t>
            </a:r>
          </a:p>
          <a:p>
            <a:pPr algn="ctr"/>
            <a:r>
              <a:rPr sz="1300" b="1">
                <a:solidFill>
                  <a:srgbClr val="9CCC65"/>
                </a:solidFill>
                <a:latin typeface="Calibri"/>
              </a:rPr>
              <a:t/>
            </a:r>
          </a:p>
          <a:p>
            <a:pPr algn="ctr"/>
            <a:r>
              <a:rPr sz="1300" b="1">
                <a:solidFill>
                  <a:srgbClr val="9CCC65"/>
                </a:solidFill>
                <a:latin typeface="Calibri"/>
              </a:rPr>
              <a:t>build on first qualifying</a:t>
            </a:r>
          </a:p>
          <a:p>
            <a:pPr algn="ctr"/>
            <a:r>
              <a:rPr sz="1300" b="1">
                <a:solidFill>
                  <a:srgbClr val="9CCC65"/>
                </a:solidFill>
                <a:latin typeface="Calibri"/>
              </a:rPr>
              <a:t>vertex</a:t>
            </a:r>
          </a:p>
        </p:txBody>
      </p:sp>
      <p:sp>
        <p:nvSpPr>
          <p:cNvPr id="5" name="Rectangle 4"/>
          <p:cNvSpPr/>
          <p:nvPr/>
        </p:nvSpPr>
        <p:spPr>
          <a:xfrm>
            <a:off x="3050000" y="1900000"/>
            <a:ext cx="380000" cy="380000"/>
          </a:xfrm>
          <a:prstGeom prst="rect">
            <a:avLst/>
          </a:prstGeom>
          <a:solidFill>
            <a:srgbClr val="9CCC65"/>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1">
                <a:solidFill>
                  <a:srgbClr val="1B1B2F"/>
                </a:solidFill>
                <a:latin typeface="Calibri"/>
              </a:rPr>
              <a:t>v1</a:t>
            </a:r>
          </a:p>
        </p:txBody>
      </p:sp>
      <p:sp>
        <p:nvSpPr>
          <p:cNvPr id="6" name="Rectangle 5"/>
          <p:cNvSpPr/>
          <p:nvPr/>
        </p:nvSpPr>
        <p:spPr>
          <a:xfrm>
            <a:off x="349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v2</a:t>
            </a:r>
          </a:p>
        </p:txBody>
      </p:sp>
      <p:sp>
        <p:nvSpPr>
          <p:cNvPr id="7" name="Rectangle 6"/>
          <p:cNvSpPr/>
          <p:nvPr/>
        </p:nvSpPr>
        <p:spPr>
          <a:xfrm>
            <a:off x="393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v3</a:t>
            </a:r>
          </a:p>
        </p:txBody>
      </p:sp>
      <p:sp>
        <p:nvSpPr>
          <p:cNvPr id="8" name="Rectangle 7"/>
          <p:cNvSpPr/>
          <p:nvPr/>
        </p:nvSpPr>
        <p:spPr>
          <a:xfrm>
            <a:off x="437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a:t>
            </a:r>
          </a:p>
        </p:txBody>
      </p:sp>
      <p:sp>
        <p:nvSpPr>
          <p:cNvPr id="9" name="Rectangle 8"/>
          <p:cNvSpPr/>
          <p:nvPr/>
        </p:nvSpPr>
        <p:spPr>
          <a:xfrm>
            <a:off x="481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a:t>
            </a:r>
          </a:p>
        </p:txBody>
      </p:sp>
      <p:sp>
        <p:nvSpPr>
          <p:cNvPr id="10" name="Rectangle 9"/>
          <p:cNvSpPr/>
          <p:nvPr/>
        </p:nvSpPr>
        <p:spPr>
          <a:xfrm>
            <a:off x="525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a:t>
            </a:r>
          </a:p>
        </p:txBody>
      </p:sp>
      <p:sp>
        <p:nvSpPr>
          <p:cNvPr id="11" name="Rectangle 10"/>
          <p:cNvSpPr/>
          <p:nvPr/>
        </p:nvSpPr>
        <p:spPr>
          <a:xfrm>
            <a:off x="569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a:t>
            </a:r>
          </a:p>
        </p:txBody>
      </p:sp>
      <p:sp>
        <p:nvSpPr>
          <p:cNvPr id="12" name="Rectangle 11"/>
          <p:cNvSpPr/>
          <p:nvPr/>
        </p:nvSpPr>
        <p:spPr>
          <a:xfrm>
            <a:off x="613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a:t>
            </a:r>
          </a:p>
        </p:txBody>
      </p:sp>
      <p:sp>
        <p:nvSpPr>
          <p:cNvPr id="13" name="Rectangle 12"/>
          <p:cNvSpPr/>
          <p:nvPr/>
        </p:nvSpPr>
        <p:spPr>
          <a:xfrm>
            <a:off x="657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a:t>
            </a:r>
          </a:p>
        </p:txBody>
      </p:sp>
      <p:sp>
        <p:nvSpPr>
          <p:cNvPr id="14" name="Rectangle 13"/>
          <p:cNvSpPr/>
          <p:nvPr/>
        </p:nvSpPr>
        <p:spPr>
          <a:xfrm>
            <a:off x="701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a:t>
            </a:r>
          </a:p>
        </p:txBody>
      </p:sp>
      <p:sp>
        <p:nvSpPr>
          <p:cNvPr id="15" name="Rectangle 14"/>
          <p:cNvSpPr/>
          <p:nvPr/>
        </p:nvSpPr>
        <p:spPr>
          <a:xfrm>
            <a:off x="745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a:t>
            </a:r>
          </a:p>
        </p:txBody>
      </p:sp>
      <p:sp>
        <p:nvSpPr>
          <p:cNvPr id="16" name="Rectangle 15"/>
          <p:cNvSpPr/>
          <p:nvPr/>
        </p:nvSpPr>
        <p:spPr>
          <a:xfrm>
            <a:off x="789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a:t>
            </a:r>
          </a:p>
        </p:txBody>
      </p:sp>
      <p:sp>
        <p:nvSpPr>
          <p:cNvPr id="17" name="Rectangle 16"/>
          <p:cNvSpPr/>
          <p:nvPr/>
        </p:nvSpPr>
        <p:spPr>
          <a:xfrm>
            <a:off x="833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a:t>
            </a:r>
          </a:p>
        </p:txBody>
      </p:sp>
      <p:sp>
        <p:nvSpPr>
          <p:cNvPr id="18" name="Rectangle 17"/>
          <p:cNvSpPr/>
          <p:nvPr/>
        </p:nvSpPr>
        <p:spPr>
          <a:xfrm>
            <a:off x="877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a:t>
            </a:r>
          </a:p>
        </p:txBody>
      </p:sp>
      <p:sp>
        <p:nvSpPr>
          <p:cNvPr id="19" name="Rectangle 18"/>
          <p:cNvSpPr/>
          <p:nvPr/>
        </p:nvSpPr>
        <p:spPr>
          <a:xfrm>
            <a:off x="921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a:t>
            </a:r>
          </a:p>
        </p:txBody>
      </p:sp>
      <p:sp>
        <p:nvSpPr>
          <p:cNvPr id="20" name="Rectangle 19"/>
          <p:cNvSpPr/>
          <p:nvPr/>
        </p:nvSpPr>
        <p:spPr>
          <a:xfrm>
            <a:off x="965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a:t>
            </a:r>
          </a:p>
        </p:txBody>
      </p:sp>
      <p:sp>
        <p:nvSpPr>
          <p:cNvPr id="21" name="Rectangle 20"/>
          <p:cNvSpPr/>
          <p:nvPr/>
        </p:nvSpPr>
        <p:spPr>
          <a:xfrm>
            <a:off x="1009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a:t>
            </a:r>
          </a:p>
        </p:txBody>
      </p:sp>
      <p:sp>
        <p:nvSpPr>
          <p:cNvPr id="22" name="Rectangle 21"/>
          <p:cNvSpPr/>
          <p:nvPr/>
        </p:nvSpPr>
        <p:spPr>
          <a:xfrm>
            <a:off x="10530000" y="1900000"/>
            <a:ext cx="380000" cy="380000"/>
          </a:xfrm>
          <a:prstGeom prst="rect">
            <a:avLst/>
          </a:prstGeom>
          <a:solidFill>
            <a:srgbClr val="252B4A"/>
          </a:solidFill>
          <a:ln w="6350">
            <a:solidFill>
              <a:srgbClr val="90A4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0E0E0"/>
                </a:solidFill>
                <a:latin typeface="Calibri"/>
              </a:rPr>
              <a:t>·</a:t>
            </a:r>
          </a:p>
        </p:txBody>
      </p:sp>
      <p:sp>
        <p:nvSpPr>
          <p:cNvPr id="23" name="TextBox 22"/>
          <p:cNvSpPr txBox="1"/>
          <p:nvPr/>
        </p:nvSpPr>
        <p:spPr>
          <a:xfrm>
            <a:off x="3050000" y="1580000"/>
            <a:ext cx="2500000" cy="280000"/>
          </a:xfrm>
          <a:prstGeom prst="rect">
            <a:avLst/>
          </a:prstGeom>
          <a:noFill/>
        </p:spPr>
        <p:txBody>
          <a:bodyPr wrap="square">
            <a:spAutoFit/>
          </a:bodyPr>
          <a:lstStyle/>
          <a:p>
            <a:pPr algn="l"/>
            <a:r>
              <a:rPr sz="1300" b="1" i="0">
                <a:solidFill>
                  <a:srgbClr val="9CCC65"/>
                </a:solidFill>
                <a:latin typeface="Calibri"/>
              </a:rPr>
              <a:t>▲ BUILD here (14k I/O) — then filter v1..v200</a:t>
            </a:r>
          </a:p>
        </p:txBody>
      </p:sp>
      <p:sp>
        <p:nvSpPr>
          <p:cNvPr id="24" name="Rounded Rectangle 23"/>
          <p:cNvSpPr/>
          <p:nvPr/>
        </p:nvSpPr>
        <p:spPr>
          <a:xfrm>
            <a:off x="548640" y="3300000"/>
            <a:ext cx="2400000" cy="1200000"/>
          </a:xfrm>
          <a:prstGeom prst="roundRect">
            <a:avLst/>
          </a:prstGeom>
          <a:solidFill>
            <a:srgbClr val="354266"/>
          </a:solidFill>
          <a:ln w="19050">
            <a:solidFill>
              <a:srgbClr val="FCB13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300" b="1">
                <a:solidFill>
                  <a:srgbClr val="FCB13E"/>
                </a:solidFill>
                <a:latin typeface="Calibri"/>
              </a:rPr>
              <a:t>DEFERRED_WITH_NET</a:t>
            </a:r>
          </a:p>
          <a:p>
            <a:pPr algn="ctr"/>
            <a:r>
              <a:rPr sz="1300" b="1">
                <a:solidFill>
                  <a:srgbClr val="FCB13E"/>
                </a:solidFill>
                <a:latin typeface="Calibri"/>
              </a:rPr>
              <a:t/>
            </a:r>
          </a:p>
          <a:p>
            <a:pPr algn="ctr"/>
            <a:r>
              <a:rPr sz="1300" b="1">
                <a:solidFill>
                  <a:srgbClr val="FCB13E"/>
                </a:solidFill>
                <a:latin typeface="Calibri"/>
              </a:rPr>
              <a:t>accumulate, build when</a:t>
            </a:r>
          </a:p>
          <a:p>
            <a:pPr algn="ctr"/>
            <a:r>
              <a:rPr sz="1300" b="1">
                <a:solidFill>
                  <a:srgbClr val="FCB13E"/>
                </a:solidFill>
                <a:latin typeface="Calibri"/>
              </a:rPr>
              <a:t>total ≥ T = max(2·F, m)</a:t>
            </a:r>
          </a:p>
        </p:txBody>
      </p:sp>
      <p:sp>
        <p:nvSpPr>
          <p:cNvPr id="25" name="Rectangle 24"/>
          <p:cNvSpPr/>
          <p:nvPr/>
        </p:nvSpPr>
        <p:spPr>
          <a:xfrm>
            <a:off x="3050000" y="37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v1</a:t>
            </a:r>
          </a:p>
        </p:txBody>
      </p:sp>
      <p:sp>
        <p:nvSpPr>
          <p:cNvPr id="26" name="Rectangle 25"/>
          <p:cNvSpPr/>
          <p:nvPr/>
        </p:nvSpPr>
        <p:spPr>
          <a:xfrm>
            <a:off x="3490000" y="37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v2</a:t>
            </a:r>
          </a:p>
        </p:txBody>
      </p:sp>
      <p:sp>
        <p:nvSpPr>
          <p:cNvPr id="27" name="Rectangle 26"/>
          <p:cNvSpPr/>
          <p:nvPr/>
        </p:nvSpPr>
        <p:spPr>
          <a:xfrm>
            <a:off x="3930000" y="37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v3</a:t>
            </a:r>
          </a:p>
        </p:txBody>
      </p:sp>
      <p:sp>
        <p:nvSpPr>
          <p:cNvPr id="28" name="Rectangle 27"/>
          <p:cNvSpPr/>
          <p:nvPr/>
        </p:nvSpPr>
        <p:spPr>
          <a:xfrm>
            <a:off x="4370000" y="37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29" name="Rectangle 28"/>
          <p:cNvSpPr/>
          <p:nvPr/>
        </p:nvSpPr>
        <p:spPr>
          <a:xfrm>
            <a:off x="4810000" y="37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30" name="Rectangle 29"/>
          <p:cNvSpPr/>
          <p:nvPr/>
        </p:nvSpPr>
        <p:spPr>
          <a:xfrm>
            <a:off x="5250000" y="37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31" name="Rectangle 30"/>
          <p:cNvSpPr/>
          <p:nvPr/>
        </p:nvSpPr>
        <p:spPr>
          <a:xfrm>
            <a:off x="5690000" y="37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32" name="Rectangle 31"/>
          <p:cNvSpPr/>
          <p:nvPr/>
        </p:nvSpPr>
        <p:spPr>
          <a:xfrm>
            <a:off x="6130000" y="37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33" name="Rectangle 32"/>
          <p:cNvSpPr/>
          <p:nvPr/>
        </p:nvSpPr>
        <p:spPr>
          <a:xfrm>
            <a:off x="6570000" y="37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34" name="Rectangle 33"/>
          <p:cNvSpPr/>
          <p:nvPr/>
        </p:nvSpPr>
        <p:spPr>
          <a:xfrm>
            <a:off x="7010000" y="37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35" name="Rectangle 34"/>
          <p:cNvSpPr/>
          <p:nvPr/>
        </p:nvSpPr>
        <p:spPr>
          <a:xfrm>
            <a:off x="7450000" y="37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36" name="Rectangle 35"/>
          <p:cNvSpPr/>
          <p:nvPr/>
        </p:nvSpPr>
        <p:spPr>
          <a:xfrm>
            <a:off x="7890000" y="3700000"/>
            <a:ext cx="380000" cy="380000"/>
          </a:xfrm>
          <a:prstGeom prst="rect">
            <a:avLst/>
          </a:prstGeom>
          <a:solidFill>
            <a:srgbClr val="FCB13E"/>
          </a:solidFill>
          <a:ln w="6350">
            <a:solidFill>
              <a:srgbClr val="FCB13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400" b="1">
                <a:solidFill>
                  <a:srgbClr val="1B1B2F"/>
                </a:solidFill>
                <a:latin typeface="Calibri"/>
              </a:rPr>
              <a:t>◆</a:t>
            </a:r>
          </a:p>
        </p:txBody>
      </p:sp>
      <p:sp>
        <p:nvSpPr>
          <p:cNvPr id="37" name="Rectangle 36"/>
          <p:cNvSpPr/>
          <p:nvPr/>
        </p:nvSpPr>
        <p:spPr>
          <a:xfrm>
            <a:off x="8330000" y="3700000"/>
            <a:ext cx="380000" cy="380000"/>
          </a:xfrm>
          <a:prstGeom prst="rect">
            <a:avLst/>
          </a:prstGeom>
          <a:solidFill>
            <a:srgbClr val="252B4A"/>
          </a:solidFill>
          <a:ln w="6350">
            <a:solidFill>
              <a:srgbClr val="9CCC65"/>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9CCC65"/>
                </a:solidFill>
                <a:latin typeface="Calibri"/>
              </a:rPr>
              <a:t>v13</a:t>
            </a:r>
          </a:p>
        </p:txBody>
      </p:sp>
      <p:sp>
        <p:nvSpPr>
          <p:cNvPr id="38" name="Rectangle 37"/>
          <p:cNvSpPr/>
          <p:nvPr/>
        </p:nvSpPr>
        <p:spPr>
          <a:xfrm>
            <a:off x="8770000" y="3700000"/>
            <a:ext cx="380000" cy="380000"/>
          </a:xfrm>
          <a:prstGeom prst="rect">
            <a:avLst/>
          </a:prstGeom>
          <a:solidFill>
            <a:srgbClr val="252B4A"/>
          </a:solidFill>
          <a:ln w="6350">
            <a:solidFill>
              <a:srgbClr val="9CCC65"/>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9CCC65"/>
                </a:solidFill>
                <a:latin typeface="Calibri"/>
              </a:rPr>
              <a:t>·</a:t>
            </a:r>
          </a:p>
        </p:txBody>
      </p:sp>
      <p:sp>
        <p:nvSpPr>
          <p:cNvPr id="39" name="Rectangle 38"/>
          <p:cNvSpPr/>
          <p:nvPr/>
        </p:nvSpPr>
        <p:spPr>
          <a:xfrm>
            <a:off x="9210000" y="3700000"/>
            <a:ext cx="380000" cy="380000"/>
          </a:xfrm>
          <a:prstGeom prst="rect">
            <a:avLst/>
          </a:prstGeom>
          <a:solidFill>
            <a:srgbClr val="252B4A"/>
          </a:solidFill>
          <a:ln w="6350">
            <a:solidFill>
              <a:srgbClr val="9CCC65"/>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9CCC65"/>
                </a:solidFill>
                <a:latin typeface="Calibri"/>
              </a:rPr>
              <a:t>·</a:t>
            </a:r>
          </a:p>
        </p:txBody>
      </p:sp>
      <p:sp>
        <p:nvSpPr>
          <p:cNvPr id="40" name="Rectangle 39"/>
          <p:cNvSpPr/>
          <p:nvPr/>
        </p:nvSpPr>
        <p:spPr>
          <a:xfrm>
            <a:off x="9650000" y="3700000"/>
            <a:ext cx="380000" cy="380000"/>
          </a:xfrm>
          <a:prstGeom prst="rect">
            <a:avLst/>
          </a:prstGeom>
          <a:solidFill>
            <a:srgbClr val="252B4A"/>
          </a:solidFill>
          <a:ln w="6350">
            <a:solidFill>
              <a:srgbClr val="9CCC65"/>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9CCC65"/>
                </a:solidFill>
                <a:latin typeface="Calibri"/>
              </a:rPr>
              <a:t>·</a:t>
            </a:r>
          </a:p>
        </p:txBody>
      </p:sp>
      <p:sp>
        <p:nvSpPr>
          <p:cNvPr id="41" name="Rectangle 40"/>
          <p:cNvSpPr/>
          <p:nvPr/>
        </p:nvSpPr>
        <p:spPr>
          <a:xfrm>
            <a:off x="10090000" y="3700000"/>
            <a:ext cx="380000" cy="380000"/>
          </a:xfrm>
          <a:prstGeom prst="rect">
            <a:avLst/>
          </a:prstGeom>
          <a:solidFill>
            <a:srgbClr val="252B4A"/>
          </a:solidFill>
          <a:ln w="6350">
            <a:solidFill>
              <a:srgbClr val="9CCC65"/>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9CCC65"/>
                </a:solidFill>
                <a:latin typeface="Calibri"/>
              </a:rPr>
              <a:t>·</a:t>
            </a:r>
          </a:p>
        </p:txBody>
      </p:sp>
      <p:sp>
        <p:nvSpPr>
          <p:cNvPr id="42" name="Rectangle 41"/>
          <p:cNvSpPr/>
          <p:nvPr/>
        </p:nvSpPr>
        <p:spPr>
          <a:xfrm>
            <a:off x="10530000" y="3700000"/>
            <a:ext cx="380000" cy="380000"/>
          </a:xfrm>
          <a:prstGeom prst="rect">
            <a:avLst/>
          </a:prstGeom>
          <a:solidFill>
            <a:srgbClr val="252B4A"/>
          </a:solidFill>
          <a:ln w="6350">
            <a:solidFill>
              <a:srgbClr val="9CCC65"/>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9CCC65"/>
                </a:solidFill>
                <a:latin typeface="Calibri"/>
              </a:rPr>
              <a:t>·</a:t>
            </a:r>
          </a:p>
        </p:txBody>
      </p:sp>
      <p:sp>
        <p:nvSpPr>
          <p:cNvPr id="43" name="TextBox 42"/>
          <p:cNvSpPr txBox="1"/>
          <p:nvPr/>
        </p:nvSpPr>
        <p:spPr>
          <a:xfrm>
            <a:off x="3050000" y="3380000"/>
            <a:ext cx="4400000" cy="280000"/>
          </a:xfrm>
          <a:prstGeom prst="rect">
            <a:avLst/>
          </a:prstGeom>
          <a:noFill/>
        </p:spPr>
        <p:txBody>
          <a:bodyPr wrap="square">
            <a:spAutoFit/>
          </a:bodyPr>
          <a:lstStyle/>
          <a:p>
            <a:pPr algn="l"/>
            <a:r>
              <a:rPr sz="1200" b="0" i="0">
                <a:solidFill>
                  <a:srgbClr val="E57373"/>
                </a:solidFill>
                <a:latin typeface="Calibri"/>
              </a:rPr>
              <a:t>v1..v11 paid full vertex-load cost (no filter yet)</a:t>
            </a:r>
          </a:p>
        </p:txBody>
      </p:sp>
      <p:sp>
        <p:nvSpPr>
          <p:cNvPr id="44" name="TextBox 43"/>
          <p:cNvSpPr txBox="1"/>
          <p:nvPr/>
        </p:nvSpPr>
        <p:spPr>
          <a:xfrm>
            <a:off x="7190000" y="4230000"/>
            <a:ext cx="3500000" cy="280000"/>
          </a:xfrm>
          <a:prstGeom prst="rect">
            <a:avLst/>
          </a:prstGeom>
          <a:noFill/>
        </p:spPr>
        <p:txBody>
          <a:bodyPr wrap="square">
            <a:spAutoFit/>
          </a:bodyPr>
          <a:lstStyle/>
          <a:p>
            <a:pPr algn="l"/>
            <a:r>
              <a:rPr sz="1200" b="1" i="0">
                <a:solidFill>
                  <a:srgbClr val="FCB13E"/>
                </a:solidFill>
                <a:latin typeface="Calibri"/>
              </a:rPr>
              <a:t>▲ accumulator reached T, BUILD now</a:t>
            </a:r>
          </a:p>
        </p:txBody>
      </p:sp>
      <p:sp>
        <p:nvSpPr>
          <p:cNvPr id="45" name="Rounded Rectangle 44"/>
          <p:cNvSpPr/>
          <p:nvPr/>
        </p:nvSpPr>
        <p:spPr>
          <a:xfrm>
            <a:off x="548640" y="5100000"/>
            <a:ext cx="2400000" cy="1200000"/>
          </a:xfrm>
          <a:prstGeom prst="roundRect">
            <a:avLst/>
          </a:prstGeom>
          <a:solidFill>
            <a:srgbClr val="354266"/>
          </a:solidFill>
          <a:ln w="190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300" b="1">
                <a:solidFill>
                  <a:srgbClr val="E57373"/>
                </a:solidFill>
                <a:latin typeface="Calibri"/>
              </a:rPr>
              <a:t>REJECT</a:t>
            </a:r>
          </a:p>
          <a:p>
            <a:pPr algn="ctr"/>
            <a:r>
              <a:rPr sz="1300" b="1">
                <a:solidFill>
                  <a:srgbClr val="E57373"/>
                </a:solidFill>
                <a:latin typeface="Calibri"/>
              </a:rPr>
              <a:t/>
            </a:r>
          </a:p>
          <a:p>
            <a:pPr algn="ctr"/>
            <a:r>
              <a:rPr sz="1300" b="1">
                <a:solidFill>
                  <a:srgbClr val="E57373"/>
                </a:solidFill>
                <a:latin typeface="Calibri"/>
              </a:rPr>
              <a:t>no build, ever</a:t>
            </a:r>
          </a:p>
          <a:p>
            <a:pPr algn="ctr"/>
            <a:r>
              <a:rPr sz="1300" b="1">
                <a:solidFill>
                  <a:srgbClr val="E57373"/>
                </a:solidFill>
                <a:latin typeface="Calibri"/>
              </a:rPr>
              <a:t>(stats unknown or volume too low)</a:t>
            </a:r>
          </a:p>
        </p:txBody>
      </p:sp>
      <p:sp>
        <p:nvSpPr>
          <p:cNvPr id="46" name="Rectangle 45"/>
          <p:cNvSpPr/>
          <p:nvPr/>
        </p:nvSpPr>
        <p:spPr>
          <a:xfrm>
            <a:off x="305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v1</a:t>
            </a:r>
          </a:p>
        </p:txBody>
      </p:sp>
      <p:sp>
        <p:nvSpPr>
          <p:cNvPr id="47" name="Rectangle 46"/>
          <p:cNvSpPr/>
          <p:nvPr/>
        </p:nvSpPr>
        <p:spPr>
          <a:xfrm>
            <a:off x="349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v2</a:t>
            </a:r>
          </a:p>
        </p:txBody>
      </p:sp>
      <p:sp>
        <p:nvSpPr>
          <p:cNvPr id="48" name="Rectangle 47"/>
          <p:cNvSpPr/>
          <p:nvPr/>
        </p:nvSpPr>
        <p:spPr>
          <a:xfrm>
            <a:off x="393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v3</a:t>
            </a:r>
          </a:p>
        </p:txBody>
      </p:sp>
      <p:sp>
        <p:nvSpPr>
          <p:cNvPr id="49" name="Rectangle 48"/>
          <p:cNvSpPr/>
          <p:nvPr/>
        </p:nvSpPr>
        <p:spPr>
          <a:xfrm>
            <a:off x="437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50" name="Rectangle 49"/>
          <p:cNvSpPr/>
          <p:nvPr/>
        </p:nvSpPr>
        <p:spPr>
          <a:xfrm>
            <a:off x="481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51" name="Rectangle 50"/>
          <p:cNvSpPr/>
          <p:nvPr/>
        </p:nvSpPr>
        <p:spPr>
          <a:xfrm>
            <a:off x="525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52" name="Rectangle 51"/>
          <p:cNvSpPr/>
          <p:nvPr/>
        </p:nvSpPr>
        <p:spPr>
          <a:xfrm>
            <a:off x="569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53" name="Rectangle 52"/>
          <p:cNvSpPr/>
          <p:nvPr/>
        </p:nvSpPr>
        <p:spPr>
          <a:xfrm>
            <a:off x="613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54" name="Rectangle 53"/>
          <p:cNvSpPr/>
          <p:nvPr/>
        </p:nvSpPr>
        <p:spPr>
          <a:xfrm>
            <a:off x="657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55" name="Rectangle 54"/>
          <p:cNvSpPr/>
          <p:nvPr/>
        </p:nvSpPr>
        <p:spPr>
          <a:xfrm>
            <a:off x="701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56" name="Rectangle 55"/>
          <p:cNvSpPr/>
          <p:nvPr/>
        </p:nvSpPr>
        <p:spPr>
          <a:xfrm>
            <a:off x="745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57" name="Rectangle 56"/>
          <p:cNvSpPr/>
          <p:nvPr/>
        </p:nvSpPr>
        <p:spPr>
          <a:xfrm>
            <a:off x="789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58" name="Rectangle 57"/>
          <p:cNvSpPr/>
          <p:nvPr/>
        </p:nvSpPr>
        <p:spPr>
          <a:xfrm>
            <a:off x="833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59" name="Rectangle 58"/>
          <p:cNvSpPr/>
          <p:nvPr/>
        </p:nvSpPr>
        <p:spPr>
          <a:xfrm>
            <a:off x="877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60" name="Rectangle 59"/>
          <p:cNvSpPr/>
          <p:nvPr/>
        </p:nvSpPr>
        <p:spPr>
          <a:xfrm>
            <a:off x="921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61" name="Rectangle 60"/>
          <p:cNvSpPr/>
          <p:nvPr/>
        </p:nvSpPr>
        <p:spPr>
          <a:xfrm>
            <a:off x="965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62" name="Rectangle 61"/>
          <p:cNvSpPr/>
          <p:nvPr/>
        </p:nvSpPr>
        <p:spPr>
          <a:xfrm>
            <a:off x="1009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63" name="Rectangle 62"/>
          <p:cNvSpPr/>
          <p:nvPr/>
        </p:nvSpPr>
        <p:spPr>
          <a:xfrm>
            <a:off x="10530000" y="5500000"/>
            <a:ext cx="380000" cy="380000"/>
          </a:xfrm>
          <a:prstGeom prst="rect">
            <a:avLst/>
          </a:prstGeom>
          <a:solidFill>
            <a:srgbClr val="252B4A"/>
          </a:solidFill>
          <a:ln w="635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000" b="0">
                <a:solidFill>
                  <a:srgbClr val="E57373"/>
                </a:solidFill>
                <a:latin typeface="Calibri"/>
              </a:rPr>
              <a:t>·</a:t>
            </a:r>
          </a:p>
        </p:txBody>
      </p:sp>
      <p:sp>
        <p:nvSpPr>
          <p:cNvPr id="64" name="TextBox 63"/>
          <p:cNvSpPr txBox="1"/>
          <p:nvPr/>
        </p:nvSpPr>
        <p:spPr>
          <a:xfrm>
            <a:off x="3050000" y="5180000"/>
            <a:ext cx="4400000" cy="280000"/>
          </a:xfrm>
          <a:prstGeom prst="rect">
            <a:avLst/>
          </a:prstGeom>
          <a:noFill/>
        </p:spPr>
        <p:txBody>
          <a:bodyPr wrap="square">
            <a:spAutoFit/>
          </a:bodyPr>
          <a:lstStyle/>
          <a:p>
            <a:pPr algn="l"/>
            <a:r>
              <a:rPr sz="1200" b="0" i="0">
                <a:solidFill>
                  <a:srgbClr val="E57373"/>
                </a:solidFill>
                <a:latin typeface="Calibri"/>
              </a:rPr>
              <a:t>every vertex loaded fully — no filter attempted</a:t>
            </a:r>
          </a:p>
        </p:txBody>
      </p:sp>
      <p:sp>
        <p:nvSpPr>
          <p:cNvPr id="65" name="TextBox 64"/>
          <p:cNvSpPr txBox="1"/>
          <p:nvPr/>
        </p:nvSpPr>
        <p:spPr>
          <a:xfrm>
            <a:off x="548640" y="6500000"/>
            <a:ext cx="11094720" cy="350000"/>
          </a:xfrm>
          <a:prstGeom prst="rect">
            <a:avLst/>
          </a:prstGeom>
          <a:noFill/>
        </p:spPr>
        <p:txBody>
          <a:bodyPr wrap="square">
            <a:spAutoFit/>
          </a:bodyPr>
          <a:lstStyle/>
          <a:p>
            <a:r>
              <a:rPr sz="1400" b="0">
                <a:solidFill>
                  <a:srgbClr val="E0E0E0"/>
                </a:solidFill>
                <a:latin typeface="Calibri"/>
              </a:rPr>
              <a:t>Legend:  </a:t>
            </a:r>
            <a:r>
              <a:rPr sz="1400" b="1">
                <a:solidFill>
                  <a:srgbClr val="9CCC65"/>
                </a:solidFill>
                <a:latin typeface="Calibri"/>
              </a:rPr>
              <a:t>green = filter applied</a:t>
            </a:r>
            <a:r>
              <a:rPr sz="1400" b="0">
                <a:solidFill>
                  <a:srgbClr val="E0E0E0"/>
                </a:solidFill>
                <a:latin typeface="Calibri"/>
              </a:rPr>
              <a:t>    ·    </a:t>
            </a:r>
            <a:r>
              <a:rPr sz="1400" b="1">
                <a:solidFill>
                  <a:srgbClr val="E57373"/>
                </a:solidFill>
                <a:latin typeface="Calibri"/>
              </a:rPr>
              <a:t>red = no filter (full load)</a:t>
            </a:r>
            <a:r>
              <a:rPr sz="1400" b="0">
                <a:solidFill>
                  <a:srgbClr val="E0E0E0"/>
                </a:solidFill>
                <a:latin typeface="Calibri"/>
              </a:rPr>
              <a:t>    ·    </a:t>
            </a:r>
            <a:r>
              <a:rPr sz="1400" b="1">
                <a:solidFill>
                  <a:srgbClr val="FCB13E"/>
                </a:solidFill>
                <a:latin typeface="Calibri"/>
              </a:rPr>
              <a:t>◆ = build trigger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The CLT subtlety — why small samples can't be trusted</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Heavy-tail fan-out distributions need a sample-size guard before BUILD_EAGER</a:t>
            </a:r>
          </a:p>
        </p:txBody>
      </p:sp>
      <p:sp>
        <p:nvSpPr>
          <p:cNvPr id="4" name="TextBox 3"/>
          <p:cNvSpPr txBox="1"/>
          <p:nvPr/>
        </p:nvSpPr>
        <p:spPr>
          <a:xfrm>
            <a:off x="548640" y="1330000"/>
            <a:ext cx="11094720" cy="700000"/>
          </a:xfrm>
          <a:prstGeom prst="rect">
            <a:avLst/>
          </a:prstGeom>
          <a:solidFill>
            <a:srgbClr val="121220"/>
          </a:solidFill>
          <a:ln w="6350">
            <a:solidFill>
              <a:srgbClr val="404060"/>
            </a:solidFill>
          </a:ln>
        </p:spPr>
        <p:txBody>
          <a:bodyPr wrap="square">
            <a:spAutoFit/>
          </a:bodyPr>
          <a:lstStyle/>
          <a:p>
            <a:r>
              <a:rPr sz="1400">
                <a:solidFill>
                  <a:srgbClr val="B0E0B0"/>
                </a:solidFill>
                <a:latin typeface="Consolas"/>
              </a:rPr>
              <a:t>forecastN = sourceRows × meanFanOut</a:t>
            </a:r>
          </a:p>
          <a:p>
            <a:r>
              <a:rPr sz="1400">
                <a:solidFill>
                  <a:srgbClr val="B0E0B0"/>
                </a:solidFill>
                <a:latin typeface="Consolas"/>
              </a:rPr>
              <a:t>relative_error  ∝  CV_fanOut  /  √N        (N = effective root-lineage sample)</a:t>
            </a:r>
          </a:p>
        </p:txBody>
      </p:sp>
      <p:sp>
        <p:nvSpPr>
          <p:cNvPr id="5" name="TextBox 4"/>
          <p:cNvSpPr txBox="1"/>
          <p:nvPr/>
        </p:nvSpPr>
        <p:spPr>
          <a:xfrm>
            <a:off x="548640" y="2200000"/>
            <a:ext cx="11094720" cy="4500000"/>
          </a:xfrm>
          <a:prstGeom prst="rect">
            <a:avLst/>
          </a:prstGeom>
          <a:noFill/>
        </p:spPr>
        <p:txBody>
          <a:bodyPr wrap="square">
            <a:spAutoFit/>
          </a:bodyPr>
          <a:lstStyle/>
          <a:p>
            <a:r>
              <a:rPr sz="1800" b="1">
                <a:solidFill>
                  <a:srgbClr val="FCB13E"/>
                </a:solidFill>
                <a:latin typeface="Calibri"/>
              </a:rPr>
              <a:t>The problem with the mean</a:t>
            </a:r>
          </a:p>
          <a:p>
            <a:r>
              <a:rPr sz="1600" b="0">
                <a:solidFill>
                  <a:srgbClr val="E0E0E0"/>
                </a:solidFill>
                <a:latin typeface="Calibri"/>
              </a:rPr>
              <a:t>• In LDBC SNB, </a:t>
            </a:r>
            <a:r>
              <a:rPr sz="1400" b="0">
                <a:solidFill>
                  <a:srgbClr val="B0E0B0"/>
                </a:solidFill>
                <a:latin typeface="Consolas"/>
              </a:rPr>
              <a:t>messages-per-person</a:t>
            </a:r>
            <a:r>
              <a:rPr sz="1600" b="0">
                <a:solidFill>
                  <a:srgbClr val="E0E0E0"/>
                </a:solidFill>
                <a:latin typeface="Calibri"/>
              </a:rPr>
              <a:t> follows a power-law: most users have 5-50, a few have 50 000+</a:t>
            </a:r>
          </a:p>
          <a:p>
            <a:r>
              <a:rPr sz="1600" b="0">
                <a:solidFill>
                  <a:srgbClr val="E0E0E0"/>
                </a:solidFill>
                <a:latin typeface="Calibri"/>
              </a:rPr>
              <a:t>• The mean is dominated by the rare 'whale' users — sampling 3 random users gives almost no signal</a:t>
            </a:r>
          </a:p>
          <a:p>
            <a:r>
              <a:rPr sz="1600" b="0">
                <a:solidFill>
                  <a:srgbClr val="E0E0E0"/>
                </a:solidFill>
                <a:latin typeface="Calibri"/>
              </a:rPr>
              <a:t>• If those 3 happen to include a whale, the mean explodes; if not, it collapses</a:t>
            </a:r>
          </a:p>
          <a:p>
            <a:r>
              <a:rPr sz="1600" b="0">
                <a:solidFill>
                  <a:srgbClr val="E0E0E0"/>
                </a:solidFill>
                <a:latin typeface="Calibri"/>
              </a:rPr>
              <a:t>• So a forecast on N=3 is essentially noise — BUILD_EAGER on noise is a coin flip on a one-time cost</a:t>
            </a:r>
          </a:p>
          <a:p>
            <a:r>
              <a:rPr sz="600" b="0">
                <a:solidFill>
                  <a:srgbClr val="E0E0E0"/>
                </a:solidFill>
                <a:latin typeface="Calibri"/>
              </a:rPr>
              <a:t/>
            </a:r>
          </a:p>
          <a:p>
            <a:r>
              <a:rPr sz="1800" b="1">
                <a:solidFill>
                  <a:srgbClr val="FCB13E"/>
                </a:solidFill>
                <a:latin typeface="Calibri"/>
              </a:rPr>
              <a:t>The guard</a:t>
            </a:r>
          </a:p>
          <a:p>
            <a:r>
              <a:rPr sz="1600" b="0">
                <a:solidFill>
                  <a:srgbClr val="E0E0E0"/>
                </a:solidFill>
                <a:latin typeface="Calibri"/>
              </a:rPr>
              <a:t>• </a:t>
            </a:r>
            <a:r>
              <a:rPr sz="1400" b="0">
                <a:solidFill>
                  <a:srgbClr val="B0E0B0"/>
                </a:solidFill>
                <a:latin typeface="Consolas"/>
              </a:rPr>
              <a:t>MIN_FOR_CLT = 30</a:t>
            </a:r>
            <a:r>
              <a:rPr sz="1600" b="0">
                <a:solidFill>
                  <a:srgbClr val="E0E0E0"/>
                </a:solidFill>
                <a:latin typeface="Calibri"/>
              </a:rPr>
              <a:t> — standard statistics threshold for the Central Limit Theorem to make the sample mean roughly normal</a:t>
            </a:r>
          </a:p>
          <a:p>
            <a:r>
              <a:rPr sz="1600" b="0">
                <a:solidFill>
                  <a:srgbClr val="E0E0E0"/>
                </a:solidFill>
                <a:latin typeface="Calibri"/>
              </a:rPr>
              <a:t>• Below 30 effective root-lineage rows: don't BUILD_EAGER. Route to DEFERRED_WITH_NET instead.</a:t>
            </a:r>
          </a:p>
          <a:p>
            <a:r>
              <a:rPr sz="1600" b="0">
                <a:solidFill>
                  <a:srgbClr val="E0E0E0"/>
                </a:solidFill>
                <a:latin typeface="Calibri"/>
              </a:rPr>
              <a:t>• The runtime accumulator will catch any genuinely high-volume edge without committing to a possibly-wrong forecast</a:t>
            </a:r>
          </a:p>
          <a:p>
            <a:r>
              <a:rPr sz="1600" b="0">
                <a:solidFill>
                  <a:srgbClr val="E0E0E0"/>
                </a:solidFill>
                <a:latin typeface="Calibri"/>
              </a:rPr>
              <a:t>• Net effect: we lose a tiny bit of latency when the forecast was right, save big when it was wrong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Where the forecast comes from — stampEdgeForecasts</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A planner pass after the schedule walk, only when an IndexLookup is present</a:t>
            </a:r>
          </a:p>
        </p:txBody>
      </p:sp>
      <p:sp>
        <p:nvSpPr>
          <p:cNvPr id="4" name="TextBox 3"/>
          <p:cNvSpPr txBox="1"/>
          <p:nvPr/>
        </p:nvSpPr>
        <p:spPr>
          <a:xfrm>
            <a:off x="548640" y="1330000"/>
            <a:ext cx="11094720" cy="2600000"/>
          </a:xfrm>
          <a:prstGeom prst="rect">
            <a:avLst/>
          </a:prstGeom>
          <a:solidFill>
            <a:srgbClr val="121220"/>
          </a:solidFill>
          <a:ln w="6350">
            <a:solidFill>
              <a:srgbClr val="404060"/>
            </a:solidFill>
          </a:ln>
        </p:spPr>
        <p:txBody>
          <a:bodyPr wrap="square">
            <a:spAutoFit/>
          </a:bodyPr>
          <a:lstStyle/>
          <a:p>
            <a:r>
              <a:rPr sz="1200">
                <a:solidFill>
                  <a:srgbClr val="B0E0B0"/>
                </a:solidFill>
                <a:latin typeface="Consolas"/>
              </a:rPr>
              <a:t>MatchExecutionPlanner.stampEdgeForecasts(schedule, ctx) {</a:t>
            </a:r>
          </a:p>
          <a:p>
            <a:r>
              <a:rPr sz="1200">
                <a:solidFill>
                  <a:srgbClr val="B0E0B0"/>
                </a:solidFill>
                <a:latin typeface="Consolas"/>
              </a:rPr>
              <a:t>  if (!anyEdgeHasIndexLookup(schedule)) return;     // short-circuit</a:t>
            </a:r>
          </a:p>
          <a:p>
            <a:r>
              <a:rPr sz="1200">
                <a:solidFill>
                  <a:srgbClr val="B0E0B0"/>
                </a:solidFill>
                <a:latin typeface="Consolas"/>
              </a:rPr>
              <a:t/>
            </a:r>
          </a:p>
          <a:p>
            <a:r>
              <a:rPr sz="1200">
                <a:solidFill>
                  <a:srgbClr val="B0E0B0"/>
                </a:solidFill>
                <a:latin typeface="Consolas"/>
              </a:rPr>
              <a:t>  classCountCache = new HashMap&lt;&gt;();                 // per-plan reuse</a:t>
            </a:r>
          </a:p>
          <a:p>
            <a:r>
              <a:rPr sz="1200">
                <a:solidFill>
                  <a:srgbClr val="B0E0B0"/>
                </a:solidFill>
                <a:latin typeface="Consolas"/>
              </a:rPr>
              <a:t>  for (edge : schedule) {</a:t>
            </a:r>
          </a:p>
          <a:p>
            <a:r>
              <a:rPr sz="1200">
                <a:solidFill>
                  <a:srgbClr val="B0E0B0"/>
                </a:solidFill>
                <a:latin typeface="Consolas"/>
              </a:rPr>
              <a:t>    if (!hasIndexLookup(edge)) continue;</a:t>
            </a:r>
          </a:p>
          <a:p>
            <a:r>
              <a:rPr sz="1200">
                <a:solidFill>
                  <a:srgbClr val="B0E0B0"/>
                </a:solidFill>
                <a:latin typeface="Consolas"/>
              </a:rPr>
              <a:t>    long sourceRows = stripSentinels(prev.sourceRows);   // drop Long.MAX_VALUE</a:t>
            </a:r>
          </a:p>
          <a:p>
            <a:r>
              <a:rPr sz="1200">
                <a:solidFill>
                  <a:srgbClr val="B0E0B0"/>
                </a:solidFill>
                <a:latin typeface="Consolas"/>
              </a:rPr>
              <a:t>    double fanOut   = EdgeFanOutEstimator.estimate(edge.edgeClass);</a:t>
            </a:r>
          </a:p>
          <a:p>
            <a:r>
              <a:rPr sz="1200">
                <a:solidFill>
                  <a:srgbClr val="B0E0B0"/>
                </a:solidFill>
                <a:latin typeface="Consolas"/>
              </a:rPr>
              <a:t>    long forecastN  = saturatingMul(sourceRows, fanOut); // -1 on overflow</a:t>
            </a:r>
          </a:p>
          <a:p>
            <a:r>
              <a:rPr sz="1200">
                <a:solidFill>
                  <a:srgbClr val="B0E0B0"/>
                </a:solidFill>
                <a:latin typeface="Consolas"/>
              </a:rPr>
              <a:t>    long rootSample = isClassRooted ? sourceRows : inheritedRootSample;</a:t>
            </a:r>
          </a:p>
          <a:p>
            <a:r>
              <a:rPr sz="1200">
                <a:solidFill>
                  <a:srgbClr val="B0E0B0"/>
                </a:solidFill>
                <a:latin typeface="Consolas"/>
              </a:rPr>
              <a:t>    edge.setForecastN(forecastN);</a:t>
            </a:r>
          </a:p>
          <a:p>
            <a:r>
              <a:rPr sz="1200">
                <a:solidFill>
                  <a:srgbClr val="B0E0B0"/>
                </a:solidFill>
                <a:latin typeface="Consolas"/>
              </a:rPr>
              <a:t>    edge.setRootSourceRows(rootSample);</a:t>
            </a:r>
          </a:p>
          <a:p>
            <a:r>
              <a:rPr sz="1200">
                <a:solidFill>
                  <a:srgbClr val="B0E0B0"/>
                </a:solidFill>
                <a:latin typeface="Consolas"/>
              </a:rPr>
              <a:t>  }</a:t>
            </a:r>
          </a:p>
          <a:p>
            <a:r>
              <a:rPr sz="1200">
                <a:solidFill>
                  <a:srgbClr val="B0E0B0"/>
                </a:solidFill>
                <a:latin typeface="Consolas"/>
              </a:rPr>
              <a:t>}</a:t>
            </a:r>
          </a:p>
        </p:txBody>
      </p:sp>
      <p:sp>
        <p:nvSpPr>
          <p:cNvPr id="5" name="TextBox 4"/>
          <p:cNvSpPr txBox="1"/>
          <p:nvPr/>
        </p:nvSpPr>
        <p:spPr>
          <a:xfrm>
            <a:off x="548640" y="4200000"/>
            <a:ext cx="11094720" cy="2600000"/>
          </a:xfrm>
          <a:prstGeom prst="rect">
            <a:avLst/>
          </a:prstGeom>
          <a:noFill/>
        </p:spPr>
        <p:txBody>
          <a:bodyPr wrap="square">
            <a:spAutoFit/>
          </a:bodyPr>
          <a:lstStyle/>
          <a:p>
            <a:r>
              <a:rPr sz="1800" b="1">
                <a:solidFill>
                  <a:srgbClr val="FCB13E"/>
                </a:solidFill>
                <a:latin typeface="Calibri"/>
              </a:rPr>
              <a:t>Two pitfalls hidden in those four lines of arithmetic</a:t>
            </a:r>
          </a:p>
          <a:p>
            <a:r>
              <a:rPr sz="1600" b="0">
                <a:solidFill>
                  <a:srgbClr val="E0E0E0"/>
                </a:solidFill>
                <a:latin typeface="Calibri"/>
              </a:rPr>
              <a:t>• </a:t>
            </a:r>
            <a:r>
              <a:rPr sz="1600" b="1">
                <a:solidFill>
                  <a:srgbClr val="FCB13E"/>
                </a:solidFill>
                <a:latin typeface="Calibri"/>
              </a:rPr>
              <a:t>Long.MAX_VALUE sentinels</a:t>
            </a:r>
            <a:r>
              <a:rPr sz="1600" b="0">
                <a:solidFill>
                  <a:srgbClr val="E0E0E0"/>
                </a:solidFill>
                <a:latin typeface="Calibri"/>
              </a:rPr>
              <a:t> — the scheduler uses MAX_VALUE on inferred-class aliases to force low scheduling priority. Multiplying through MAX_VALUE would push every downstream forecast above m → forced BUILD_EAGER. Strip first.</a:t>
            </a:r>
          </a:p>
          <a:p>
            <a:r>
              <a:rPr sz="1600" b="0">
                <a:solidFill>
                  <a:srgbClr val="E0E0E0"/>
                </a:solidFill>
                <a:latin typeface="Calibri"/>
              </a:rPr>
              <a:t>• </a:t>
            </a:r>
            <a:r>
              <a:rPr sz="1600" b="1">
                <a:solidFill>
                  <a:srgbClr val="FCB13E"/>
                </a:solidFill>
                <a:latin typeface="Calibri"/>
              </a:rPr>
              <a:t>Saturating multiplication</a:t>
            </a:r>
            <a:r>
              <a:rPr sz="1600" b="0">
                <a:solidFill>
                  <a:srgbClr val="E0E0E0"/>
                </a:solidFill>
                <a:latin typeface="Calibri"/>
              </a:rPr>
              <a:t> — when </a:t>
            </a:r>
            <a:r>
              <a:rPr sz="1300" b="0">
                <a:solidFill>
                  <a:srgbClr val="B0E0B0"/>
                </a:solidFill>
                <a:latin typeface="Consolas"/>
              </a:rPr>
              <a:t>sourceRows × fanOut</a:t>
            </a:r>
            <a:r>
              <a:rPr sz="1600" b="0">
                <a:solidFill>
                  <a:srgbClr val="E0E0E0"/>
                </a:solidFill>
                <a:latin typeface="Calibri"/>
              </a:rPr>
              <a:t> overflows, store -1 (absent), not MAX_VALUE. A clamped MAX_VALUE would trivially satisfy forecastN &gt; ⌈m⌉ and reintroduce the inflation bug at the per-edge boundary.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Worked example — IC4 forecast propagation</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How forecast_n = 3,800 is computed for edge 2 on LDBC SF1</a:t>
            </a:r>
          </a:p>
        </p:txBody>
      </p:sp>
      <p:sp>
        <p:nvSpPr>
          <p:cNvPr id="4" name="TextBox 3"/>
          <p:cNvSpPr txBox="1"/>
          <p:nvPr/>
        </p:nvSpPr>
        <p:spPr>
          <a:xfrm>
            <a:off x="548640" y="1300000"/>
            <a:ext cx="11094720" cy="2700000"/>
          </a:xfrm>
          <a:prstGeom prst="rect">
            <a:avLst/>
          </a:prstGeom>
          <a:solidFill>
            <a:srgbClr val="121220"/>
          </a:solidFill>
          <a:ln w="6350">
            <a:solidFill>
              <a:srgbClr val="404060"/>
            </a:solidFill>
          </a:ln>
        </p:spPr>
        <p:txBody>
          <a:bodyPr wrap="square">
            <a:spAutoFit/>
          </a:bodyPr>
          <a:lstStyle/>
          <a:p>
            <a:r>
              <a:rPr sz="1200">
                <a:solidFill>
                  <a:srgbClr val="B0E0B0"/>
                </a:solidFill>
                <a:latin typeface="Consolas"/>
              </a:rPr>
              <a:t>Query (reduced to pre-filter-relevant edges):</a:t>
            </a:r>
          </a:p>
          <a:p>
            <a:r>
              <a:rPr sz="1200">
                <a:solidFill>
                  <a:srgbClr val="B0E0B0"/>
                </a:solidFill>
                <a:latin typeface="Consolas"/>
              </a:rPr>
              <a:t>  MATCH {Person, id = :pid}.out('KNOWS'){friend}</a:t>
            </a:r>
          </a:p>
          <a:p>
            <a:r>
              <a:rPr sz="1200">
                <a:solidFill>
                  <a:srgbClr val="B0E0B0"/>
                </a:solidFill>
                <a:latin typeface="Consolas"/>
              </a:rPr>
              <a:t>        .in('HAS_CREATOR'){post, where: creationDate IN 30-day window}</a:t>
            </a:r>
          </a:p>
          <a:p>
            <a:r>
              <a:rPr sz="1200">
                <a:solidFill>
                  <a:srgbClr val="B0E0B0"/>
                </a:solidFill>
                <a:latin typeface="Consolas"/>
              </a:rPr>
              <a:t>        .out('HAS_TAG'){tag}</a:t>
            </a:r>
          </a:p>
          <a:p>
            <a:r>
              <a:rPr sz="1200">
                <a:solidFill>
                  <a:srgbClr val="B0E0B0"/>
                </a:solidFill>
                <a:latin typeface="Consolas"/>
              </a:rPr>
              <a:t/>
            </a:r>
          </a:p>
          <a:p>
            <a:r>
              <a:rPr sz="1200">
                <a:solidFill>
                  <a:srgbClr val="B0E0B0"/>
                </a:solidFill>
                <a:latin typeface="Consolas"/>
              </a:rPr>
              <a:t>aliasRowEstimate = { person: 1 }            // RID-pinned start</a:t>
            </a:r>
          </a:p>
          <a:p>
            <a:r>
              <a:rPr sz="1200">
                <a:solidFill>
                  <a:srgbClr val="B0E0B0"/>
                </a:solidFill>
                <a:latin typeface="Consolas"/>
              </a:rPr>
              <a:t/>
            </a:r>
          </a:p>
          <a:p>
            <a:r>
              <a:rPr sz="1200">
                <a:solidFill>
                  <a:srgbClr val="B0E0B0"/>
                </a:solidFill>
                <a:latin typeface="Consolas"/>
              </a:rPr>
              <a:t>Edge 1:  person --KNOWS--&gt; friend</a:t>
            </a:r>
          </a:p>
          <a:p>
            <a:r>
              <a:rPr sz="1200">
                <a:solidFill>
                  <a:srgbClr val="B0E0B0"/>
                </a:solidFill>
                <a:latin typeface="Consolas"/>
              </a:rPr>
              <a:t>  sourceRows = 1</a:t>
            </a:r>
          </a:p>
          <a:p>
            <a:r>
              <a:rPr sz="1200">
                <a:solidFill>
                  <a:srgbClr val="B0E0B0"/>
                </a:solidFill>
                <a:latin typeface="Consolas"/>
              </a:rPr>
              <a:t>  fanOut     = avgFanOut(KNOWS, OUT, Person)  ≈ 38</a:t>
            </a:r>
          </a:p>
          <a:p>
            <a:r>
              <a:rPr sz="1200">
                <a:solidFill>
                  <a:srgbClr val="B0E0B0"/>
                </a:solidFill>
                <a:latin typeface="Consolas"/>
              </a:rPr>
              <a:t>  forecast_n = 38</a:t>
            </a:r>
          </a:p>
          <a:p>
            <a:r>
              <a:rPr sz="1200">
                <a:solidFill>
                  <a:srgbClr val="B0E0B0"/>
                </a:solidFill>
                <a:latin typeface="Consolas"/>
              </a:rPr>
              <a:t>  aliasRowEstimate[friend] = 38</a:t>
            </a:r>
          </a:p>
          <a:p>
            <a:r>
              <a:rPr sz="1200">
                <a:solidFill>
                  <a:srgbClr val="B0E0B0"/>
                </a:solidFill>
                <a:latin typeface="Consolas"/>
              </a:rPr>
              <a:t/>
            </a:r>
          </a:p>
          <a:p>
            <a:r>
              <a:rPr sz="1200">
                <a:solidFill>
                  <a:srgbClr val="B0E0B0"/>
                </a:solidFill>
                <a:latin typeface="Consolas"/>
              </a:rPr>
              <a:t>Edge 2:  friend &lt;--HAS_CREATOR-- post        // ← has IndexLookup</a:t>
            </a:r>
          </a:p>
          <a:p>
            <a:r>
              <a:rPr sz="1200">
                <a:solidFill>
                  <a:srgbClr val="B0E0B0"/>
                </a:solidFill>
                <a:latin typeface="Consolas"/>
              </a:rPr>
              <a:t>  sourceRows = 38</a:t>
            </a:r>
          </a:p>
          <a:p>
            <a:r>
              <a:rPr sz="1200">
                <a:solidFill>
                  <a:srgbClr val="B0E0B0"/>
                </a:solidFill>
                <a:latin typeface="Consolas"/>
              </a:rPr>
              <a:t>  fanOut     = avgFanOut(HAS_CREATOR, IN, Person) ≈ 100</a:t>
            </a:r>
          </a:p>
          <a:p>
            <a:r>
              <a:rPr sz="1200">
                <a:solidFill>
                  <a:srgbClr val="B0E0B0"/>
                </a:solidFill>
                <a:latin typeface="Consolas"/>
              </a:rPr>
              <a:t>  forecast_n = 3,800                          // stamped on this edge</a:t>
            </a:r>
          </a:p>
          <a:p>
            <a:r>
              <a:rPr sz="1200">
                <a:solidFill>
                  <a:srgbClr val="B0E0B0"/>
                </a:solidFill>
                <a:latin typeface="Consolas"/>
              </a:rPr>
              <a:t>  targetSel  = 0.028                          // post.creationDate window</a:t>
            </a:r>
          </a:p>
          <a:p>
            <a:r>
              <a:rPr sz="1200">
                <a:solidFill>
                  <a:srgbClr val="B0E0B0"/>
                </a:solidFill>
                <a:latin typeface="Consolas"/>
              </a:rPr>
              <a:t>  aliasRowEstimate[post] = 106</a:t>
            </a:r>
          </a:p>
        </p:txBody>
      </p:sp>
      <p:sp>
        <p:nvSpPr>
          <p:cNvPr id="5" name="TextBox 4"/>
          <p:cNvSpPr txBox="1"/>
          <p:nvPr/>
        </p:nvSpPr>
        <p:spPr>
          <a:xfrm>
            <a:off x="548640" y="4150000"/>
            <a:ext cx="11094720" cy="2600000"/>
          </a:xfrm>
          <a:prstGeom prst="rect">
            <a:avLst/>
          </a:prstGeom>
          <a:noFill/>
        </p:spPr>
        <p:txBody>
          <a:bodyPr wrap="square">
            <a:spAutoFit/>
          </a:bodyPr>
          <a:lstStyle/>
          <a:p>
            <a:r>
              <a:rPr sz="1800" b="1">
                <a:solidFill>
                  <a:srgbClr val="FCB13E"/>
                </a:solidFill>
                <a:latin typeface="Calibri"/>
              </a:rPr>
              <a:t>Plan-time decision for edge 2</a:t>
            </a:r>
          </a:p>
          <a:p>
            <a:r>
              <a:rPr sz="1400" b="0">
                <a:solidFill>
                  <a:srgbClr val="B0E0B0"/>
                </a:solidFill>
                <a:latin typeface="Consolas"/>
              </a:rPr>
              <a:t>  estimatedSize = 33,000      (index histogram)</a:t>
            </a:r>
          </a:p>
          <a:p>
            <a:r>
              <a:rPr sz="1400" b="0">
                <a:solidFill>
                  <a:srgbClr val="B0E0B0"/>
                </a:solidFill>
                <a:latin typeface="Consolas"/>
              </a:rPr>
              <a:t>  selectivity   = 0.028</a:t>
            </a:r>
          </a:p>
          <a:p>
            <a:r>
              <a:rPr sz="1400" b="0">
                <a:solidFill>
                  <a:srgbClr val="B0E0B0"/>
                </a:solidFill>
                <a:latin typeface="Consolas"/>
              </a:rPr>
              <a:t>  m = 33,000 / (100 × 0.972) ≈ 340</a:t>
            </a:r>
          </a:p>
          <a:p>
            <a:r>
              <a:rPr sz="1400" b="0">
                <a:solidFill>
                  <a:srgbClr val="B0E0B0"/>
                </a:solidFill>
                <a:latin typeface="Consolas"/>
              </a:rPr>
              <a:t>  forecast_n = 3,800 &gt; m  →  </a:t>
            </a:r>
            <a:r>
              <a:rPr sz="1600" b="1">
                <a:solidFill>
                  <a:srgbClr val="9CCC65"/>
                </a:solidFill>
                <a:latin typeface="Calibri"/>
              </a:rPr>
              <a:t>BUILD_EAGER</a:t>
            </a:r>
          </a:p>
          <a:p>
            <a:r>
              <a:rPr sz="600" b="0">
                <a:solidFill>
                  <a:srgbClr val="E0E0E0"/>
                </a:solidFill>
                <a:latin typeface="Calibri"/>
              </a:rPr>
              <a:t/>
            </a:r>
          </a:p>
          <a:p>
            <a:r>
              <a:rPr sz="1800" b="1">
                <a:solidFill>
                  <a:srgbClr val="FCB13E"/>
                </a:solidFill>
                <a:latin typeface="Calibri"/>
              </a:rPr>
              <a:t>Runtime cost comparison (per-edge):</a:t>
            </a:r>
          </a:p>
          <a:p>
            <a:r>
              <a:rPr sz="1500" b="0">
                <a:solidFill>
                  <a:srgbClr val="E0E0E0"/>
                </a:solidFill>
                <a:latin typeface="Calibri"/>
              </a:rPr>
              <a:t>• Naive runtime accumulator:  ~3 friends loaded unfiltered, then build  →  ≈ 767 · L</a:t>
            </a:r>
          </a:p>
          <a:p>
            <a:r>
              <a:rPr sz="1500" b="0">
                <a:solidFill>
                  <a:srgbClr val="E0E0E0"/>
                </a:solidFill>
                <a:latin typeface="Calibri"/>
              </a:rPr>
              <a:t>• Redesign (BUILD_EAGER):     build on friend #1, no deferral             →  ≈ 436 · L</a:t>
            </a:r>
          </a:p>
          <a:p>
            <a:r>
              <a:rPr sz="1500" b="0">
                <a:solidFill>
                  <a:srgbClr val="E0E0E0"/>
                </a:solidFill>
                <a:latin typeface="Calibri"/>
              </a:rPr>
              <a:t>• </a:t>
            </a:r>
            <a:r>
              <a:rPr sz="1600" b="1">
                <a:solidFill>
                  <a:srgbClr val="9CCC65"/>
                </a:solidFill>
                <a:latin typeface="Calibri"/>
              </a:rPr>
              <a:t>1.76× faster on this edge alone</a:t>
            </a:r>
            <a:r>
              <a:rPr sz="1500" b="0">
                <a:solidFill>
                  <a:srgbClr val="E0E0E0"/>
                </a:solidFill>
                <a:latin typeface="Calibri"/>
              </a:rPr>
              <a:t> — purely from removing the deferral tax (the LDBC IC4 number on the results slide compounds across all edges)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The cache in action — built once, reused for everyone after</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The whole reason IndexLookup pays back: the RidSet is constant for the query</a:t>
            </a:r>
          </a:p>
        </p:txBody>
      </p:sp>
      <p:sp>
        <p:nvSpPr>
          <p:cNvPr id="4" name="Rounded Rectangle 3"/>
          <p:cNvSpPr/>
          <p:nvPr/>
        </p:nvSpPr>
        <p:spPr>
          <a:xfrm>
            <a:off x="700000" y="1450000"/>
            <a:ext cx="2400000" cy="700000"/>
          </a:xfrm>
          <a:prstGeom prst="roundRect">
            <a:avLst/>
          </a:prstGeom>
          <a:solidFill>
            <a:srgbClr val="252B4A"/>
          </a:solidFill>
          <a:ln w="12700">
            <a:solidFill>
              <a:srgbClr val="FF3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300" b="1">
                <a:solidFill>
                  <a:srgbClr val="E0E0E0"/>
                </a:solidFill>
                <a:latin typeface="Calibri"/>
              </a:rPr>
              <a:t>friend_1</a:t>
            </a:r>
          </a:p>
          <a:p>
            <a:pPr algn="ctr"/>
            <a:r>
              <a:rPr sz="1300" b="1">
                <a:solidFill>
                  <a:srgbClr val="E0E0E0"/>
                </a:solidFill>
                <a:latin typeface="Calibri"/>
              </a:rPr>
              <a:t>(first vertex)</a:t>
            </a:r>
          </a:p>
        </p:txBody>
      </p:sp>
      <p:sp>
        <p:nvSpPr>
          <p:cNvPr id="5" name="Rounded Rectangle 4"/>
          <p:cNvSpPr/>
          <p:nvPr/>
        </p:nvSpPr>
        <p:spPr>
          <a:xfrm>
            <a:off x="4800000" y="1450000"/>
            <a:ext cx="2400000" cy="700000"/>
          </a:xfrm>
          <a:prstGeom prst="roundRect">
            <a:avLst/>
          </a:prstGeom>
          <a:solidFill>
            <a:srgbClr val="252B4A"/>
          </a:solidFill>
          <a:ln w="12700">
            <a:solidFill>
              <a:srgbClr val="FF3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300" b="1">
                <a:solidFill>
                  <a:srgbClr val="E0E0E0"/>
                </a:solidFill>
                <a:latin typeface="Calibri"/>
              </a:rPr>
              <a:t>friend_50</a:t>
            </a:r>
          </a:p>
          <a:p>
            <a:pPr algn="ctr"/>
            <a:r>
              <a:rPr sz="1300" b="1">
                <a:solidFill>
                  <a:srgbClr val="E0E0E0"/>
                </a:solidFill>
                <a:latin typeface="Calibri"/>
              </a:rPr>
              <a:t>(later)</a:t>
            </a:r>
          </a:p>
        </p:txBody>
      </p:sp>
      <p:sp>
        <p:nvSpPr>
          <p:cNvPr id="6" name="Rounded Rectangle 5"/>
          <p:cNvSpPr/>
          <p:nvPr/>
        </p:nvSpPr>
        <p:spPr>
          <a:xfrm>
            <a:off x="8900000" y="1450000"/>
            <a:ext cx="2400000" cy="700000"/>
          </a:xfrm>
          <a:prstGeom prst="roundRect">
            <a:avLst/>
          </a:prstGeom>
          <a:solidFill>
            <a:srgbClr val="252B4A"/>
          </a:solidFill>
          <a:ln w="12700">
            <a:solidFill>
              <a:srgbClr val="FF3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300" b="1">
                <a:solidFill>
                  <a:srgbClr val="E0E0E0"/>
                </a:solidFill>
                <a:latin typeface="Calibri"/>
              </a:rPr>
              <a:t>friend_200</a:t>
            </a:r>
          </a:p>
          <a:p>
            <a:pPr algn="ctr"/>
            <a:r>
              <a:rPr sz="1300" b="1">
                <a:solidFill>
                  <a:srgbClr val="E0E0E0"/>
                </a:solidFill>
                <a:latin typeface="Calibri"/>
              </a:rPr>
              <a:t>(last)</a:t>
            </a:r>
          </a:p>
        </p:txBody>
      </p:sp>
      <p:sp>
        <p:nvSpPr>
          <p:cNvPr id="7" name="Down Arrow 6"/>
          <p:cNvSpPr/>
          <p:nvPr/>
        </p:nvSpPr>
        <p:spPr>
          <a:xfrm>
            <a:off x="1830000" y="2150000"/>
            <a:ext cx="140000" cy="400000"/>
          </a:xfrm>
          <a:prstGeom prst="downArrow">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wn Arrow 7"/>
          <p:cNvSpPr/>
          <p:nvPr/>
        </p:nvSpPr>
        <p:spPr>
          <a:xfrm>
            <a:off x="5930000" y="2150000"/>
            <a:ext cx="140000" cy="400000"/>
          </a:xfrm>
          <a:prstGeom prst="downArrow">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wn Arrow 8"/>
          <p:cNvSpPr/>
          <p:nvPr/>
        </p:nvSpPr>
        <p:spPr>
          <a:xfrm>
            <a:off x="10030000" y="2150000"/>
            <a:ext cx="140000" cy="400000"/>
          </a:xfrm>
          <a:prstGeom prst="downArrow">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0000" y="2900000"/>
            <a:ext cx="2400000" cy="700000"/>
          </a:xfrm>
          <a:prstGeom prst="roundRect">
            <a:avLst/>
          </a:prstGeom>
          <a:solidFill>
            <a:srgbClr val="354266"/>
          </a:solidFill>
          <a:ln w="12700">
            <a:solidFill>
              <a:srgbClr val="FCB13E"/>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200" b="1">
                <a:solidFill>
                  <a:srgbClr val="FCB13E"/>
                </a:solidFill>
                <a:latin typeface="Calibri"/>
              </a:rPr>
              <a:t>cache MISS</a:t>
            </a:r>
          </a:p>
          <a:p>
            <a:pPr algn="ctr"/>
            <a:r>
              <a:rPr sz="1200" b="1">
                <a:solidFill>
                  <a:srgbClr val="FCB13E"/>
                </a:solidFill>
                <a:latin typeface="Calibri"/>
              </a:rPr>
              <a:t>→ run gates → resolve()</a:t>
            </a:r>
          </a:p>
        </p:txBody>
      </p:sp>
      <p:sp>
        <p:nvSpPr>
          <p:cNvPr id="11" name="Rounded Rectangle 10"/>
          <p:cNvSpPr/>
          <p:nvPr/>
        </p:nvSpPr>
        <p:spPr>
          <a:xfrm>
            <a:off x="4800000" y="2900000"/>
            <a:ext cx="2400000" cy="700000"/>
          </a:xfrm>
          <a:prstGeom prst="roundRect">
            <a:avLst/>
          </a:prstGeom>
          <a:solidFill>
            <a:srgbClr val="354266"/>
          </a:solidFill>
          <a:ln w="12700">
            <a:solidFill>
              <a:srgbClr val="9CCC65"/>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200" b="1">
                <a:solidFill>
                  <a:srgbClr val="9CCC65"/>
                </a:solidFill>
                <a:latin typeface="Calibri"/>
              </a:rPr>
              <a:t>cache HIT (RidSet)</a:t>
            </a:r>
          </a:p>
          <a:p>
            <a:pPr algn="ctr"/>
            <a:r>
              <a:rPr sz="1200" b="1">
                <a:solidFill>
                  <a:srgbClr val="9CCC65"/>
                </a:solidFill>
                <a:latin typeface="Calibri"/>
              </a:rPr>
              <a:t>→ reuse stored bitmap</a:t>
            </a:r>
          </a:p>
        </p:txBody>
      </p:sp>
      <p:sp>
        <p:nvSpPr>
          <p:cNvPr id="12" name="Rounded Rectangle 11"/>
          <p:cNvSpPr/>
          <p:nvPr/>
        </p:nvSpPr>
        <p:spPr>
          <a:xfrm>
            <a:off x="8900000" y="2900000"/>
            <a:ext cx="2400000" cy="700000"/>
          </a:xfrm>
          <a:prstGeom prst="roundRect">
            <a:avLst/>
          </a:prstGeom>
          <a:solidFill>
            <a:srgbClr val="354266"/>
          </a:solidFill>
          <a:ln w="12700">
            <a:solidFill>
              <a:srgbClr val="9CCC65"/>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200" b="1">
                <a:solidFill>
                  <a:srgbClr val="9CCC65"/>
                </a:solidFill>
                <a:latin typeface="Calibri"/>
              </a:rPr>
              <a:t>cache HIT (RidSet)</a:t>
            </a:r>
          </a:p>
          <a:p>
            <a:pPr algn="ctr"/>
            <a:r>
              <a:rPr sz="1200" b="1">
                <a:solidFill>
                  <a:srgbClr val="9CCC65"/>
                </a:solidFill>
                <a:latin typeface="Calibri"/>
              </a:rPr>
              <a:t>→ reuse stored bitmap</a:t>
            </a:r>
          </a:p>
        </p:txBody>
      </p:sp>
      <p:sp>
        <p:nvSpPr>
          <p:cNvPr id="13" name="Down Arrow 12"/>
          <p:cNvSpPr/>
          <p:nvPr/>
        </p:nvSpPr>
        <p:spPr>
          <a:xfrm>
            <a:off x="1830000" y="3600000"/>
            <a:ext cx="140000" cy="700000"/>
          </a:xfrm>
          <a:prstGeom prst="downArrow">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wn Arrow 13"/>
          <p:cNvSpPr/>
          <p:nvPr/>
        </p:nvSpPr>
        <p:spPr>
          <a:xfrm>
            <a:off x="5930000" y="3600000"/>
            <a:ext cx="140000" cy="700000"/>
          </a:xfrm>
          <a:prstGeom prst="downArrow">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wn Arrow 14"/>
          <p:cNvSpPr/>
          <p:nvPr/>
        </p:nvSpPr>
        <p:spPr>
          <a:xfrm>
            <a:off x="10030000" y="3600000"/>
            <a:ext cx="140000" cy="700000"/>
          </a:xfrm>
          <a:prstGeom prst="downArrow">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095847" y="4400000"/>
            <a:ext cx="6000000" cy="900000"/>
          </a:xfrm>
          <a:prstGeom prst="roundRect">
            <a:avLst/>
          </a:prstGeom>
          <a:solidFill>
            <a:srgbClr val="252B4A"/>
          </a:solidFill>
          <a:ln w="19050">
            <a:solidFill>
              <a:srgbClr val="FF3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300" b="0">
                <a:solidFill>
                  <a:srgbClr val="E0E0E0"/>
                </a:solidFill>
                <a:latin typeface="Calibri"/>
              </a:rPr>
              <a:t>EdgeTraversal cache  (LRU, capacity 64)</a:t>
            </a:r>
          </a:p>
          <a:p>
            <a:pPr algn="ctr"/>
            <a:r>
              <a:rPr sz="1300" b="0">
                <a:solidFill>
                  <a:srgbClr val="E0E0E0"/>
                </a:solidFill>
                <a:latin typeface="Calibri"/>
              </a:rPr>
              <a:t>key = cacheFingerprint   →   RidSet of 14 000 RIDs</a:t>
            </a:r>
          </a:p>
        </p:txBody>
      </p:sp>
      <p:sp>
        <p:nvSpPr>
          <p:cNvPr id="17" name="Down Arrow 16"/>
          <p:cNvSpPr/>
          <p:nvPr/>
        </p:nvSpPr>
        <p:spPr>
          <a:xfrm>
            <a:off x="6025847" y="5300000"/>
            <a:ext cx="140000" cy="400000"/>
          </a:xfrm>
          <a:prstGeom prst="downArrow">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095847" y="5870000"/>
            <a:ext cx="6000000" cy="550000"/>
          </a:xfrm>
          <a:prstGeom prst="roundRect">
            <a:avLst/>
          </a:prstGeom>
          <a:solidFill>
            <a:srgbClr val="354266"/>
          </a:solidFill>
          <a:ln w="12700">
            <a:solidFill>
              <a:srgbClr val="E573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6000" bIns="36000"/>
          <a:lstStyle/>
          <a:p>
            <a:pPr algn="ctr"/>
            <a:r>
              <a:rPr sz="1200" b="1">
                <a:solidFill>
                  <a:srgbClr val="E57373"/>
                </a:solidFill>
                <a:latin typeface="Calibri"/>
              </a:rPr>
              <a:t>cache.put(key, null)  +  cachedSkipReasons.put(key, REASON)   ← path for REJECT / BUILD_FAILED</a:t>
            </a:r>
          </a:p>
        </p:txBody>
      </p:sp>
      <p:sp>
        <p:nvSpPr>
          <p:cNvPr id="19" name="TextBox 18"/>
          <p:cNvSpPr txBox="1"/>
          <p:nvPr/>
        </p:nvSpPr>
        <p:spPr>
          <a:xfrm>
            <a:off x="548640" y="6550000"/>
            <a:ext cx="11094720" cy="270000"/>
          </a:xfrm>
          <a:prstGeom prst="rect">
            <a:avLst/>
          </a:prstGeom>
          <a:noFill/>
        </p:spPr>
        <p:txBody>
          <a:bodyPr wrap="square">
            <a:spAutoFit/>
          </a:bodyPr>
          <a:lstStyle/>
          <a:p>
            <a:r>
              <a:rPr sz="1400" b="0">
                <a:solidFill>
                  <a:srgbClr val="E0E0E0"/>
                </a:solidFill>
                <a:latin typeface="Calibri"/>
              </a:rPr>
              <a:t>Build cost amortizes: 14 000 reads paid by friend_1, then 199 cache hits for the rest of the query.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Per-edge cache — built once, reused for every vertex</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The whole reason IndexLookup pays back: the RidSet is constant per query</a:t>
            </a:r>
          </a:p>
        </p:txBody>
      </p:sp>
      <p:sp>
        <p:nvSpPr>
          <p:cNvPr id="4" name="TextBox 3"/>
          <p:cNvSpPr txBox="1"/>
          <p:nvPr/>
        </p:nvSpPr>
        <p:spPr>
          <a:xfrm>
            <a:off x="548640" y="1330000"/>
            <a:ext cx="11094720" cy="1900000"/>
          </a:xfrm>
          <a:prstGeom prst="rect">
            <a:avLst/>
          </a:prstGeom>
          <a:solidFill>
            <a:srgbClr val="121220"/>
          </a:solidFill>
          <a:ln w="6350">
            <a:solidFill>
              <a:srgbClr val="404060"/>
            </a:solidFill>
          </a:ln>
        </p:spPr>
        <p:txBody>
          <a:bodyPr wrap="square">
            <a:spAutoFit/>
          </a:bodyPr>
          <a:lstStyle/>
          <a:p>
            <a:r>
              <a:rPr sz="1200">
                <a:solidFill>
                  <a:srgbClr val="B0E0B0"/>
                </a:solidFill>
                <a:latin typeface="Consolas"/>
              </a:rPr>
              <a:t>// EdgeTraversal</a:t>
            </a:r>
          </a:p>
          <a:p>
            <a:r>
              <a:rPr sz="1200">
                <a:solidFill>
                  <a:srgbClr val="B0E0B0"/>
                </a:solidFill>
                <a:latin typeface="Consolas"/>
              </a:rPr>
              <a:t>LinkedHashMap&lt;Object, RidSet&gt;           cache             = LRU(64);</a:t>
            </a:r>
          </a:p>
          <a:p>
            <a:r>
              <a:rPr sz="1200">
                <a:solidFill>
                  <a:srgbClr val="B0E0B0"/>
                </a:solidFill>
                <a:latin typeface="Consolas"/>
              </a:rPr>
              <a:t>Map&lt;Object, PreFilterSkipReason&gt;        cachedSkipReasons = new HashMap&lt;&gt;();</a:t>
            </a:r>
          </a:p>
          <a:p>
            <a:r>
              <a:rPr sz="1200">
                <a:solidFill>
                  <a:srgbClr val="B0E0B0"/>
                </a:solidFill>
                <a:latin typeface="Consolas"/>
              </a:rPr>
              <a:t/>
            </a:r>
          </a:p>
          <a:p>
            <a:r>
              <a:rPr sz="1200">
                <a:solidFill>
                  <a:srgbClr val="B0E0B0"/>
                </a:solidFill>
                <a:latin typeface="Consolas"/>
              </a:rPr>
              <a:t>// per source vertex</a:t>
            </a:r>
          </a:p>
          <a:p>
            <a:r>
              <a:rPr sz="1200">
                <a:solidFill>
                  <a:srgbClr val="B0E0B0"/>
                </a:solidFill>
                <a:latin typeface="Consolas"/>
              </a:rPr>
              <a:t>Object key = desc.cacheKey(ctx);   // for IndexLookup = cacheFingerprint</a:t>
            </a:r>
          </a:p>
          <a:p>
            <a:r>
              <a:rPr sz="1200">
                <a:solidFill>
                  <a:srgbClr val="B0E0B0"/>
                </a:solidFill>
                <a:latin typeface="Consolas"/>
              </a:rPr>
              <a:t>if (cache.containsKey(key)) {</a:t>
            </a:r>
          </a:p>
          <a:p>
            <a:r>
              <a:rPr sz="1200">
                <a:solidFill>
                  <a:srgbClr val="B0E0B0"/>
                </a:solidFill>
                <a:latin typeface="Consolas"/>
              </a:rPr>
              <a:t>  RidSet rs = cache.get(key);</a:t>
            </a:r>
          </a:p>
          <a:p>
            <a:r>
              <a:rPr sz="1200">
                <a:solidFill>
                  <a:srgbClr val="B0E0B0"/>
                </a:solidFill>
                <a:latin typeface="Consolas"/>
              </a:rPr>
              <a:t>  if (rs == null) lastSkipReason = cachedSkipReasons.get(key);  // restore cause</a:t>
            </a:r>
          </a:p>
          <a:p>
            <a:r>
              <a:rPr sz="1200">
                <a:solidFill>
                  <a:srgbClr val="B0E0B0"/>
                </a:solidFill>
                <a:latin typeface="Consolas"/>
              </a:rPr>
              <a:t>  return rs;</a:t>
            </a:r>
          </a:p>
          <a:p>
            <a:r>
              <a:rPr sz="1200">
                <a:solidFill>
                  <a:srgbClr val="B0E0B0"/>
                </a:solidFill>
                <a:latin typeface="Consolas"/>
              </a:rPr>
              <a:t>}</a:t>
            </a:r>
          </a:p>
        </p:txBody>
      </p:sp>
      <p:sp>
        <p:nvSpPr>
          <p:cNvPr id="5" name="TextBox 4"/>
          <p:cNvSpPr txBox="1"/>
          <p:nvPr/>
        </p:nvSpPr>
        <p:spPr>
          <a:xfrm>
            <a:off x="548640" y="3400000"/>
            <a:ext cx="11094720" cy="3400000"/>
          </a:xfrm>
          <a:prstGeom prst="rect">
            <a:avLst/>
          </a:prstGeom>
          <a:noFill/>
        </p:spPr>
        <p:txBody>
          <a:bodyPr wrap="square">
            <a:spAutoFit/>
          </a:bodyPr>
          <a:lstStyle/>
          <a:p>
            <a:r>
              <a:rPr sz="1800" b="1">
                <a:solidFill>
                  <a:srgbClr val="FCB13E"/>
                </a:solidFill>
                <a:latin typeface="Calibri"/>
              </a:rPr>
              <a:t>Why the parallel skip-reason map</a:t>
            </a:r>
          </a:p>
          <a:p>
            <a:r>
              <a:rPr sz="1600" b="0">
                <a:solidFill>
                  <a:srgbClr val="E0E0E0"/>
                </a:solidFill>
                <a:latin typeface="Calibri"/>
              </a:rPr>
              <a:t>• A cached-null entry remembers WHY the descriptor was rejected (STATS_UNAVAILABLE, BUILD_FAILED, ...)</a:t>
            </a:r>
          </a:p>
          <a:p>
            <a:r>
              <a:rPr sz="1600" b="0">
                <a:solidFill>
                  <a:srgbClr val="E0E0E0"/>
                </a:solidFill>
                <a:latin typeface="Calibri"/>
              </a:rPr>
              <a:t>• Without the parallel map, an external </a:t>
            </a:r>
            <a:r>
              <a:rPr sz="1300" b="0">
                <a:solidFill>
                  <a:srgbClr val="B0E0B0"/>
                </a:solidFill>
                <a:latin typeface="Consolas"/>
              </a:rPr>
              <a:t>recordPreFilterSkip(LINKBAG_TOO_SMALL)</a:t>
            </a:r>
            <a:r>
              <a:rPr sz="1600" b="0">
                <a:solidFill>
                  <a:srgbClr val="E0E0E0"/>
                </a:solidFill>
                <a:latin typeface="Calibri"/>
              </a:rPr>
              <a:t> on a later vertex would overwrite the original cause</a:t>
            </a:r>
          </a:p>
          <a:p>
            <a:r>
              <a:rPr sz="1600" b="0">
                <a:solidFill>
                  <a:srgbClr val="E0E0E0"/>
                </a:solidFill>
                <a:latin typeface="Calibri"/>
              </a:rPr>
              <a:t>• Result without the fix: PROFILE diagnostics blame the wrong threshold</a:t>
            </a:r>
          </a:p>
          <a:p>
            <a:r>
              <a:rPr sz="600" b="0">
                <a:solidFill>
                  <a:srgbClr val="E0E0E0"/>
                </a:solidFill>
                <a:latin typeface="Calibri"/>
              </a:rPr>
              <a:t/>
            </a:r>
          </a:p>
          <a:p>
            <a:r>
              <a:rPr sz="1800" b="1">
                <a:solidFill>
                  <a:srgbClr val="FCB13E"/>
                </a:solidFill>
                <a:latin typeface="Calibri"/>
              </a:rPr>
              <a:t>BUILD_FAILED — the other null case</a:t>
            </a:r>
          </a:p>
          <a:p>
            <a:r>
              <a:rPr sz="1600" b="0">
                <a:solidFill>
                  <a:srgbClr val="E0E0E0"/>
                </a:solidFill>
                <a:latin typeface="Calibri"/>
              </a:rPr>
              <a:t>• Both gates passed, but the actual scan returned null (cap exceeded mid-scan, target missing, empty stream)</a:t>
            </a:r>
          </a:p>
          <a:p>
            <a:r>
              <a:rPr sz="1600" b="0">
                <a:solidFill>
                  <a:srgbClr val="E0E0E0"/>
                </a:solidFill>
                <a:latin typeface="Calibri"/>
              </a:rPr>
              <a:t>• Cached with reason </a:t>
            </a:r>
            <a:r>
              <a:rPr sz="1600" b="1">
                <a:solidFill>
                  <a:srgbClr val="FCB13E"/>
                </a:solidFill>
                <a:latin typeface="Calibri"/>
              </a:rPr>
              <a:t>BUILD_FAILED</a:t>
            </a:r>
            <a:r>
              <a:rPr sz="1600" b="0">
                <a:solidFill>
                  <a:srgbClr val="E0E0E0"/>
                </a:solidFill>
                <a:latin typeface="Calibri"/>
              </a:rPr>
              <a:t> — without this, PROFILE would say 'NEVER APPLIED (reason: NONE)'</a:t>
            </a:r>
          </a:p>
          <a:p>
            <a:r>
              <a:rPr sz="600" b="0">
                <a:solidFill>
                  <a:srgbClr val="E0E0E0"/>
                </a:solidFill>
                <a:latin typeface="Calibri"/>
              </a:rPr>
              <a:t/>
            </a:r>
          </a:p>
          <a:p>
            <a:r>
              <a:rPr sz="1500" b="0">
                <a:solidFill>
                  <a:srgbClr val="E0E0E0"/>
                </a:solidFill>
                <a:latin typeface="Calibri"/>
              </a:rPr>
              <a:t>Capacity = 64 LRU per edge — big enough for any realistic MATCH pattern, tiny memory footprint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What ends up in the cache — permanent vs transient skips</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Some rejections survive for the rest of the query; others must be re-evaluated per vertex</a:t>
            </a:r>
          </a:p>
        </p:txBody>
      </p:sp>
      <p:graphicFrame>
        <p:nvGraphicFramePr>
          <p:cNvPr id="4" name="Table 3"/>
          <p:cNvGraphicFramePr>
            <a:graphicFrameLocks noGrp="1"/>
          </p:cNvGraphicFramePr>
          <p:nvPr/>
        </p:nvGraphicFramePr>
        <p:xfrm>
          <a:off x="548640" y="1330000"/>
          <a:ext cx="11000000" cy="2300000"/>
        </p:xfrm>
        <a:graphic>
          <a:graphicData uri="http://schemas.openxmlformats.org/drawingml/2006/table">
            <a:tbl>
              <a:tblPr firstRow="1" bandRow="1">
                <a:tableStyleId>{5C22544A-7EE6-4342-B048-85BDC9FD1C3A}</a:tableStyleId>
              </a:tblPr>
              <a:tblGrid>
                <a:gridCol w="5500000"/>
                <a:gridCol w="5500000"/>
              </a:tblGrid>
              <a:tr h="460000">
                <a:tc>
                  <a:txBody>
                    <a:bodyPr wrap="square"/>
                    <a:lstStyle/>
                    <a:p>
                      <a:r>
                        <a:rPr sz="1200" b="1">
                          <a:solidFill>
                            <a:srgbClr val="FFA0C8"/>
                          </a:solidFill>
                          <a:latin typeface="Calibri"/>
                        </a:rPr>
                        <a:t>PERMANENT — cached as null + skip reason</a:t>
                      </a:r>
                    </a:p>
                  </a:txBody>
                  <a:tcPr>
                    <a:solidFill>
                      <a:srgbClr val="401530"/>
                    </a:solidFill>
                  </a:tcPr>
                </a:tc>
                <a:tc>
                  <a:txBody>
                    <a:bodyPr wrap="square"/>
                    <a:lstStyle/>
                    <a:p>
                      <a:r>
                        <a:rPr sz="1200" b="1">
                          <a:solidFill>
                            <a:srgbClr val="FFA0C8"/>
                          </a:solidFill>
                          <a:latin typeface="Calibri"/>
                        </a:rPr>
                        <a:t>TRANSIENT — re-evaluated each vertex</a:t>
                      </a:r>
                    </a:p>
                  </a:txBody>
                  <a:tcPr>
                    <a:solidFill>
                      <a:srgbClr val="401530"/>
                    </a:solidFill>
                  </a:tcPr>
                </a:tc>
              </a:tr>
              <a:tr h="460000">
                <a:tc>
                  <a:txBody>
                    <a:bodyPr wrap="square"/>
                    <a:lstStyle/>
                    <a:p>
                      <a:r>
                        <a:rPr sz="1100" b="1">
                          <a:solidFill>
                            <a:srgbClr val="FCB13E"/>
                          </a:solidFill>
                          <a:latin typeface="Calibri"/>
                        </a:rPr>
                        <a:t>SELECTIVITY_TOO_LOW</a:t>
                      </a:r>
                    </a:p>
                  </a:txBody>
                  <a:tcPr>
                    <a:solidFill>
                      <a:srgbClr val="15152A"/>
                    </a:solidFill>
                  </a:tcPr>
                </a:tc>
                <a:tc>
                  <a:txBody>
                    <a:bodyPr wrap="square"/>
                    <a:lstStyle/>
                    <a:p>
                      <a:r>
                        <a:rPr sz="1100" b="0">
                          <a:solidFill>
                            <a:srgbClr val="E0E0E0"/>
                          </a:solidFill>
                          <a:latin typeface="Calibri"/>
                        </a:rPr>
                        <a:t>BUILD_NOT_AMORTIZED</a:t>
                      </a:r>
                    </a:p>
                  </a:txBody>
                  <a:tcPr>
                    <a:solidFill>
                      <a:srgbClr val="15152A"/>
                    </a:solidFill>
                  </a:tcPr>
                </a:tc>
              </a:tr>
              <a:tr h="460000">
                <a:tc>
                  <a:txBody>
                    <a:bodyPr wrap="square"/>
                    <a:lstStyle/>
                    <a:p>
                      <a:r>
                        <a:rPr sz="1100" b="1">
                          <a:solidFill>
                            <a:srgbClr val="FCB13E"/>
                          </a:solidFill>
                          <a:latin typeface="Calibri"/>
                        </a:rPr>
                        <a:t>STATS_UNAVAILABLE</a:t>
                      </a:r>
                    </a:p>
                  </a:txBody>
                  <a:tcPr>
                    <a:solidFill>
                      <a:srgbClr val="15152A"/>
                    </a:solidFill>
                  </a:tcPr>
                </a:tc>
                <a:tc>
                  <a:txBody>
                    <a:bodyPr wrap="square"/>
                    <a:lstStyle/>
                    <a:p>
                      <a:r>
                        <a:rPr sz="1100" b="0">
                          <a:solidFill>
                            <a:srgbClr val="E0E0E0"/>
                          </a:solidFill>
                          <a:latin typeface="Calibri"/>
                        </a:rPr>
                        <a:t>LINKBAG_TOO_SMALL</a:t>
                      </a:r>
                    </a:p>
                  </a:txBody>
                  <a:tcPr>
                    <a:solidFill>
                      <a:srgbClr val="15152A"/>
                    </a:solidFill>
                  </a:tcPr>
                </a:tc>
              </a:tr>
              <a:tr h="460000">
                <a:tc>
                  <a:txBody>
                    <a:bodyPr wrap="square"/>
                    <a:lstStyle/>
                    <a:p>
                      <a:r>
                        <a:rPr sz="1100" b="1">
                          <a:solidFill>
                            <a:srgbClr val="FCB13E"/>
                          </a:solidFill>
                          <a:latin typeface="Calibri"/>
                        </a:rPr>
                        <a:t>CAP_EXCEEDED</a:t>
                      </a:r>
                    </a:p>
                  </a:txBody>
                  <a:tcPr>
                    <a:solidFill>
                      <a:srgbClr val="15152A"/>
                    </a:solidFill>
                  </a:tcPr>
                </a:tc>
                <a:tc>
                  <a:txBody>
                    <a:bodyPr wrap="square"/>
                    <a:lstStyle/>
                    <a:p>
                      <a:r>
                        <a:rPr sz="1100" b="0">
                          <a:solidFill>
                            <a:srgbClr val="E0E0E0"/>
                          </a:solidFill>
                          <a:latin typeface="Calibri"/>
                        </a:rPr>
                        <a:t>OVERLAP_RATIO_TOO_HIGH</a:t>
                      </a:r>
                    </a:p>
                  </a:txBody>
                  <a:tcPr>
                    <a:solidFill>
                      <a:srgbClr val="15152A"/>
                    </a:solidFill>
                  </a:tcPr>
                </a:tc>
              </a:tr>
              <a:tr h="460000">
                <a:tc>
                  <a:txBody>
                    <a:bodyPr wrap="square"/>
                    <a:lstStyle/>
                    <a:p>
                      <a:r>
                        <a:rPr sz="1100" b="1">
                          <a:solidFill>
                            <a:srgbClr val="FCB13E"/>
                          </a:solidFill>
                          <a:latin typeface="Calibri"/>
                        </a:rPr>
                        <a:t>BUILD_FAILED</a:t>
                      </a:r>
                    </a:p>
                  </a:txBody>
                  <a:tcPr>
                    <a:solidFill>
                      <a:srgbClr val="15152A"/>
                    </a:solidFill>
                  </a:tcPr>
                </a:tc>
                <a:tc>
                  <a:txBody>
                    <a:bodyPr wrap="square"/>
                    <a:lstStyle/>
                    <a:p>
                      <a:r>
                        <a:rPr sz="1100" b="0">
                          <a:solidFill>
                            <a:srgbClr val="E0E0E0"/>
                          </a:solidFill>
                          <a:latin typeface="Calibri"/>
                        </a:rPr>
                        <a:t>—</a:t>
                      </a:r>
                    </a:p>
                  </a:txBody>
                  <a:tcPr>
                    <a:solidFill>
                      <a:srgbClr val="15152A"/>
                    </a:solidFill>
                  </a:tcPr>
                </a:tc>
              </a:tr>
            </a:tbl>
          </a:graphicData>
        </a:graphic>
      </p:graphicFrame>
      <p:sp>
        <p:nvSpPr>
          <p:cNvPr id="5" name="TextBox 4"/>
          <p:cNvSpPr txBox="1"/>
          <p:nvPr/>
        </p:nvSpPr>
        <p:spPr>
          <a:xfrm>
            <a:off x="548640" y="3750000"/>
            <a:ext cx="11094720" cy="3050000"/>
          </a:xfrm>
          <a:prstGeom prst="rect">
            <a:avLst/>
          </a:prstGeom>
          <a:noFill/>
        </p:spPr>
        <p:txBody>
          <a:bodyPr wrap="square">
            <a:spAutoFit/>
          </a:bodyPr>
          <a:lstStyle/>
          <a:p>
            <a:r>
              <a:rPr sz="1800" b="1">
                <a:solidFill>
                  <a:srgbClr val="FCB13E"/>
                </a:solidFill>
                <a:latin typeface="Calibri"/>
              </a:rPr>
              <a:t>Why these are permanent</a:t>
            </a:r>
          </a:p>
          <a:p>
            <a:r>
              <a:rPr sz="1600" b="0">
                <a:solidFill>
                  <a:srgbClr val="E0E0E0"/>
                </a:solidFill>
                <a:latin typeface="Calibri"/>
              </a:rPr>
              <a:t>• </a:t>
            </a:r>
            <a:r>
              <a:rPr sz="1500" b="1">
                <a:solidFill>
                  <a:srgbClr val="E57373"/>
                </a:solidFill>
                <a:latin typeface="Consolas"/>
              </a:rPr>
              <a:t>SELECTIVITY_TOO_LOW</a:t>
            </a:r>
            <a:r>
              <a:rPr sz="1600" b="0">
                <a:solidFill>
                  <a:srgbClr val="E0E0E0"/>
                </a:solidFill>
                <a:latin typeface="Calibri"/>
              </a:rPr>
              <a:t> — selectivity is a property of (index, condition, class), invariant for the query</a:t>
            </a:r>
          </a:p>
          <a:p>
            <a:r>
              <a:rPr sz="1600" b="0">
                <a:solidFill>
                  <a:srgbClr val="E0E0E0"/>
                </a:solidFill>
                <a:latin typeface="Calibri"/>
              </a:rPr>
              <a:t>• </a:t>
            </a:r>
            <a:r>
              <a:rPr sz="1500" b="1">
                <a:solidFill>
                  <a:srgbClr val="E57373"/>
                </a:solidFill>
                <a:latin typeface="Consolas"/>
              </a:rPr>
              <a:t>STATS_UNAVAILABLE</a:t>
            </a:r>
            <a:r>
              <a:rPr sz="1600" b="0">
                <a:solidFill>
                  <a:srgbClr val="E0E0E0"/>
                </a:solidFill>
                <a:latin typeface="Calibri"/>
              </a:rPr>
              <a:t> — missing histogram is a schema fact; doesn't appear mid-query</a:t>
            </a:r>
          </a:p>
          <a:p>
            <a:r>
              <a:rPr sz="1600" b="0">
                <a:solidFill>
                  <a:srgbClr val="E0E0E0"/>
                </a:solidFill>
                <a:latin typeface="Calibri"/>
              </a:rPr>
              <a:t>• </a:t>
            </a:r>
            <a:r>
              <a:rPr sz="1500" b="1">
                <a:solidFill>
                  <a:srgbClr val="E57373"/>
                </a:solidFill>
                <a:latin typeface="Consolas"/>
              </a:rPr>
              <a:t>CAP_EXCEEDED</a:t>
            </a:r>
            <a:r>
              <a:rPr sz="1600" b="0">
                <a:solidFill>
                  <a:srgbClr val="E0E0E0"/>
                </a:solidFill>
                <a:latin typeface="Calibri"/>
              </a:rPr>
              <a:t> — estimatedSize is class-wide; if it overflows once, it overflows always</a:t>
            </a:r>
          </a:p>
          <a:p>
            <a:r>
              <a:rPr sz="1600" b="0">
                <a:solidFill>
                  <a:srgbClr val="E0E0E0"/>
                </a:solidFill>
                <a:latin typeface="Calibri"/>
              </a:rPr>
              <a:t>• </a:t>
            </a:r>
            <a:r>
              <a:rPr sz="1500" b="1">
                <a:solidFill>
                  <a:srgbClr val="E57373"/>
                </a:solidFill>
                <a:latin typeface="Consolas"/>
              </a:rPr>
              <a:t>BUILD_FAILED</a:t>
            </a:r>
            <a:r>
              <a:rPr sz="1600" b="0">
                <a:solidFill>
                  <a:srgbClr val="E0E0E0"/>
                </a:solidFill>
                <a:latin typeface="Calibri"/>
              </a:rPr>
              <a:t> — same index, same params, same data → same failure next time</a:t>
            </a:r>
          </a:p>
          <a:p>
            <a:r>
              <a:rPr sz="600" b="0">
                <a:solidFill>
                  <a:srgbClr val="E0E0E0"/>
                </a:solidFill>
                <a:latin typeface="Calibri"/>
              </a:rPr>
              <a:t/>
            </a:r>
          </a:p>
          <a:p>
            <a:r>
              <a:rPr sz="1800" b="1">
                <a:solidFill>
                  <a:srgbClr val="FCB13E"/>
                </a:solidFill>
                <a:latin typeface="Calibri"/>
              </a:rPr>
              <a:t>Why these are NOT cached</a:t>
            </a:r>
          </a:p>
          <a:p>
            <a:r>
              <a:rPr sz="1600" b="0">
                <a:solidFill>
                  <a:srgbClr val="E0E0E0"/>
                </a:solidFill>
                <a:latin typeface="Calibri"/>
              </a:rPr>
              <a:t>• </a:t>
            </a:r>
            <a:r>
              <a:rPr sz="1500" b="1">
                <a:solidFill>
                  <a:srgbClr val="FCB13E"/>
                </a:solidFill>
                <a:latin typeface="Consolas"/>
              </a:rPr>
              <a:t>BUILD_NOT_AMORTIZED</a:t>
            </a:r>
            <a:r>
              <a:rPr sz="1600" b="0">
                <a:solidFill>
                  <a:srgbClr val="E0E0E0"/>
                </a:solidFill>
                <a:latin typeface="Calibri"/>
              </a:rPr>
              <a:t> — accumulator may cross T at a later vertex and trigger the build. Caching null would freeze the decision and kill the safety net.</a:t>
            </a:r>
          </a:p>
          <a:p>
            <a:r>
              <a:rPr sz="1600" b="0">
                <a:solidFill>
                  <a:srgbClr val="E0E0E0"/>
                </a:solidFill>
                <a:latin typeface="Calibri"/>
              </a:rPr>
              <a:t>• </a:t>
            </a:r>
            <a:r>
              <a:rPr sz="1500" b="1">
                <a:solidFill>
                  <a:srgbClr val="FCB13E"/>
                </a:solidFill>
                <a:latin typeface="Consolas"/>
              </a:rPr>
              <a:t>LINKBAG_TOO_SMALL</a:t>
            </a:r>
            <a:r>
              <a:rPr sz="1600" b="0">
                <a:solidFill>
                  <a:srgbClr val="E0E0E0"/>
                </a:solidFill>
                <a:latin typeface="Calibri"/>
              </a:rPr>
              <a:t> — different source vertices have different bag sizes; a small bag now doesn't mean every bag is small.</a:t>
            </a:r>
          </a:p>
          <a:p>
            <a:r>
              <a:rPr sz="1600" b="0">
                <a:solidFill>
                  <a:srgbClr val="E0E0E0"/>
                </a:solidFill>
                <a:latin typeface="Calibri"/>
              </a:rPr>
              <a:t>• </a:t>
            </a:r>
            <a:r>
              <a:rPr sz="1500" b="1">
                <a:solidFill>
                  <a:srgbClr val="FCB13E"/>
                </a:solidFill>
                <a:latin typeface="Consolas"/>
              </a:rPr>
              <a:t>OVERLAP_RATIO_TOO_HIGH</a:t>
            </a:r>
            <a:r>
              <a:rPr sz="1600" b="0">
                <a:solidFill>
                  <a:srgbClr val="E0E0E0"/>
                </a:solidFill>
                <a:latin typeface="Calibri"/>
              </a:rPr>
              <a:t> — EdgeRidLookup's ratio depends on the per-vertex $matched.X binding; different binding, different RidSet, different ratio.</a:t>
            </a:r>
          </a:p>
          <a:p>
            <a:r>
              <a:rPr sz="600" b="0">
                <a:solidFill>
                  <a:srgbClr val="E0E0E0"/>
                </a:solidFill>
                <a:latin typeface="Calibri"/>
              </a:rPr>
              <a:t/>
            </a:r>
          </a:p>
          <a:p>
            <a:r>
              <a:rPr sz="1500" b="0">
                <a:solidFill>
                  <a:srgbClr val="E0E0E0"/>
                </a:solidFill>
                <a:latin typeface="Calibri"/>
              </a:rPr>
              <a:t>Operational consequence: cache hits with null short-circuit gates entirely. Transient skips re-enter </a:t>
            </a:r>
            <a:r>
              <a:rPr sz="1400" b="0">
                <a:solidFill>
                  <a:srgbClr val="B0E0B0"/>
                </a:solidFill>
                <a:latin typeface="Consolas"/>
              </a:rPr>
              <a:t>resolveWithCache</a:t>
            </a:r>
            <a:r>
              <a:rPr sz="1500" b="0">
                <a:solidFill>
                  <a:srgbClr val="E0E0E0"/>
                </a:solidFill>
                <a:latin typeface="Calibri"/>
              </a:rPr>
              <a:t> each time so per-vertex state (accumulator, bag size, $matched) drives a fresh decision.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How to tell if it's firing — PROFILE output</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Counters per edge + diagnostic strings for every skip path</a:t>
            </a:r>
          </a:p>
        </p:txBody>
      </p:sp>
      <p:sp>
        <p:nvSpPr>
          <p:cNvPr id="4" name="TextBox 3"/>
          <p:cNvSpPr txBox="1"/>
          <p:nvPr/>
        </p:nvSpPr>
        <p:spPr>
          <a:xfrm>
            <a:off x="548640" y="1330000"/>
            <a:ext cx="11094720" cy="2700000"/>
          </a:xfrm>
          <a:prstGeom prst="rect">
            <a:avLst/>
          </a:prstGeom>
          <a:solidFill>
            <a:srgbClr val="121220"/>
          </a:solidFill>
          <a:ln w="6350">
            <a:solidFill>
              <a:srgbClr val="404060"/>
            </a:solidFill>
          </a:ln>
        </p:spPr>
        <p:txBody>
          <a:bodyPr wrap="square">
            <a:spAutoFit/>
          </a:bodyPr>
          <a:lstStyle/>
          <a:p>
            <a:r>
              <a:rPr sz="1300">
                <a:solidFill>
                  <a:srgbClr val="B0E0B0"/>
                </a:solidFill>
                <a:latin typeface="Consolas"/>
              </a:rPr>
              <a:t>MATCH ... PROFILE:</a:t>
            </a:r>
          </a:p>
          <a:p>
            <a:r>
              <a:rPr sz="1300">
                <a:solidFill>
                  <a:srgbClr val="B0E0B0"/>
                </a:solidFill>
                <a:latin typeface="Consolas"/>
              </a:rPr>
              <a:t/>
            </a:r>
          </a:p>
          <a:p>
            <a:r>
              <a:rPr sz="1300">
                <a:solidFill>
                  <a:srgbClr val="B0E0B0"/>
                </a:solidFill>
                <a:latin typeface="Consolas"/>
              </a:rPr>
              <a:t>  edge: post.hasCreator     descriptor: IndexLookup</a:t>
            </a:r>
          </a:p>
          <a:p>
            <a:r>
              <a:rPr sz="1300">
                <a:solidFill>
                  <a:srgbClr val="B0E0B0"/>
                </a:solidFill>
                <a:latin typeface="Consolas"/>
              </a:rPr>
              <a:t>    preFilter: applied=4823, skipped=0,</a:t>
            </a:r>
          </a:p>
          <a:p>
            <a:r>
              <a:rPr sz="1300">
                <a:solidFill>
                  <a:srgbClr val="B0E0B0"/>
                </a:solidFill>
                <a:latin typeface="Consolas"/>
              </a:rPr>
              <a:t>               ridSetSize=14210, buildTime=2.1ms, filterRate=0.96</a:t>
            </a:r>
          </a:p>
          <a:p>
            <a:r>
              <a:rPr sz="1300">
                <a:solidFill>
                  <a:srgbClr val="B0E0B0"/>
                </a:solidFill>
                <a:latin typeface="Consolas"/>
              </a:rPr>
              <a:t/>
            </a:r>
          </a:p>
          <a:p>
            <a:r>
              <a:rPr sz="1300">
                <a:solidFill>
                  <a:srgbClr val="B0E0B0"/>
                </a:solidFill>
                <a:latin typeface="Consolas"/>
              </a:rPr>
              <a:t>  edge: forum.containerOf   descriptor: IndexLookup</a:t>
            </a:r>
          </a:p>
          <a:p>
            <a:r>
              <a:rPr sz="1300">
                <a:solidFill>
                  <a:srgbClr val="B0E0B0"/>
                </a:solidFill>
                <a:latin typeface="Consolas"/>
              </a:rPr>
              <a:t>    preFilter: NEVER APPLIED</a:t>
            </a:r>
          </a:p>
          <a:p>
            <a:r>
              <a:rPr sz="1300">
                <a:solidFill>
                  <a:srgbClr val="B0E0B0"/>
                </a:solidFill>
                <a:latin typeface="Consolas"/>
              </a:rPr>
              <a:t>               (reason: STATS_UNAVAILABLE, </a:t>
            </a:r>
          </a:p>
          <a:p>
            <a:r>
              <a:rPr sz="1300">
                <a:solidFill>
                  <a:srgbClr val="B0E0B0"/>
                </a:solidFill>
                <a:latin typeface="Consolas"/>
              </a:rPr>
              <a:t>                threshold: selectivity != -1)</a:t>
            </a:r>
          </a:p>
          <a:p>
            <a:r>
              <a:rPr sz="1300">
                <a:solidFill>
                  <a:srgbClr val="B0E0B0"/>
                </a:solidFill>
                <a:latin typeface="Consolas"/>
              </a:rPr>
              <a:t/>
            </a:r>
          </a:p>
          <a:p>
            <a:r>
              <a:rPr sz="1300">
                <a:solidFill>
                  <a:srgbClr val="B0E0B0"/>
                </a:solidFill>
                <a:latin typeface="Consolas"/>
              </a:rPr>
              <a:t>  edge: person.knows        descriptor: IndexLookup</a:t>
            </a:r>
          </a:p>
          <a:p>
            <a:r>
              <a:rPr sz="1300">
                <a:solidFill>
                  <a:srgbClr val="B0E0B0"/>
                </a:solidFill>
                <a:latin typeface="Consolas"/>
              </a:rPr>
              <a:t>    preFilter: NEVER APPLIED</a:t>
            </a:r>
          </a:p>
          <a:p>
            <a:r>
              <a:rPr sz="1300">
                <a:solidFill>
                  <a:srgbClr val="B0E0B0"/>
                </a:solidFill>
                <a:latin typeface="Consolas"/>
              </a:rPr>
              <a:t>               (reason: BUILD_NOT_AMORTIZED,</a:t>
            </a:r>
          </a:p>
          <a:p>
            <a:r>
              <a:rPr sz="1300">
                <a:solidFill>
                  <a:srgbClr val="B0E0B0"/>
                </a:solidFill>
                <a:latin typeface="Consolas"/>
              </a:rPr>
              <a:t>                threshold: T = max(2·forecastN, m) = 12000)</a:t>
            </a:r>
          </a:p>
        </p:txBody>
      </p:sp>
      <p:sp>
        <p:nvSpPr>
          <p:cNvPr id="5" name="TextBox 4"/>
          <p:cNvSpPr txBox="1"/>
          <p:nvPr/>
        </p:nvSpPr>
        <p:spPr>
          <a:xfrm>
            <a:off x="548640" y="4150000"/>
            <a:ext cx="11094720" cy="2650000"/>
          </a:xfrm>
          <a:prstGeom prst="rect">
            <a:avLst/>
          </a:prstGeom>
          <a:noFill/>
        </p:spPr>
        <p:txBody>
          <a:bodyPr wrap="square">
            <a:spAutoFit/>
          </a:bodyPr>
          <a:lstStyle/>
          <a:p>
            <a:r>
              <a:rPr sz="1800" b="1">
                <a:solidFill>
                  <a:srgbClr val="FCB13E"/>
                </a:solidFill>
                <a:latin typeface="Calibri"/>
              </a:rPr>
              <a:t>What each counter tells you</a:t>
            </a:r>
          </a:p>
          <a:p>
            <a:r>
              <a:rPr sz="1600" b="0">
                <a:solidFill>
                  <a:srgbClr val="E0E0E0"/>
                </a:solidFill>
                <a:latin typeface="Calibri"/>
              </a:rPr>
              <a:t>• </a:t>
            </a:r>
            <a:r>
              <a:rPr sz="1400" b="0">
                <a:solidFill>
                  <a:srgbClr val="B0E0B0"/>
                </a:solidFill>
                <a:latin typeface="Consolas"/>
              </a:rPr>
              <a:t>applied / skipped</a:t>
            </a:r>
            <a:r>
              <a:rPr sz="1600" b="0">
                <a:solidFill>
                  <a:srgbClr val="E0E0E0"/>
                </a:solidFill>
                <a:latin typeface="Calibri"/>
              </a:rPr>
              <a:t> — how many vertices probed the RidSet vs short-circuited</a:t>
            </a:r>
          </a:p>
          <a:p>
            <a:r>
              <a:rPr sz="1600" b="0">
                <a:solidFill>
                  <a:srgbClr val="E0E0E0"/>
                </a:solidFill>
                <a:latin typeface="Calibri"/>
              </a:rPr>
              <a:t>• </a:t>
            </a:r>
            <a:r>
              <a:rPr sz="1400" b="0">
                <a:solidFill>
                  <a:srgbClr val="B0E0B0"/>
                </a:solidFill>
                <a:latin typeface="Consolas"/>
              </a:rPr>
              <a:t>ridSetSize</a:t>
            </a:r>
            <a:r>
              <a:rPr sz="1600" b="0">
                <a:solidFill>
                  <a:srgbClr val="E0E0E0"/>
                </a:solidFill>
                <a:latin typeface="Calibri"/>
              </a:rPr>
              <a:t> — actual size after resolve (compare with forecast — was the estimate accurate?)</a:t>
            </a:r>
          </a:p>
          <a:p>
            <a:r>
              <a:rPr sz="1600" b="0">
                <a:solidFill>
                  <a:srgbClr val="E0E0E0"/>
                </a:solidFill>
                <a:latin typeface="Calibri"/>
              </a:rPr>
              <a:t>• </a:t>
            </a:r>
            <a:r>
              <a:rPr sz="1400" b="0">
                <a:solidFill>
                  <a:srgbClr val="B0E0B0"/>
                </a:solidFill>
                <a:latin typeface="Consolas"/>
              </a:rPr>
              <a:t>filterRate</a:t>
            </a:r>
            <a:r>
              <a:rPr sz="1600" b="0">
                <a:solidFill>
                  <a:srgbClr val="E0E0E0"/>
                </a:solidFill>
                <a:latin typeface="Calibri"/>
              </a:rPr>
              <a:t> — fraction of LinkBag entries the filter rejected. </a:t>
            </a:r>
            <a:r>
              <a:rPr sz="1600" b="1">
                <a:solidFill>
                  <a:srgbClr val="9CCC65"/>
                </a:solidFill>
                <a:latin typeface="Calibri"/>
              </a:rPr>
              <a:t>0.96</a:t>
            </a:r>
            <a:r>
              <a:rPr sz="1600" b="0">
                <a:solidFill>
                  <a:srgbClr val="E0E0E0"/>
                </a:solidFill>
                <a:latin typeface="Calibri"/>
              </a:rPr>
              <a:t> = excellent.  </a:t>
            </a:r>
            <a:r>
              <a:rPr sz="1600" b="1">
                <a:solidFill>
                  <a:srgbClr val="E57373"/>
                </a:solidFill>
                <a:latin typeface="Calibri"/>
              </a:rPr>
              <a:t>&lt; 0.5</a:t>
            </a:r>
            <a:r>
              <a:rPr sz="1600" b="0">
                <a:solidFill>
                  <a:srgbClr val="E0E0E0"/>
                </a:solidFill>
                <a:latin typeface="Calibri"/>
              </a:rPr>
              <a:t> = consider tuning thresholds.</a:t>
            </a:r>
          </a:p>
          <a:p>
            <a:r>
              <a:rPr sz="600" b="0">
                <a:solidFill>
                  <a:srgbClr val="E0E0E0"/>
                </a:solidFill>
                <a:latin typeface="Calibri"/>
              </a:rPr>
              <a:t/>
            </a:r>
          </a:p>
          <a:p>
            <a:r>
              <a:rPr sz="1600" b="0">
                <a:solidFill>
                  <a:srgbClr val="E0E0E0"/>
                </a:solidFill>
                <a:latin typeface="Calibri"/>
              </a:rPr>
              <a:t>Every NEVER APPLIED diagnostic carries its threshold — you can see exactly why it was rejected</a:t>
            </a:r>
          </a:p>
          <a:p>
            <a:r>
              <a:rPr sz="1600" b="0">
                <a:solidFill>
                  <a:srgbClr val="E0E0E0"/>
                </a:solidFill>
                <a:latin typeface="Calibri"/>
              </a:rPr>
              <a:t>Aggregate metric: </a:t>
            </a:r>
            <a:r>
              <a:rPr sz="1400" b="0">
                <a:solidFill>
                  <a:srgbClr val="B0E0B0"/>
                </a:solidFill>
                <a:latin typeface="Consolas"/>
              </a:rPr>
              <a:t>PREFILTER_EFFECTIVENESS</a:t>
            </a:r>
            <a:r>
              <a:rPr sz="1600" b="0">
                <a:solidFill>
                  <a:srgbClr val="E0E0E0"/>
                </a:solidFill>
                <a:latin typeface="Calibri"/>
              </a:rPr>
              <a:t> — global average filter rate across all queries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Measured impact — LDBC SNB SF 1</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Single-thread / multi-thread % speed-up, baselines independent per row</a:t>
            </a:r>
          </a:p>
        </p:txBody>
      </p:sp>
      <p:graphicFrame>
        <p:nvGraphicFramePr>
          <p:cNvPr id="4" name="Table 3"/>
          <p:cNvGraphicFramePr>
            <a:graphicFrameLocks noGrp="1"/>
          </p:cNvGraphicFramePr>
          <p:nvPr/>
        </p:nvGraphicFramePr>
        <p:xfrm>
          <a:off x="548640" y="1380000"/>
          <a:ext cx="11000000" cy="2500000"/>
        </p:xfrm>
        <a:graphic>
          <a:graphicData uri="http://schemas.openxmlformats.org/drawingml/2006/table">
            <a:tbl>
              <a:tblPr firstRow="1" bandRow="1">
                <a:tableStyleId>{5C22544A-7EE6-4342-B048-85BDC9FD1C3A}</a:tableStyleId>
              </a:tblPr>
              <a:tblGrid>
                <a:gridCol w="3000000"/>
                <a:gridCol w="1300000"/>
                <a:gridCol w="1300000"/>
                <a:gridCol w="5400000"/>
              </a:tblGrid>
              <a:tr h="500000">
                <a:tc>
                  <a:txBody>
                    <a:bodyPr wrap="square"/>
                    <a:lstStyle/>
                    <a:p>
                      <a:r>
                        <a:rPr sz="1200" b="1">
                          <a:solidFill>
                            <a:srgbClr val="FFA0C8"/>
                          </a:solidFill>
                          <a:latin typeface="Calibri"/>
                        </a:rPr>
                        <a:t>LDBC query</a:t>
                      </a:r>
                    </a:p>
                  </a:txBody>
                  <a:tcPr>
                    <a:solidFill>
                      <a:srgbClr val="401530"/>
                    </a:solidFill>
                  </a:tcPr>
                </a:tc>
                <a:tc>
                  <a:txBody>
                    <a:bodyPr wrap="square"/>
                    <a:lstStyle/>
                    <a:p>
                      <a:r>
                        <a:rPr sz="1200" b="1">
                          <a:solidFill>
                            <a:srgbClr val="FFA0C8"/>
                          </a:solidFill>
                          <a:latin typeface="Calibri"/>
                        </a:rPr>
                        <a:t>Δ% ST</a:t>
                      </a:r>
                    </a:p>
                  </a:txBody>
                  <a:tcPr>
                    <a:solidFill>
                      <a:srgbClr val="401530"/>
                    </a:solidFill>
                  </a:tcPr>
                </a:tc>
                <a:tc>
                  <a:txBody>
                    <a:bodyPr wrap="square"/>
                    <a:lstStyle/>
                    <a:p>
                      <a:r>
                        <a:rPr sz="1200" b="1">
                          <a:solidFill>
                            <a:srgbClr val="FFA0C8"/>
                          </a:solidFill>
                          <a:latin typeface="Calibri"/>
                        </a:rPr>
                        <a:t>Δ% MT</a:t>
                      </a:r>
                    </a:p>
                  </a:txBody>
                  <a:tcPr>
                    <a:solidFill>
                      <a:srgbClr val="401530"/>
                    </a:solidFill>
                  </a:tcPr>
                </a:tc>
                <a:tc>
                  <a:txBody>
                    <a:bodyPr wrap="square"/>
                    <a:lstStyle/>
                    <a:p>
                      <a:r>
                        <a:rPr sz="1200" b="1">
                          <a:solidFill>
                            <a:srgbClr val="FFA0C8"/>
                          </a:solidFill>
                          <a:latin typeface="Calibri"/>
                        </a:rPr>
                        <a:t>What fires</a:t>
                      </a:r>
                    </a:p>
                  </a:txBody>
                  <a:tcPr>
                    <a:solidFill>
                      <a:srgbClr val="401530"/>
                    </a:solidFill>
                  </a:tcPr>
                </a:tc>
              </a:tr>
              <a:tr h="500000">
                <a:tc>
                  <a:txBody>
                    <a:bodyPr wrap="square"/>
                    <a:lstStyle/>
                    <a:p>
                      <a:r>
                        <a:rPr sz="1100" b="1">
                          <a:solidFill>
                            <a:srgbClr val="FCB13E"/>
                          </a:solidFill>
                          <a:latin typeface="Calibri"/>
                        </a:rPr>
                        <a:t>IC3 friendsInCountries</a:t>
                      </a:r>
                    </a:p>
                  </a:txBody>
                  <a:tcPr>
                    <a:solidFill>
                      <a:srgbClr val="15152A"/>
                    </a:solidFill>
                  </a:tcPr>
                </a:tc>
                <a:tc>
                  <a:txBody>
                    <a:bodyPr wrap="square"/>
                    <a:lstStyle/>
                    <a:p>
                      <a:r>
                        <a:rPr sz="1100" b="0">
                          <a:solidFill>
                            <a:srgbClr val="E0E0E0"/>
                          </a:solidFill>
                          <a:latin typeface="Calibri"/>
                        </a:rPr>
                        <a:t>+1117%</a:t>
                      </a:r>
                    </a:p>
                  </a:txBody>
                  <a:tcPr>
                    <a:solidFill>
                      <a:srgbClr val="15152A"/>
                    </a:solidFill>
                  </a:tcPr>
                </a:tc>
                <a:tc>
                  <a:txBody>
                    <a:bodyPr wrap="square"/>
                    <a:lstStyle/>
                    <a:p>
                      <a:r>
                        <a:rPr sz="1100" b="0">
                          <a:solidFill>
                            <a:srgbClr val="E0E0E0"/>
                          </a:solidFill>
                          <a:latin typeface="Calibri"/>
                        </a:rPr>
                        <a:t>+929%</a:t>
                      </a:r>
                    </a:p>
                  </a:txBody>
                  <a:tcPr>
                    <a:solidFill>
                      <a:srgbClr val="15152A"/>
                    </a:solidFill>
                  </a:tcPr>
                </a:tc>
                <a:tc>
                  <a:txBody>
                    <a:bodyPr wrap="square"/>
                    <a:lstStyle/>
                    <a:p>
                      <a:r>
                        <a:rPr sz="1100" b="0">
                          <a:solidFill>
                            <a:srgbClr val="E0E0E0"/>
                          </a:solidFill>
                          <a:latin typeface="Calibri"/>
                        </a:rPr>
                        <a:t>two IndexLookups: creationDate range + name IN list</a:t>
                      </a:r>
                    </a:p>
                  </a:txBody>
                  <a:tcPr>
                    <a:solidFill>
                      <a:srgbClr val="15152A"/>
                    </a:solidFill>
                  </a:tcPr>
                </a:tc>
              </a:tr>
              <a:tr h="500000">
                <a:tc>
                  <a:txBody>
                    <a:bodyPr wrap="square"/>
                    <a:lstStyle/>
                    <a:p>
                      <a:r>
                        <a:rPr sz="1100" b="1">
                          <a:solidFill>
                            <a:srgbClr val="FCB13E"/>
                          </a:solidFill>
                          <a:latin typeface="Calibri"/>
                        </a:rPr>
                        <a:t>IC9 recentFofMessages</a:t>
                      </a:r>
                    </a:p>
                  </a:txBody>
                  <a:tcPr>
                    <a:solidFill>
                      <a:srgbClr val="15152A"/>
                    </a:solidFill>
                  </a:tcPr>
                </a:tc>
                <a:tc>
                  <a:txBody>
                    <a:bodyPr wrap="square"/>
                    <a:lstStyle/>
                    <a:p>
                      <a:r>
                        <a:rPr sz="1100" b="0">
                          <a:solidFill>
                            <a:srgbClr val="E0E0E0"/>
                          </a:solidFill>
                          <a:latin typeface="Calibri"/>
                        </a:rPr>
                        <a:t>+483%</a:t>
                      </a:r>
                    </a:p>
                  </a:txBody>
                  <a:tcPr>
                    <a:solidFill>
                      <a:srgbClr val="15152A"/>
                    </a:solidFill>
                  </a:tcPr>
                </a:tc>
                <a:tc>
                  <a:txBody>
                    <a:bodyPr wrap="square"/>
                    <a:lstStyle/>
                    <a:p>
                      <a:r>
                        <a:rPr sz="1100" b="0">
                          <a:solidFill>
                            <a:srgbClr val="E0E0E0"/>
                          </a:solidFill>
                          <a:latin typeface="Calibri"/>
                        </a:rPr>
                        <a:t>+433%</a:t>
                      </a:r>
                    </a:p>
                  </a:txBody>
                  <a:tcPr>
                    <a:solidFill>
                      <a:srgbClr val="15152A"/>
                    </a:solidFill>
                  </a:tcPr>
                </a:tc>
                <a:tc>
                  <a:txBody>
                    <a:bodyPr wrap="square"/>
                    <a:lstStyle/>
                    <a:p>
                      <a:r>
                        <a:rPr sz="1100" b="0">
                          <a:solidFill>
                            <a:srgbClr val="E0E0E0"/>
                          </a:solidFill>
                          <a:latin typeface="Calibri"/>
                        </a:rPr>
                        <a:t>IndexLookup on creationDate</a:t>
                      </a:r>
                    </a:p>
                  </a:txBody>
                  <a:tcPr>
                    <a:solidFill>
                      <a:srgbClr val="15152A"/>
                    </a:solidFill>
                  </a:tcPr>
                </a:tc>
              </a:tr>
              <a:tr h="500000">
                <a:tc>
                  <a:txBody>
                    <a:bodyPr wrap="square"/>
                    <a:lstStyle/>
                    <a:p>
                      <a:r>
                        <a:rPr sz="1100" b="1">
                          <a:solidFill>
                            <a:srgbClr val="FCB13E"/>
                          </a:solidFill>
                          <a:latin typeface="Calibri"/>
                        </a:rPr>
                        <a:t>IS7 messageReplies</a:t>
                      </a:r>
                    </a:p>
                  </a:txBody>
                  <a:tcPr>
                    <a:solidFill>
                      <a:srgbClr val="15152A"/>
                    </a:solidFill>
                  </a:tcPr>
                </a:tc>
                <a:tc>
                  <a:txBody>
                    <a:bodyPr wrap="square"/>
                    <a:lstStyle/>
                    <a:p>
                      <a:r>
                        <a:rPr sz="1100" b="0">
                          <a:solidFill>
                            <a:srgbClr val="E0E0E0"/>
                          </a:solidFill>
                          <a:latin typeface="Calibri"/>
                        </a:rPr>
                        <a:t>+220%</a:t>
                      </a:r>
                    </a:p>
                  </a:txBody>
                  <a:tcPr>
                    <a:solidFill>
                      <a:srgbClr val="15152A"/>
                    </a:solidFill>
                  </a:tcPr>
                </a:tc>
                <a:tc>
                  <a:txBody>
                    <a:bodyPr wrap="square"/>
                    <a:lstStyle/>
                    <a:p>
                      <a:r>
                        <a:rPr sz="1100" b="0">
                          <a:solidFill>
                            <a:srgbClr val="E0E0E0"/>
                          </a:solidFill>
                          <a:latin typeface="Calibri"/>
                        </a:rPr>
                        <a:t>+212%</a:t>
                      </a:r>
                    </a:p>
                  </a:txBody>
                  <a:tcPr>
                    <a:solidFill>
                      <a:srgbClr val="15152A"/>
                    </a:solidFill>
                  </a:tcPr>
                </a:tc>
                <a:tc>
                  <a:txBody>
                    <a:bodyPr wrap="square"/>
                    <a:lstStyle/>
                    <a:p>
                      <a:r>
                        <a:rPr sz="1100" b="0">
                          <a:solidFill>
                            <a:srgbClr val="E0E0E0"/>
                          </a:solidFill>
                          <a:latin typeface="Calibri"/>
                        </a:rPr>
                        <a:t>IndexLookup on edge target property</a:t>
                      </a:r>
                    </a:p>
                  </a:txBody>
                  <a:tcPr>
                    <a:solidFill>
                      <a:srgbClr val="15152A"/>
                    </a:solidFill>
                  </a:tcPr>
                </a:tc>
              </a:tr>
              <a:tr h="500000">
                <a:tc>
                  <a:txBody>
                    <a:bodyPr wrap="square"/>
                    <a:lstStyle/>
                    <a:p>
                      <a:r>
                        <a:rPr sz="1100" b="1">
                          <a:solidFill>
                            <a:srgbClr val="FCB13E"/>
                          </a:solidFill>
                          <a:latin typeface="Calibri"/>
                        </a:rPr>
                        <a:t>IC13 shortestPath</a:t>
                      </a:r>
                    </a:p>
                  </a:txBody>
                  <a:tcPr>
                    <a:solidFill>
                      <a:srgbClr val="15152A"/>
                    </a:solidFill>
                  </a:tcPr>
                </a:tc>
                <a:tc>
                  <a:txBody>
                    <a:bodyPr wrap="square"/>
                    <a:lstStyle/>
                    <a:p>
                      <a:r>
                        <a:rPr sz="1100" b="0">
                          <a:solidFill>
                            <a:srgbClr val="E0E0E0"/>
                          </a:solidFill>
                          <a:latin typeface="Calibri"/>
                        </a:rPr>
                        <a:t>+7%</a:t>
                      </a:r>
                    </a:p>
                  </a:txBody>
                  <a:tcPr>
                    <a:solidFill>
                      <a:srgbClr val="15152A"/>
                    </a:solidFill>
                  </a:tcPr>
                </a:tc>
                <a:tc>
                  <a:txBody>
                    <a:bodyPr wrap="square"/>
                    <a:lstStyle/>
                    <a:p>
                      <a:r>
                        <a:rPr sz="1100" b="0">
                          <a:solidFill>
                            <a:srgbClr val="E0E0E0"/>
                          </a:solidFill>
                          <a:latin typeface="Calibri"/>
                        </a:rPr>
                        <a:t>+8%</a:t>
                      </a:r>
                    </a:p>
                  </a:txBody>
                  <a:tcPr>
                    <a:solidFill>
                      <a:srgbClr val="15152A"/>
                    </a:solidFill>
                  </a:tcPr>
                </a:tc>
                <a:tc>
                  <a:txBody>
                    <a:bodyPr wrap="square"/>
                    <a:lstStyle/>
                    <a:p>
                      <a:r>
                        <a:rPr sz="1100" b="0">
                          <a:solidFill>
                            <a:srgbClr val="E0E0E0"/>
                          </a:solidFill>
                          <a:latin typeface="Calibri"/>
                        </a:rPr>
                        <a:t>smaller RidSets thanks to CLT-bounded BUILD_EAGER</a:t>
                      </a:r>
                    </a:p>
                  </a:txBody>
                  <a:tcPr>
                    <a:solidFill>
                      <a:srgbClr val="15152A"/>
                    </a:solidFill>
                  </a:tcPr>
                </a:tc>
              </a:tr>
            </a:tbl>
          </a:graphicData>
        </a:graphic>
      </p:graphicFrame>
      <p:sp>
        <p:nvSpPr>
          <p:cNvPr id="5" name="TextBox 4"/>
          <p:cNvSpPr txBox="1"/>
          <p:nvPr/>
        </p:nvSpPr>
        <p:spPr>
          <a:xfrm>
            <a:off x="548640" y="4000000"/>
            <a:ext cx="11094720" cy="2800000"/>
          </a:xfrm>
          <a:prstGeom prst="rect">
            <a:avLst/>
          </a:prstGeom>
          <a:noFill/>
        </p:spPr>
        <p:txBody>
          <a:bodyPr wrap="square">
            <a:spAutoFit/>
          </a:bodyPr>
          <a:lstStyle/>
          <a:p>
            <a:r>
              <a:rPr sz="1800" b="1">
                <a:solidFill>
                  <a:srgbClr val="FCB13E"/>
                </a:solidFill>
                <a:latin typeface="Calibri"/>
              </a:rPr>
              <a:t>Reading the numbers</a:t>
            </a:r>
          </a:p>
          <a:p>
            <a:r>
              <a:rPr sz="1600" b="0">
                <a:solidFill>
                  <a:srgbClr val="E0E0E0"/>
                </a:solidFill>
                <a:latin typeface="Calibri"/>
              </a:rPr>
              <a:t>• Percentages are not additive — each row is a separate measurement against its own baseline</a:t>
            </a:r>
          </a:p>
          <a:p>
            <a:r>
              <a:rPr sz="1600" b="0">
                <a:solidFill>
                  <a:srgbClr val="E0E0E0"/>
                </a:solidFill>
                <a:latin typeface="Calibri"/>
              </a:rPr>
              <a:t>• IC3 stacks two IndexLookups in one pattern → cached and reused across millions of friend traversals</a:t>
            </a:r>
          </a:p>
          <a:p>
            <a:r>
              <a:rPr sz="1600" b="0">
                <a:solidFill>
                  <a:srgbClr val="E0E0E0"/>
                </a:solidFill>
                <a:latin typeface="Calibri"/>
              </a:rPr>
              <a:t>• IC13's modest gain shows the gate working in the </a:t>
            </a:r>
            <a:r>
              <a:rPr sz="1600" b="1">
                <a:solidFill>
                  <a:srgbClr val="FCB13E"/>
                </a:solidFill>
                <a:latin typeface="Calibri"/>
              </a:rPr>
              <a:t>opposite</a:t>
            </a:r>
            <a:r>
              <a:rPr sz="1600" b="0">
                <a:solidFill>
                  <a:srgbClr val="E0E0E0"/>
                </a:solidFill>
                <a:latin typeface="Calibri"/>
              </a:rPr>
              <a:t> direction — CLT prevents wasted BUILD_EAGER on low-confidence forecasts</a:t>
            </a:r>
          </a:p>
          <a:p>
            <a:r>
              <a:rPr sz="600" b="0">
                <a:solidFill>
                  <a:srgbClr val="E0E0E0"/>
                </a:solidFill>
                <a:latin typeface="Calibri"/>
              </a:rPr>
              <a:t/>
            </a:r>
          </a:p>
          <a:p>
            <a:r>
              <a:rPr sz="1800" b="1">
                <a:solidFill>
                  <a:srgbClr val="FCB13E"/>
                </a:solidFill>
                <a:latin typeface="Calibri"/>
              </a:rPr>
              <a:t>What's NOT in the table</a:t>
            </a:r>
          </a:p>
          <a:p>
            <a:r>
              <a:rPr sz="1600" b="0">
                <a:solidFill>
                  <a:srgbClr val="E0E0E0"/>
                </a:solidFill>
                <a:latin typeface="Calibri"/>
              </a:rPr>
              <a:t>• Queries where the build would have lost — those stay at baseline (no regression, no gain)</a:t>
            </a:r>
          </a:p>
          <a:p>
            <a:r>
              <a:rPr sz="1600" b="0">
                <a:solidFill>
                  <a:srgbClr val="E0E0E0"/>
                </a:solidFill>
                <a:latin typeface="Calibri"/>
              </a:rPr>
              <a:t>• That's the point of the gates: avoid losses, capture wins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Honest limitations — what this design does NOT solve</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Three classes of issue no amount of plumbing on top can fully fix</a:t>
            </a:r>
          </a:p>
        </p:txBody>
      </p:sp>
      <p:sp>
        <p:nvSpPr>
          <p:cNvPr id="4" name="TextBox 3"/>
          <p:cNvSpPr txBox="1"/>
          <p:nvPr/>
        </p:nvSpPr>
        <p:spPr>
          <a:xfrm>
            <a:off x="548640" y="1300000"/>
            <a:ext cx="11094720" cy="5500000"/>
          </a:xfrm>
          <a:prstGeom prst="rect">
            <a:avLst/>
          </a:prstGeom>
          <a:noFill/>
        </p:spPr>
        <p:txBody>
          <a:bodyPr wrap="square">
            <a:spAutoFit/>
          </a:bodyPr>
          <a:lstStyle/>
          <a:p>
            <a:r>
              <a:rPr sz="1900" b="1">
                <a:solidFill>
                  <a:srgbClr val="FCB13E"/>
                </a:solidFill>
                <a:latin typeface="Calibri"/>
              </a:rPr>
              <a:t>1. Residual danger zone at the trigger point</a:t>
            </a:r>
          </a:p>
          <a:p>
            <a:r>
              <a:rPr sz="1600" b="0">
                <a:solidFill>
                  <a:srgbClr val="E0E0E0"/>
                </a:solidFill>
                <a:latin typeface="Calibri"/>
              </a:rPr>
              <a:t>• Any deferred-build strategy throws away T · (1 − s) · L of savings during the deferral phase</a:t>
            </a:r>
          </a:p>
          <a:p>
            <a:r>
              <a:rPr sz="1600" b="0">
                <a:solidFill>
                  <a:srgbClr val="E0E0E0"/>
                </a:solidFill>
                <a:latin typeface="Calibri"/>
              </a:rPr>
              <a:t>• Worst case at actual n ≈ T: still pays ~B of excess work</a:t>
            </a:r>
          </a:p>
          <a:p>
            <a:r>
              <a:rPr sz="1600" b="0">
                <a:solidFill>
                  <a:srgbClr val="E0E0E0"/>
                </a:solidFill>
                <a:latin typeface="Calibri"/>
              </a:rPr>
              <a:t>• Only matters when the safety net actually fires (rare in practice)</a:t>
            </a:r>
          </a:p>
          <a:p>
            <a:r>
              <a:rPr sz="600" b="0">
                <a:solidFill>
                  <a:srgbClr val="E0E0E0"/>
                </a:solidFill>
                <a:latin typeface="Calibri"/>
              </a:rPr>
              <a:t/>
            </a:r>
          </a:p>
          <a:p>
            <a:r>
              <a:rPr sz="1900" b="1">
                <a:solidFill>
                  <a:srgbClr val="FCB13E"/>
                </a:solidFill>
                <a:latin typeface="Calibri"/>
              </a:rPr>
              <a:t>2. Forecast quality remains the upstream lever</a:t>
            </a:r>
          </a:p>
          <a:p>
            <a:r>
              <a:rPr sz="1600" b="0">
                <a:solidFill>
                  <a:srgbClr val="E0E0E0"/>
                </a:solidFill>
                <a:latin typeface="Calibri"/>
              </a:rPr>
              <a:t>• Population mean fan-out is wrong for heavy-tail degree distributions (LDBC SNB KNOWS is power-law)</a:t>
            </a:r>
          </a:p>
          <a:p>
            <a:r>
              <a:rPr sz="1600" b="0">
                <a:solidFill>
                  <a:srgbClr val="E0E0E0"/>
                </a:solidFill>
                <a:latin typeface="Calibri"/>
              </a:rPr>
              <a:t>• BUILD_EAGER mis-fires bound to ≤ B each, but the </a:t>
            </a:r>
            <a:r>
              <a:rPr sz="1600" b="1">
                <a:solidFill>
                  <a:srgbClr val="FCB13E"/>
                </a:solidFill>
                <a:latin typeface="Calibri"/>
              </a:rPr>
              <a:t>rate</a:t>
            </a:r>
            <a:r>
              <a:rPr sz="1600" b="0">
                <a:solidFill>
                  <a:srgbClr val="E0E0E0"/>
                </a:solidFill>
                <a:latin typeface="Calibri"/>
              </a:rPr>
              <a:t> of mis-fires depends on forecast inputs, not on the decision rule</a:t>
            </a:r>
          </a:p>
          <a:p>
            <a:r>
              <a:rPr sz="1600" b="0">
                <a:solidFill>
                  <a:srgbClr val="E0E0E0"/>
                </a:solidFill>
                <a:latin typeface="Calibri"/>
              </a:rPr>
              <a:t>• Aggregate JMH numbers </a:t>
            </a:r>
            <a:r>
              <a:rPr sz="1600" b="1">
                <a:solidFill>
                  <a:srgbClr val="E57373"/>
                </a:solidFill>
                <a:latin typeface="Calibri"/>
              </a:rPr>
              <a:t>hide regressions on the median execution</a:t>
            </a:r>
            <a:r>
              <a:rPr sz="1600" b="0">
                <a:solidFill>
                  <a:srgbClr val="E0E0E0"/>
                </a:solidFill>
                <a:latin typeface="Calibri"/>
              </a:rPr>
              <a:t> — high-degree users dominate wall-clock time</a:t>
            </a:r>
          </a:p>
          <a:p>
            <a:r>
              <a:rPr sz="1600" b="0">
                <a:solidFill>
                  <a:srgbClr val="E0E0E0"/>
                </a:solidFill>
                <a:latin typeface="Calibri"/>
              </a:rPr>
              <a:t>• Fix would require per-subclass degree statistics or surviving-subpopulation estimates — out of scope for this design</a:t>
            </a:r>
          </a:p>
          <a:p>
            <a:r>
              <a:rPr sz="600" b="0">
                <a:solidFill>
                  <a:srgbClr val="E0E0E0"/>
                </a:solidFill>
                <a:latin typeface="Calibri"/>
              </a:rPr>
              <a:t/>
            </a:r>
          </a:p>
          <a:p>
            <a:r>
              <a:rPr sz="1900" b="1">
                <a:solidFill>
                  <a:srgbClr val="FCB13E"/>
                </a:solidFill>
                <a:latin typeface="Calibri"/>
              </a:rPr>
              <a:t>3. Histogram accuracy bounds m's correctness</a:t>
            </a:r>
          </a:p>
          <a:p>
            <a:r>
              <a:rPr sz="1600" b="0">
                <a:solidFill>
                  <a:srgbClr val="E0E0E0"/>
                </a:solidFill>
                <a:latin typeface="Calibri"/>
              </a:rPr>
              <a:t>• </a:t>
            </a:r>
            <a:r>
              <a:rPr sz="1400" b="0">
                <a:solidFill>
                  <a:srgbClr val="B0E0B0"/>
                </a:solidFill>
                <a:latin typeface="Consolas"/>
              </a:rPr>
              <a:t>estimateHits()</a:t>
            </a:r>
            <a:r>
              <a:rPr sz="1600" b="0">
                <a:solidFill>
                  <a:srgbClr val="E0E0E0"/>
                </a:solidFill>
                <a:latin typeface="Calibri"/>
              </a:rPr>
              <a:t> can be 2–5× off on skewed value distributions (range queries especially)</a:t>
            </a:r>
          </a:p>
          <a:p>
            <a:r>
              <a:rPr sz="1600" b="0">
                <a:solidFill>
                  <a:srgbClr val="E0E0E0"/>
                </a:solidFill>
                <a:latin typeface="Calibri"/>
              </a:rPr>
              <a:t>• Wrong estimatedSize → proportionally wrong m → wrong decisions </a:t>
            </a:r>
            <a:r>
              <a:rPr sz="1600" b="1">
                <a:solidFill>
                  <a:srgbClr val="FCB13E"/>
                </a:solidFill>
                <a:latin typeface="Calibri"/>
              </a:rPr>
              <a:t>before any of our logic runs</a:t>
            </a:r>
          </a:p>
          <a:p>
            <a:r>
              <a:rPr sz="1600" b="0">
                <a:solidFill>
                  <a:srgbClr val="E0E0E0"/>
                </a:solidFill>
                <a:latin typeface="Calibri"/>
              </a:rPr>
              <a:t>• Improving histograms (multivariate stats, more buckets) is a separate work stream that benefits all cost-based planning</a:t>
            </a:r>
          </a:p>
          <a:p>
            <a:r>
              <a:rPr sz="600" b="0">
                <a:solidFill>
                  <a:srgbClr val="E0E0E0"/>
                </a:solidFill>
                <a:latin typeface="Calibri"/>
              </a:rPr>
              <a:t/>
            </a:r>
          </a:p>
          <a:p>
            <a:r>
              <a:rPr sz="1700" b="1">
                <a:solidFill>
                  <a:srgbClr val="9CCC65"/>
                </a:solidFill>
                <a:latin typeface="Calibri"/>
              </a:rPr>
              <a:t>What this design DOES provide:</a:t>
            </a:r>
            <a:r>
              <a:rPr sz="1600" b="0">
                <a:solidFill>
                  <a:srgbClr val="E0E0E0"/>
                </a:solidFill>
                <a:latin typeface="Calibri"/>
              </a:rPr>
              <a:t>  bounded worst-case loss per edge, eliminated deferral tax for forecastable edges, observable failures via PROFILE counters.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What's next</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Known limitations and planned follow-ups</a:t>
            </a:r>
          </a:p>
        </p:txBody>
      </p:sp>
      <p:sp>
        <p:nvSpPr>
          <p:cNvPr id="4" name="TextBox 3"/>
          <p:cNvSpPr txBox="1"/>
          <p:nvPr/>
        </p:nvSpPr>
        <p:spPr>
          <a:xfrm>
            <a:off x="548640" y="1330000"/>
            <a:ext cx="11094720" cy="5470000"/>
          </a:xfrm>
          <a:prstGeom prst="rect">
            <a:avLst/>
          </a:prstGeom>
          <a:noFill/>
        </p:spPr>
        <p:txBody>
          <a:bodyPr wrap="square">
            <a:spAutoFit/>
          </a:bodyPr>
          <a:lstStyle/>
          <a:p>
            <a:r>
              <a:rPr sz="1900" b="1">
                <a:solidFill>
                  <a:srgbClr val="FCB13E"/>
                </a:solidFill>
                <a:latin typeface="Calibri"/>
              </a:rPr>
              <a:t>Live measurement for loadToScanRatio</a:t>
            </a:r>
          </a:p>
          <a:p>
            <a:r>
              <a:rPr sz="1600" b="0">
                <a:solidFill>
                  <a:srgbClr val="E0E0E0"/>
                </a:solidFill>
                <a:latin typeface="Calibri"/>
              </a:rPr>
              <a:t>• Today: static constant 100, calibrated once on cold SSD</a:t>
            </a:r>
          </a:p>
          <a:p>
            <a:r>
              <a:rPr sz="1600" b="0">
                <a:solidFill>
                  <a:srgbClr val="E0E0E0"/>
                </a:solidFill>
                <a:latin typeface="Calibri"/>
              </a:rPr>
              <a:t>• Goal: per-query measurement from actual I/O metrics</a:t>
            </a:r>
          </a:p>
          <a:p>
            <a:r>
              <a:rPr sz="1600" b="0">
                <a:solidFill>
                  <a:srgbClr val="E0E0E0"/>
                </a:solidFill>
                <a:latin typeface="Calibri"/>
              </a:rPr>
              <a:t>• Obstacle: </a:t>
            </a:r>
            <a:r>
              <a:rPr sz="1600" b="1">
                <a:solidFill>
                  <a:srgbClr val="E57373"/>
                </a:solidFill>
                <a:latin typeface="Calibri"/>
              </a:rPr>
              <a:t>sample bias</a:t>
            </a:r>
            <a:r>
              <a:rPr sz="1600" b="0">
                <a:solidFill>
                  <a:srgbClr val="E0E0E0"/>
                </a:solidFill>
                <a:latin typeface="Calibri"/>
              </a:rPr>
              <a:t> — pre-rejected vertices never get loaded, so we never measure </a:t>
            </a:r>
            <a:r>
              <a:rPr sz="1600" b="1">
                <a:solidFill>
                  <a:srgbClr val="FCB13E"/>
                </a:solidFill>
                <a:latin typeface="Calibri"/>
              </a:rPr>
              <a:t>their</a:t>
            </a:r>
            <a:r>
              <a:rPr sz="1600" b="0">
                <a:solidFill>
                  <a:srgbClr val="E0E0E0"/>
                </a:solidFill>
                <a:latin typeface="Calibri"/>
              </a:rPr>
              <a:t> load cost</a:t>
            </a:r>
          </a:p>
          <a:p>
            <a:r>
              <a:rPr sz="1600" b="0">
                <a:solidFill>
                  <a:srgbClr val="E0E0E0"/>
                </a:solidFill>
                <a:latin typeface="Calibri"/>
              </a:rPr>
              <a:t>• Plan: collect samples from queries where pre-filter did </a:t>
            </a:r>
            <a:r>
              <a:rPr sz="1600" b="1">
                <a:solidFill>
                  <a:srgbClr val="FCB13E"/>
                </a:solidFill>
                <a:latin typeface="Calibri"/>
              </a:rPr>
              <a:t>not</a:t>
            </a:r>
            <a:r>
              <a:rPr sz="1600" b="0">
                <a:solidFill>
                  <a:srgbClr val="E0E0E0"/>
                </a:solidFill>
                <a:latin typeface="Calibri"/>
              </a:rPr>
              <a:t> fire (small bags, REJECT paths) and weight accordingly</a:t>
            </a:r>
          </a:p>
          <a:p>
            <a:r>
              <a:rPr sz="600" b="0">
                <a:solidFill>
                  <a:srgbClr val="E0E0E0"/>
                </a:solidFill>
                <a:latin typeface="Calibri"/>
              </a:rPr>
              <a:t/>
            </a:r>
          </a:p>
          <a:p>
            <a:r>
              <a:rPr sz="1900" b="1">
                <a:solidFill>
                  <a:srgbClr val="FCB13E"/>
                </a:solidFill>
                <a:latin typeface="Calibri"/>
              </a:rPr>
              <a:t>Edge-property histograms for finer fanOut estimates</a:t>
            </a:r>
          </a:p>
          <a:p>
            <a:r>
              <a:rPr sz="1600" b="0">
                <a:solidFill>
                  <a:srgbClr val="E0E0E0"/>
                </a:solidFill>
                <a:latin typeface="Calibri"/>
              </a:rPr>
              <a:t>• Currently fanOut is class-mean — same value for every edge of that class</a:t>
            </a:r>
          </a:p>
          <a:p>
            <a:r>
              <a:rPr sz="1600" b="0">
                <a:solidFill>
                  <a:srgbClr val="E0E0E0"/>
                </a:solidFill>
                <a:latin typeface="Calibri"/>
              </a:rPr>
              <a:t>• Heavy-tail distributions defeat the mean; per-property buckets would tighten forecasts</a:t>
            </a:r>
          </a:p>
          <a:p>
            <a:r>
              <a:rPr sz="1600" b="0">
                <a:solidFill>
                  <a:srgbClr val="E0E0E0"/>
                </a:solidFill>
                <a:latin typeface="Calibri"/>
              </a:rPr>
              <a:t>• Trade-off: histogram maintenance cost vs forecast accuracy</a:t>
            </a:r>
          </a:p>
          <a:p>
            <a:r>
              <a:rPr sz="600" b="0">
                <a:solidFill>
                  <a:srgbClr val="E0E0E0"/>
                </a:solidFill>
                <a:latin typeface="Calibri"/>
              </a:rPr>
              <a:t/>
            </a:r>
          </a:p>
          <a:p>
            <a:r>
              <a:rPr sz="1900" b="1">
                <a:solidFill>
                  <a:srgbClr val="FCB13E"/>
                </a:solidFill>
                <a:latin typeface="Calibri"/>
              </a:rPr>
              <a:t>Forecast propagation across optional / multi-branch patterns</a:t>
            </a:r>
          </a:p>
          <a:p>
            <a:r>
              <a:rPr sz="1600" b="0">
                <a:solidFill>
                  <a:srgbClr val="E0E0E0"/>
                </a:solidFill>
                <a:latin typeface="Calibri"/>
              </a:rPr>
              <a:t>• </a:t>
            </a:r>
            <a:r>
              <a:rPr sz="1400" b="0">
                <a:solidFill>
                  <a:srgbClr val="B0E0B0"/>
                </a:solidFill>
                <a:latin typeface="Consolas"/>
              </a:rPr>
              <a:t>rootSourceRows</a:t>
            </a:r>
            <a:r>
              <a:rPr sz="1600" b="0">
                <a:solidFill>
                  <a:srgbClr val="E0E0E0"/>
                </a:solidFill>
                <a:latin typeface="Calibri"/>
              </a:rPr>
              <a:t> inheritance handles linear chains; diamond patterns are approximated conservatively</a:t>
            </a:r>
          </a:p>
          <a:p>
            <a:r>
              <a:rPr sz="1600" b="0">
                <a:solidFill>
                  <a:srgbClr val="E0E0E0"/>
                </a:solidFill>
                <a:latin typeface="Calibri"/>
              </a:rPr>
              <a:t>• Could under-count root samples on multi-branch joins → cautious DEFERRED_WITH_NET routing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Where to look in the code</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Order matters — start at the descriptor, end at the planner</a:t>
            </a:r>
          </a:p>
        </p:txBody>
      </p:sp>
      <p:sp>
        <p:nvSpPr>
          <p:cNvPr id="4" name="TextBox 3"/>
          <p:cNvSpPr txBox="1"/>
          <p:nvPr/>
        </p:nvSpPr>
        <p:spPr>
          <a:xfrm>
            <a:off x="548640" y="1330000"/>
            <a:ext cx="11094720" cy="4400000"/>
          </a:xfrm>
          <a:prstGeom prst="rect">
            <a:avLst/>
          </a:prstGeom>
          <a:solidFill>
            <a:srgbClr val="121220"/>
          </a:solidFill>
          <a:ln w="6350">
            <a:solidFill>
              <a:srgbClr val="404060"/>
            </a:solidFill>
          </a:ln>
        </p:spPr>
        <p:txBody>
          <a:bodyPr wrap="square">
            <a:spAutoFit/>
          </a:bodyPr>
          <a:lstStyle/>
          <a:p>
            <a:r>
              <a:rPr sz="1200">
                <a:solidFill>
                  <a:srgbClr val="B0E0B0"/>
                </a:solidFill>
                <a:latin typeface="Consolas"/>
              </a:rPr>
              <a:t>core/src/main/java/com/jetbrains/youtrackdb/internal/core/sql/executor/</a:t>
            </a:r>
          </a:p>
          <a:p>
            <a:r>
              <a:rPr sz="1200">
                <a:solidFill>
                  <a:srgbClr val="B0E0B0"/>
                </a:solidFill>
                <a:latin typeface="Consolas"/>
              </a:rPr>
              <a:t/>
            </a:r>
          </a:p>
          <a:p>
            <a:r>
              <a:rPr sz="1200">
                <a:solidFill>
                  <a:srgbClr val="B0E0B0"/>
                </a:solidFill>
                <a:latin typeface="Consolas"/>
              </a:rPr>
              <a:t>1. RidFilterDescriptor.java</a:t>
            </a:r>
          </a:p>
          <a:p>
            <a:r>
              <a:rPr sz="1200">
                <a:solidFill>
                  <a:srgbClr val="B0E0B0"/>
                </a:solidFill>
                <a:latin typeface="Consolas"/>
              </a:rPr>
              <a:t>     record IndexLookup                   ← the descriptor itself</a:t>
            </a:r>
          </a:p>
          <a:p>
            <a:r>
              <a:rPr sz="1200">
                <a:solidFill>
                  <a:srgbClr val="B0E0B0"/>
                </a:solidFill>
                <a:latin typeface="Consolas"/>
              </a:rPr>
              <a:t>     IndexLookup.passesSelectivityCheck   ← gate 1</a:t>
            </a:r>
          </a:p>
          <a:p>
            <a:r>
              <a:rPr sz="1200">
                <a:solidFill>
                  <a:srgbClr val="B0E0B0"/>
                </a:solidFill>
                <a:latin typeface="Consolas"/>
              </a:rPr>
              <a:t/>
            </a:r>
          </a:p>
          <a:p>
            <a:r>
              <a:rPr sz="1200">
                <a:solidFill>
                  <a:srgbClr val="B0E0B0"/>
                </a:solidFill>
                <a:latin typeface="Consolas"/>
              </a:rPr>
              <a:t>2. match/EdgeTraversal.java</a:t>
            </a:r>
          </a:p>
          <a:p>
            <a:r>
              <a:rPr sz="1200">
                <a:solidFill>
                  <a:srgbClr val="B0E0B0"/>
                </a:solidFill>
                <a:latin typeface="Consolas"/>
              </a:rPr>
              <a:t>     resolveWithCache                     ← cache + gates entry point</a:t>
            </a:r>
          </a:p>
          <a:p>
            <a:r>
              <a:rPr sz="1200">
                <a:solidFill>
                  <a:srgbClr val="B0E0B0"/>
                </a:solidFill>
                <a:latin typeface="Consolas"/>
              </a:rPr>
              <a:t>     checkIndexLookupAmortization         ← gate 2, three-way decision</a:t>
            </a:r>
          </a:p>
          <a:p>
            <a:r>
              <a:rPr sz="1200">
                <a:solidFill>
                  <a:srgbClr val="B0E0B0"/>
                </a:solidFill>
                <a:latin typeface="Consolas"/>
              </a:rPr>
              <a:t>     evaluateIndexLookupAmortization      ← Composite-rescue variant</a:t>
            </a:r>
          </a:p>
          <a:p>
            <a:r>
              <a:rPr sz="1200">
                <a:solidFill>
                  <a:srgbClr val="B0E0B0"/>
                </a:solidFill>
                <a:latin typeface="Consolas"/>
              </a:rPr>
              <a:t>     getForecastN / getRootSourceRows     ← values stamped by planner</a:t>
            </a:r>
          </a:p>
          <a:p>
            <a:r>
              <a:rPr sz="1200">
                <a:solidFill>
                  <a:srgbClr val="B0E0B0"/>
                </a:solidFill>
                <a:latin typeface="Consolas"/>
              </a:rPr>
              <a:t/>
            </a:r>
          </a:p>
          <a:p>
            <a:r>
              <a:rPr sz="1200">
                <a:solidFill>
                  <a:srgbClr val="B0E0B0"/>
                </a:solidFill>
                <a:latin typeface="Consolas"/>
              </a:rPr>
              <a:t>3. match/MatchExecutionPlanner.java</a:t>
            </a:r>
          </a:p>
          <a:p>
            <a:r>
              <a:rPr sz="1200">
                <a:solidFill>
                  <a:srgbClr val="B0E0B0"/>
                </a:solidFill>
                <a:latin typeface="Consolas"/>
              </a:rPr>
              <a:t>     optimizeScheduleWithIntersections    ← creates and attaches the descriptor</a:t>
            </a:r>
          </a:p>
          <a:p>
            <a:r>
              <a:rPr sz="1200">
                <a:solidFill>
                  <a:srgbClr val="B0E0B0"/>
                </a:solidFill>
                <a:latin typeface="Consolas"/>
              </a:rPr>
              <a:t>     stampEdgeForecasts                   ← forecast pass (short-circuited)</a:t>
            </a:r>
          </a:p>
          <a:p>
            <a:r>
              <a:rPr sz="1200">
                <a:solidFill>
                  <a:srgbClr val="B0E0B0"/>
                </a:solidFill>
                <a:latin typeface="Consolas"/>
              </a:rPr>
              <a:t>     anyEdgeHasIndexLookup                ← short-circuit predicate</a:t>
            </a:r>
          </a:p>
          <a:p>
            <a:r>
              <a:rPr sz="1200">
                <a:solidFill>
                  <a:srgbClr val="B0E0B0"/>
                </a:solidFill>
                <a:latin typeface="Consolas"/>
              </a:rPr>
              <a:t/>
            </a:r>
          </a:p>
          <a:p>
            <a:r>
              <a:rPr sz="1200">
                <a:solidFill>
                  <a:srgbClr val="B0E0B0"/>
                </a:solidFill>
                <a:latin typeface="Consolas"/>
              </a:rPr>
              <a:t>4. TraversalPreFilterHelper.java</a:t>
            </a:r>
          </a:p>
          <a:p>
            <a:r>
              <a:rPr sz="1200">
                <a:solidFill>
                  <a:srgbClr val="B0E0B0"/>
                </a:solidFill>
                <a:latin typeface="Consolas"/>
              </a:rPr>
              <a:t>     findIndexForFilter                   ← planner-side index detection</a:t>
            </a:r>
          </a:p>
          <a:p>
            <a:r>
              <a:rPr sz="1200">
                <a:solidFill>
                  <a:srgbClr val="B0E0B0"/>
                </a:solidFill>
                <a:latin typeface="Consolas"/>
              </a:rPr>
              <a:t>     resolveIndexToRidSet                 ← runtime materialisation</a:t>
            </a:r>
          </a:p>
          <a:p>
            <a:r>
              <a:rPr sz="1200">
                <a:solidFill>
                  <a:srgbClr val="B0E0B0"/>
                </a:solidFill>
                <a:latin typeface="Consolas"/>
              </a:rPr>
              <a:t>     maxRidSetSize / loadToScanRatio      ← thresholds and config</a:t>
            </a:r>
          </a:p>
          <a:p>
            <a:r>
              <a:rPr sz="1200">
                <a:solidFill>
                  <a:srgbClr val="B0E0B0"/>
                </a:solidFill>
                <a:latin typeface="Consolas"/>
              </a:rPr>
              <a:t/>
            </a:r>
          </a:p>
          <a:p>
            <a:r>
              <a:rPr sz="1200">
                <a:solidFill>
                  <a:srgbClr val="B0E0B0"/>
                </a:solidFill>
                <a:latin typeface="Consolas"/>
              </a:rPr>
              <a:t>5. match/MatchStep.java</a:t>
            </a:r>
          </a:p>
          <a:p>
            <a:r>
              <a:rPr sz="1200">
                <a:solidFill>
                  <a:srgbClr val="B0E0B0"/>
                </a:solidFill>
                <a:latin typeface="Consolas"/>
              </a:rPr>
              <a:t>     appendPreFilterStats                 ← PROFILE diagnostic emitter</a:t>
            </a:r>
          </a:p>
        </p:txBody>
      </p:sp>
      <p:sp>
        <p:nvSpPr>
          <p:cNvPr id="5" name="TextBox 4"/>
          <p:cNvSpPr txBox="1"/>
          <p:nvPr/>
        </p:nvSpPr>
        <p:spPr>
          <a:xfrm>
            <a:off x="548640" y="5850000"/>
            <a:ext cx="11094720" cy="700000"/>
          </a:xfrm>
          <a:prstGeom prst="rect">
            <a:avLst/>
          </a:prstGeom>
          <a:noFill/>
        </p:spPr>
        <p:txBody>
          <a:bodyPr wrap="square">
            <a:spAutoFit/>
          </a:bodyPr>
          <a:lstStyle/>
          <a:p>
            <a:r>
              <a:rPr sz="1600" b="0">
                <a:solidFill>
                  <a:srgbClr val="E0E0E0"/>
                </a:solidFill>
                <a:latin typeface="Calibri"/>
              </a:rPr>
              <a:t>Durable ADR: </a:t>
            </a:r>
            <a:r>
              <a:rPr sz="1400" b="0">
                <a:solidFill>
                  <a:srgbClr val="B0E0B0"/>
                </a:solidFill>
                <a:latin typeface="Consolas"/>
              </a:rPr>
              <a:t>docs/adr/index-assisted-traversal/design-final.md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560320"/>
            <a:ext cx="11247120" cy="1280160"/>
          </a:xfrm>
          <a:prstGeom prst="rect">
            <a:avLst/>
          </a:prstGeom>
          <a:noFill/>
        </p:spPr>
        <p:txBody>
          <a:bodyPr wrap="square">
            <a:spAutoFit/>
          </a:bodyPr>
          <a:lstStyle/>
          <a:p>
            <a:r>
              <a:rPr sz="4800" b="1">
                <a:solidFill>
                  <a:srgbClr val="FF318C"/>
                </a:solidFill>
                <a:latin typeface="Calibri"/>
              </a:rPr>
              <a:t>Thanks — questions?</a:t>
            </a:r>
          </a:p>
        </p:txBody>
      </p:sp>
      <p:sp>
        <p:nvSpPr>
          <p:cNvPr id="3" name="TextBox 2"/>
          <p:cNvSpPr txBox="1"/>
          <p:nvPr/>
        </p:nvSpPr>
        <p:spPr>
          <a:xfrm>
            <a:off x="457200" y="4114800"/>
            <a:ext cx="11247120" cy="548640"/>
          </a:xfrm>
          <a:prstGeom prst="rect">
            <a:avLst/>
          </a:prstGeom>
          <a:noFill/>
        </p:spPr>
        <p:txBody>
          <a:bodyPr wrap="square">
            <a:spAutoFit/>
          </a:bodyPr>
          <a:lstStyle/>
          <a:p>
            <a:r>
              <a:rPr sz="1600" i="1">
                <a:solidFill>
                  <a:srgbClr val="E8B5C8"/>
                </a:solidFill>
                <a:latin typeface="Calibri"/>
              </a:rPr>
              <a:t>IndexLookup is one of four descriptor types in the broader RidSet pre-filter mechanism — see the companion deck for the full picture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