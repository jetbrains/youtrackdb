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2" r:id="rId14"/>
    <p:sldId id="294" r:id="rId46"/>
    <p:sldId id="263" r:id="rId15"/>
    <p:sldId id="289" r:id="rId41"/>
    <p:sldId id="290" r:id="rId42"/>
    <p:sldId id="291" r:id="rId43"/>
    <p:sldId id="292" r:id="rId44"/>
    <p:sldId id="293" r:id="rId45"/>
    <p:sldId id="264" r:id="rId16"/>
    <p:sldId id="265" r:id="rId17"/>
    <p:sldId id="266" r:id="rId18"/>
    <p:sldId id="273" r:id="rId25"/>
    <p:sldId id="295" r:id="rId47"/>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4" Type="http://schemas.openxmlformats.org/officeDocument/2006/relationships/slide" Target="slides/slide6.xml"/><Relationship Id="rId15" Type="http://schemas.openxmlformats.org/officeDocument/2006/relationships/slide" Target="slides/slide8.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25" Type="http://schemas.openxmlformats.org/officeDocument/2006/relationships/slide" Target="slides/slide17.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9.xml"/><Relationship Id="rId42" Type="http://schemas.openxmlformats.org/officeDocument/2006/relationships/slide" Target="slides/slide10.xml"/><Relationship Id="rId43" Type="http://schemas.openxmlformats.org/officeDocument/2006/relationships/slide" Target="slides/slide11.xml"/><Relationship Id="rId44" Type="http://schemas.openxmlformats.org/officeDocument/2006/relationships/slide" Target="slides/slide12.xml"/><Relationship Id="rId45" Type="http://schemas.openxmlformats.org/officeDocument/2006/relationships/slide" Target="slides/slide13.xml"/><Relationship Id="rId46" Type="http://schemas.openxmlformats.org/officeDocument/2006/relationships/slide" Target="slides/slide7.xml"/><Relationship Id="rId47"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talk covers the pre-filter mechanism for MATCH edge traversals. Three PRs that share one idea: filter vertices before you load them from disk. I will walk you through the architecture, then the cost model, then how to read what the optimization does at runtime through PROFILE. By the end you should be able to debug a MATCH query and know whether the pre-filter fired, why, and what it cost.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Look at the diagram. A MATCH edge traversal walks a LinkBag, calls loadEntity for each RID, then asks the WHERE clause if the vertex matches. That loadEntity call is the expensive part. On a forum with ten thousand posts, when WHERE matches three of them, we load and throw away nine thousand nine hundred ninety seven. The fix is small in idea and big in plumbing: we push the filter before the load. If we know the class we want, we check the collection ID. If we have an index, we resolve to a RID set and intersect. If we have a back-reference to a bound vertex, we intersect with its reverse LinkBag. Three PRs build, validate, and tune this mechanism.</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Quick glossary for anyone who has not touched MATCH. MATCH is our pattern matching SQL extension. The shape inside curly braces is a vertex, followed by an edge step like out or in, then another vertex. LinkBag is the on disk list of target RIDs of an edge. RID is record ID, cluster plus position. Collection ID is the numeric tag every record carries identifying its class. Dollar matched is the MATCH context that holds already bound aliases. LDBC SNB is the social network benchmark suite. PROFILE is the SQL keyword that emits per step counters. If you forget any of these, this slide is the cheat sheet.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LDBC IC3, friends in countries. The reason it is our anchor is that it carries four different filter shapes in a single query. There is a date range on the message that maps to an index. There is an IN list on the message country, also indexed. There is a NOT IN list on the person country. And the whole thing has two branches from the friend vertex. We will see each PR in this talk hit a different one of those four shapes.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did not pick these three patterns from a textbook. They came out of profiling LDBC SNB. Take our anchor IC3: the date range and IN list are both index-backed property filters, and the NOT IN list against the person country is effectively a class filter. So IC3 alone hits two of the three classes. IC5 adds the third one, the back-reference on its final edge. The three rows in the table are the three forms of 'we know in advance this vertex will be rejected, and we can prove it without loading the vertex.'</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MATCH planner already does cost-based edge ordering. It picks the cheapest edge first, then the next cheapest given the bindings so far. That part works. The gap is that once an edge is chosen, the runtime treats it as a plain LinkBag walk. It does not look at the target's WHERE clause, and it does not look at whether another alias has pinned the target's RID. Closing this gap is what the first PR does.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descriptor types cover the three bottleneck classes. Case A checks the class through the collection ID, no disk access at all. Case B asks the index for the set of RIDs that match the condition, then intersects. Case C reads the reverse adjacency list of the already-bound vertex and intersects. All three end up as fields on the LinkBag iterator. The iterator checks them before it calls loadEntity. Same iterator code, three different data sources for what RIDs are acceptable here.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Pre-filter is not MATCH-only. SELECT expand(out('E')) followed by a WHERE is the same problem in a different syntax. So the analyzer lives in TraversalPreFilterHelper, and both ExpandStep and MatchEdgeTraverser call it. One place to maintain, one place to test, one set of descriptor types. When someone adds a new query shape later, they extend the helper and both call sites pick it up.</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planner pass is a second pass. The first pass reorders edges by cost. The second pass walks the ordered edges and asks: does this edge's target have a WHERE that we can pre-filter? If yes, attach a descriptor. This separation matters. The cost model already estimates selectivity. We reuse that estimate to gate attachment.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picture for IC5. The forward LinkBag is huge: every post in the forum. The reverse LinkBag is small: posts created by this one friend. Their intersection is what we actually want. The data structure underneath is RidSet, rewritten in PR seven eighty one to use an IntMap of Roaring bitmaps. Membership test is a few instructions.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concrete descriptor types now, each with its own check. DirectRid always passes because it is a singleton. EdgeRidLookup keeps the per-vertex overlap ratio, threshold zero point eight. IndexLookup asks the index statistics for class-level selectivity, threshold zero point nine five. Composite passes if any child passes.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selectivity check decides whether to pre-filter. We also need to decide when to materialise. Building the RID set is not free. One index scan, one allocation. If the traversal only touches a handful of vertices, the build cost never amortises. The formula is the break-even. If the LinkBag walk will touch at least m entries, the build is worth it.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modes. BUILD_EAGER materialises on the first qualifying vertex. DEFERRED_WITH_NET waits. Three conditions need to hold for eager: the forecast says we will touch more than m entries, the root sample size is statistically meaningful, and the selectivity estimate exists. If any fails, we defer and let the runtime accumulator decide. The decision is memoized per edge.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forecast is sourceRows times mean fan-out. We are treating the sources as a sample from the fan-out distribution. The Central Limit Theorem says the mean of a sample of size N has relative error proportional to one over square root of N. For LDBC SNB the fan-out distribution is heavy-tailed. Messages per person follows a power law. With a small sample, the forecast is unreliable. Committing to BUILD_EAGER on a bad forecast is the worst outcome: we pay the build, the traversal stops early, we never amortise. Thirty is the textbook threshold for CLT.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detail with a sharp edge. Before PR nine seventy three, when the selectivity estimate came back as unknown, we proceeded optimistically. That was safe because the RID set cap was a hard one hundred kilobytes. The cap was a safety net. PR nine seventy three auto-scales the cap based on heap size, up to ten million. The safety net is gone. So we changed the optimistic PROCEED to a defensive REJECT, with a named skip reason.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what you read when debugging a slow query. Per edge, you see whether the pre-filter applied, how many times, the build time, the filter rate. When it did not apply you see why, with the threshold that was checked. Eight skip reasons cover every gate in the pipeline. This output is the contract for the next person who has to debug a pre-filter regression.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wins per PR, each row from that PR's own JMH comparison. PR eight twenty two: IC7 over ten times, IC12 over two times, IS7 over two times. PR nine twenty three is a test suite PR; no headline benchmark delta, but the test suite is what catches regressions in the rest of the chain. PR nine seventy three: IC3 over eleven times, IC9 nearly five times. The caveat below the table matters. Each percentage is against a different fork point, you cannot add them. The chain produced two queries with over ten times speedup on its own, IC7 from #822 and IC3 from #973.</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 to the query we opened with. Pre-filter fires at three sites in IC3. Two IndexLookup descriptors, one class filter. PR eight twenty two enables all three. PR nine seventy three tunes the IndexLookup activation so it stays correct across all vertices in the traversal. The multi-branch structure of IC3 is optimised by a sibling project on hash join that is not part of this talk.</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things on the roadmap. Live cost measurement so the load-to-scan ratio adapts to the storage tier. Histograms on edge properties so fan-out estimates pick up correlation. Composite pre-filter that combines index lookup and back-reference in one descriptor. And tighter integration with the hash-join work that lives in a sibling project.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files, in order. Start with the helper that builds descriptors, follow the planner pass that attaches them, then the runtime decision in resolveWithCache, then the per-descriptor selectivity check, then the PROFILE output. The ADR for PR eight twenty two is the durable design document. Thanks. Questions.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internal cache that PR nine seventy three hardened. The cache stores RID sets. When a key is rejected we cache null. Without the parallel reasons map, an interleaved skip on a different vertex would mask the original cause in PROFILE.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most common question on this PR. We have loadToScanRatio as a configurable constant, default one hundred. Why not measure it live? Because pre-filter pre-rejects vertices that we would have measured. The sample is biased toward cheap loads. To get an unbiased measurement we have to collect from queries where pre-filter did not run, and we have not built that path yet.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TextBox 1"/>
          <p:cNvSpPr txBox="1"/>
          <p:nvPr/>
        </p:nvSpPr>
        <p:spPr>
          <a:xfrm>
            <a:off x="457200" y="2286000"/>
            <a:ext cx="11247120" cy="1371600"/>
          </a:xfrm>
          <a:prstGeom prst="rect">
            <a:avLst/>
          </a:prstGeom>
          <a:noFill/>
        </p:spPr>
        <p:txBody>
          <a:bodyPr wrap="none">
            <a:spAutoFit/>
          </a:bodyPr>
          <a:lstStyle/>
          <a:p>
            <a:pPr algn="ctr">
              <a:defRPr sz="4800" b="1">
                <a:solidFill>
                  <a:srgbClr val="FF318C"/>
                </a:solidFill>
                <a:latin typeface="Calibri"/>
              </a:defRPr>
            </a:pPr>
            <a:r>
              <a:t>RidSet Pre-Filter in MATCH</a:t>
            </a:r>
          </a:p>
        </p:txBody>
      </p:sp>
      <p:sp>
        <p:nvSpPr>
          <p:cNvPr id="3" name="TextBox 2"/>
          <p:cNvSpPr txBox="1"/>
          <p:nvPr/>
        </p:nvSpPr>
        <p:spPr>
          <a:xfrm>
            <a:off x="457200" y="3749039"/>
            <a:ext cx="11247120" cy="548640"/>
          </a:xfrm>
          <a:prstGeom prst="rect">
            <a:avLst/>
          </a:prstGeom>
          <a:noFill/>
        </p:spPr>
        <p:txBody>
          <a:bodyPr wrap="none">
            <a:spAutoFit/>
          </a:bodyPr>
          <a:lstStyle/>
          <a:p>
            <a:pPr algn="ctr">
              <a:defRPr sz="2200">
                <a:solidFill>
                  <a:srgbClr val="FFA0C8"/>
                </a:solidFill>
                <a:latin typeface="Calibri"/>
              </a:defRPr>
            </a:pPr>
            <a:r>
              <a:t>Filter link bags by RID intersection — before loadEntity()</a:t>
            </a:r>
          </a:p>
        </p:txBody>
      </p:sp>
      <p:sp>
        <p:nvSpPr>
          <p:cNvPr id="4" name="TextBox 3"/>
          <p:cNvSpPr txBox="1"/>
          <p:nvPr/>
        </p:nvSpPr>
        <p:spPr>
          <a:xfrm>
            <a:off x="457200" y="4846320"/>
            <a:ext cx="11247120" cy="457200"/>
          </a:xfrm>
          <a:prstGeom prst="rect">
            <a:avLst/>
          </a:prstGeom>
          <a:noFill/>
        </p:spPr>
        <p:txBody>
          <a:bodyPr wrap="none">
            <a:spAutoFit/>
          </a:bodyPr>
          <a:lstStyle/>
          <a:p>
            <a:pPr algn="ctr">
              <a:defRPr sz="1800">
                <a:solidFill>
                  <a:srgbClr val="E0E0E0"/>
                </a:solidFill>
                <a:latin typeface="Calibri"/>
              </a:defRPr>
            </a:pPr>
            <a:r>
              <a:t>Sandra Adamiec  ·  YouTrackDB</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spAutoFit/>
          </a:bodyPr>
          <a:lstStyle/>
          <a:p>
            <a:pPr>
              <a:defRPr sz="2800" b="1">
                <a:solidFill>
                  <a:srgbClr val="FF318C"/>
                </a:solidFill>
                <a:latin typeface="Calibri"/>
              </a:defRPr>
            </a:pPr>
            <a:r>
              <a:t>TL;DR — pre-filter MATCH edge traversals</a:t>
            </a:r>
          </a:p>
        </p:txBody>
      </p:sp>
      <p:sp>
        <p:nvSpPr>
          <p:cNvPr id="3" name="TextBox 2"/>
          <p:cNvSpPr txBox="1"/>
          <p:nvPr/>
        </p:nvSpPr>
        <p:spPr>
          <a:xfrm>
            <a:off x="548640" y="1005840"/>
            <a:ext cx="10972800" cy="1828800"/>
          </a:xfrm>
          <a:prstGeom prst="rect">
            <a:avLst/>
          </a:prstGeom>
          <a:noFill/>
        </p:spPr>
        <p:txBody>
          <a:bodyPr wrap="square">
            <a:spAutoFit/>
          </a:bodyPr>
          <a:lstStyle/>
          <a:p>
            <a:pPr algn="l">
              <a:lnSpc>
                <a:spcPct val="115000"/>
              </a:lnSpc>
            </a:pPr>
            <a:r>
              <a:rPr sz="1700" b="0">
                <a:solidFill>
                  <a:srgbClr val="E0E0E0"/>
                </a:solidFill>
                <a:latin typeface="Calibri"/>
              </a:rPr>
              <a:t>• MATCH walks a link bag of RIDs, then loads each vertex to evaluate WHERE — wastes I/O when most are rejected</a:t>
            </a:r>
          </a:p>
          <a:p>
            <a:r>
              <a:rPr sz="1700" b="0">
                <a:solidFill>
                  <a:srgbClr val="E0E0E0"/>
                </a:solidFill>
                <a:latin typeface="Calibri"/>
              </a:rPr>
              <a:t>• Pre-filter intersects the link bag with a pre-computed RID set </a:t>
            </a:r>
            <a:r>
              <a:rPr sz="1700" b="1">
                <a:solidFill>
                  <a:srgbClr val="FCB13E"/>
                </a:solidFill>
                <a:latin typeface="Calibri"/>
              </a:rPr>
              <a:t>before </a:t>
            </a:r>
            <a:r>
              <a:rPr sz="1700" b="0">
                <a:solidFill>
                  <a:srgbClr val="E0E0E0"/>
                </a:solidFill>
                <a:latin typeface="Calibri"/>
              </a:rPr>
              <a:t>loadEntity() is called</a:t>
            </a:r>
          </a:p>
          <a:p>
            <a:r>
              <a:rPr sz="1700" b="0">
                <a:solidFill>
                  <a:srgbClr val="E0E0E0"/>
                </a:solidFill>
                <a:latin typeface="Calibri"/>
              </a:rPr>
              <a:t>• Four descriptor types build that RID set: </a:t>
            </a:r>
            <a:r>
              <a:rPr sz="1700" b="1">
                <a:solidFill>
                  <a:srgbClr val="FCB13E"/>
                </a:solidFill>
                <a:latin typeface="Calibri"/>
              </a:rPr>
              <a:t>DirectRid</a:t>
            </a:r>
            <a:r>
              <a:rPr sz="1700" b="0">
                <a:solidFill>
                  <a:srgbClr val="E0E0E0"/>
                </a:solidFill>
                <a:latin typeface="Calibri"/>
              </a:rPr>
              <a:t>, </a:t>
            </a:r>
            <a:r>
              <a:rPr sz="1700" b="1">
                <a:solidFill>
                  <a:srgbClr val="FCB13E"/>
                </a:solidFill>
                <a:latin typeface="Calibri"/>
              </a:rPr>
              <a:t>EdgeRidLookup</a:t>
            </a:r>
            <a:r>
              <a:rPr sz="1700" b="0">
                <a:solidFill>
                  <a:srgbClr val="E0E0E0"/>
                </a:solidFill>
                <a:latin typeface="Calibri"/>
              </a:rPr>
              <a:t>, </a:t>
            </a:r>
            <a:r>
              <a:rPr sz="1700" b="1">
                <a:solidFill>
                  <a:srgbClr val="FCB13E"/>
                </a:solidFill>
                <a:latin typeface="Calibri"/>
              </a:rPr>
              <a:t>IndexLookup</a:t>
            </a:r>
            <a:r>
              <a:rPr sz="1700" b="0">
                <a:solidFill>
                  <a:srgbClr val="E0E0E0"/>
                </a:solidFill>
                <a:latin typeface="Calibri"/>
              </a:rPr>
              <a:t>, </a:t>
            </a:r>
            <a:r>
              <a:rPr sz="1700" b="1">
                <a:solidFill>
                  <a:srgbClr val="FCB13E"/>
                </a:solidFill>
                <a:latin typeface="Calibri"/>
              </a:rPr>
              <a:t>Composite</a:t>
            </a:r>
          </a:p>
          <a:p>
            <a:r>
              <a:rPr sz="1700" b="0">
                <a:solidFill>
                  <a:srgbClr val="E0E0E0"/>
                </a:solidFill>
                <a:latin typeface="Calibri"/>
              </a:rPr>
              <a:t>• Two gates decide whether to build: </a:t>
            </a:r>
            <a:r>
              <a:rPr sz="1700" b="1">
                <a:solidFill>
                  <a:srgbClr val="FCB13E"/>
                </a:solidFill>
                <a:latin typeface="Calibri"/>
              </a:rPr>
              <a:t>selectivity</a:t>
            </a:r>
            <a:r>
              <a:rPr sz="1700" b="0">
                <a:solidFill>
                  <a:srgbClr val="E0E0E0"/>
                </a:solidFill>
                <a:latin typeface="Calibri"/>
              </a:rPr>
              <a:t> (per-type) and </a:t>
            </a:r>
            <a:r>
              <a:rPr sz="1700" b="1">
                <a:solidFill>
                  <a:srgbClr val="FCB13E"/>
                </a:solidFill>
                <a:latin typeface="Calibri"/>
              </a:rPr>
              <a:t>amortization</a:t>
            </a:r>
            <a:r>
              <a:rPr sz="1700" b="0">
                <a:solidFill>
                  <a:srgbClr val="E0E0E0"/>
                </a:solidFill>
                <a:latin typeface="Calibri"/>
              </a:rPr>
              <a:t> (IndexLookup only — break-even on build cost)</a:t>
            </a:r>
          </a:p>
          <a:p>
            <a:r>
              <a:rPr sz="1700" b="0">
                <a:solidFill>
                  <a:srgbClr val="E0E0E0"/>
                </a:solidFill>
                <a:latin typeface="Calibri"/>
              </a:rPr>
              <a:t>• Measured impact on LDBC SF 1: IC3 </a:t>
            </a:r>
            <a:r>
              <a:rPr sz="1700" b="1">
                <a:solidFill>
                  <a:srgbClr val="FCB13E"/>
                </a:solidFill>
                <a:latin typeface="Calibri"/>
              </a:rPr>
              <a:t>+1117%</a:t>
            </a:r>
            <a:r>
              <a:rPr sz="1700" b="0">
                <a:solidFill>
                  <a:srgbClr val="E0E0E0"/>
                </a:solidFill>
                <a:latin typeface="Calibri"/>
              </a:rPr>
              <a:t>, IC7 </a:t>
            </a:r>
            <a:r>
              <a:rPr sz="1700" b="1">
                <a:solidFill>
                  <a:srgbClr val="FCB13E"/>
                </a:solidFill>
                <a:latin typeface="Calibri"/>
              </a:rPr>
              <a:t>+1087%</a:t>
            </a:r>
            <a:r>
              <a:rPr sz="1700" b="0">
                <a:solidFill>
                  <a:srgbClr val="E0E0E0"/>
                </a:solidFill>
                <a:latin typeface="Calibri"/>
              </a:rPr>
              <a:t>, IC9 </a:t>
            </a:r>
            <a:r>
              <a:rPr sz="1700" b="1">
                <a:solidFill>
                  <a:srgbClr val="FCB13E"/>
                </a:solidFill>
                <a:latin typeface="Calibri"/>
              </a:rPr>
              <a:t>+483%</a:t>
            </a:r>
            <a:r>
              <a:rPr sz="1700" b="0">
                <a:solidFill>
                  <a:srgbClr val="E0E0E0"/>
                </a:solidFill>
                <a:latin typeface="Calibri"/>
              </a:rPr>
              <a:t>, IS7 </a:t>
            </a:r>
            <a:r>
              <a:rPr sz="1700" b="1">
                <a:solidFill>
                  <a:srgbClr val="FCB13E"/>
                </a:solidFill>
                <a:latin typeface="Calibri"/>
              </a:rPr>
              <a:t>+220%</a:t>
            </a:r>
          </a:p>
        </p:txBody>
      </p:sp>
      <p:pic>
        <p:nvPicPr>
          <p:cNvPr id="4" name="Picture 3" descr="image.png"/>
          <p:cNvPicPr>
            <a:picLocks noChangeAspect="1"/>
          </p:cNvPicPr>
          <p:nvPr/>
        </p:nvPicPr>
        <p:blipFill>
          <a:blip r:embed="rId2"/>
          <a:stretch>
            <a:fillRect/>
          </a:stretch>
        </p:blipFill>
        <p:spPr>
          <a:xfrm>
            <a:off x="457200" y="3108960"/>
            <a:ext cx="11247120" cy="4060802"/>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spAutoFit/>
          </a:bodyPr>
          <a:lstStyle/>
          <a:p>
            <a:pPr>
              <a:defRPr sz="2800" b="1">
                <a:solidFill>
                  <a:srgbClr val="FF318C"/>
                </a:solidFill>
                <a:latin typeface="Calibri"/>
              </a:defRPr>
            </a:pPr>
            <a:r>
              <a:t>Glossary for the next 25 minutes</a:t>
            </a:r>
          </a:p>
        </p:txBody>
      </p:sp>
      <p:graphicFrame>
        <p:nvGraphicFramePr>
          <p:cNvPr id="3" name="Table 2"/>
          <p:cNvGraphicFramePr>
            <a:graphicFrameLocks noGrp="1"/>
          </p:cNvGraphicFramePr>
          <p:nvPr/>
        </p:nvGraphicFramePr>
        <p:xfrm>
          <a:off x="548640" y="1005840"/>
          <a:ext cx="10972799" cy="5303520"/>
        </p:xfrm>
        <a:graphic>
          <a:graphicData uri="http://schemas.openxmlformats.org/drawingml/2006/table">
            <a:tbl>
              <a:tblPr firstRow="1" bandRow="1">
                <a:tableStyleId>{5C22544A-7EE6-4342-B048-85BDC9FD1C3A}</a:tableStyleId>
              </a:tblPr>
              <a:tblGrid>
                <a:gridCol w="2904564"/>
                <a:gridCol w="8068235"/>
              </a:tblGrid>
              <a:tr h="530352">
                <a:tc>
                  <a:txBody>
                    <a:bodyPr wrap="square" lIns="73152" rIns="73152" tIns="36576" bIns="36576"/>
                    <a:lstStyle/>
                    <a:p>
                      <a:pPr algn="l"/>
                      <a:r>
                        <a:rPr sz="1200" b="1">
                          <a:solidFill>
                            <a:srgbClr val="FFA0C8"/>
                          </a:solidFill>
                          <a:latin typeface="Calibri"/>
                        </a:rPr>
                        <a:t>Term</a:t>
                      </a:r>
                    </a:p>
                  </a:txBody>
                  <a:tcPr>
                    <a:solidFill>
                      <a:srgbClr val="401530"/>
                    </a:solidFill>
                  </a:tcPr>
                </a:tc>
                <a:tc>
                  <a:txBody>
                    <a:bodyPr wrap="square" lIns="73152" rIns="73152" tIns="36576" bIns="36576"/>
                    <a:lstStyle/>
                    <a:p>
                      <a:pPr algn="l"/>
                      <a:r>
                        <a:rPr sz="1200" b="1">
                          <a:solidFill>
                            <a:srgbClr val="FFA0C8"/>
                          </a:solidFill>
                          <a:latin typeface="Calibri"/>
                        </a:rPr>
                        <a:t>One-line definition</a:t>
                      </a:r>
                    </a:p>
                  </a:txBody>
                  <a:tcPr>
                    <a:solidFill>
                      <a:srgbClr val="401530"/>
                    </a:solidFill>
                  </a:tcPr>
                </a:tc>
              </a:tr>
              <a:tr h="530352">
                <a:tc>
                  <a:txBody>
                    <a:bodyPr wrap="square" lIns="73152" rIns="73152" tIns="36576" bIns="36576"/>
                    <a:lstStyle/>
                    <a:p>
                      <a:pPr algn="l"/>
                      <a:r>
                        <a:rPr sz="1200" b="1">
                          <a:solidFill>
                            <a:srgbClr val="FCB13E"/>
                          </a:solidFill>
                          <a:latin typeface="Calibri"/>
                        </a:rPr>
                        <a:t>MATCH</a:t>
                      </a:r>
                    </a:p>
                  </a:txBody>
                  <a:tcPr>
                    <a:solidFill>
                      <a:srgbClr val="15152A"/>
                    </a:solidFill>
                  </a:tcPr>
                </a:tc>
                <a:tc>
                  <a:txBody>
                    <a:bodyPr wrap="square" lIns="73152" rIns="73152" tIns="36576" bIns="36576"/>
                    <a:lstStyle/>
                    <a:p>
                      <a:pPr algn="l"/>
                      <a:r>
                        <a:rPr sz="1200">
                          <a:solidFill>
                            <a:srgbClr val="E0E0E0"/>
                          </a:solidFill>
                          <a:latin typeface="Calibri"/>
                        </a:rPr>
                        <a:t>YTDB's pattern-matching SQL extension. {class: X, as: a, where: …}.out('E'){as: b}</a:t>
                      </a:r>
                    </a:p>
                  </a:txBody>
                  <a:tcPr>
                    <a:solidFill>
                      <a:srgbClr val="15152A"/>
                    </a:solidFill>
                  </a:tcPr>
                </a:tc>
              </a:tr>
              <a:tr h="530352">
                <a:tc>
                  <a:txBody>
                    <a:bodyPr wrap="square" lIns="73152" rIns="73152" tIns="36576" bIns="36576"/>
                    <a:lstStyle/>
                    <a:p>
                      <a:pPr algn="l"/>
                      <a:r>
                        <a:rPr sz="1200" b="1">
                          <a:solidFill>
                            <a:srgbClr val="FCB13E"/>
                          </a:solidFill>
                          <a:latin typeface="Calibri"/>
                        </a:rPr>
                        <a:t>LinkBag</a:t>
                      </a:r>
                    </a:p>
                  </a:txBody>
                  <a:tcPr>
                    <a:solidFill>
                      <a:srgbClr val="1D1D35"/>
                    </a:solidFill>
                  </a:tcPr>
                </a:tc>
                <a:tc>
                  <a:txBody>
                    <a:bodyPr wrap="square" lIns="73152" rIns="73152" tIns="36576" bIns="36576"/>
                    <a:lstStyle/>
                    <a:p>
                      <a:pPr algn="l"/>
                      <a:r>
                        <a:rPr sz="1200">
                          <a:solidFill>
                            <a:srgbClr val="E0E0E0"/>
                          </a:solidFill>
                          <a:latin typeface="Calibri"/>
                        </a:rPr>
                        <a:t>YTDB's on-disk list of target RIDs that an edge property holds</a:t>
                      </a:r>
                    </a:p>
                  </a:txBody>
                  <a:tcPr>
                    <a:solidFill>
                      <a:srgbClr val="1D1D35"/>
                    </a:solidFill>
                  </a:tcPr>
                </a:tc>
              </a:tr>
              <a:tr h="530352">
                <a:tc>
                  <a:txBody>
                    <a:bodyPr wrap="square" lIns="73152" rIns="73152" tIns="36576" bIns="36576"/>
                    <a:lstStyle/>
                    <a:p>
                      <a:pPr algn="l"/>
                      <a:r>
                        <a:rPr sz="1200" b="1">
                          <a:solidFill>
                            <a:srgbClr val="FCB13E"/>
                          </a:solidFill>
                          <a:latin typeface="Calibri"/>
                        </a:rPr>
                        <a:t>RID</a:t>
                      </a:r>
                    </a:p>
                  </a:txBody>
                  <a:tcPr>
                    <a:solidFill>
                      <a:srgbClr val="15152A"/>
                    </a:solidFill>
                  </a:tcPr>
                </a:tc>
                <a:tc>
                  <a:txBody>
                    <a:bodyPr wrap="square" lIns="73152" rIns="73152" tIns="36576" bIns="36576"/>
                    <a:lstStyle/>
                    <a:p>
                      <a:pPr algn="l"/>
                      <a:r>
                        <a:rPr sz="1200">
                          <a:solidFill>
                            <a:srgbClr val="E0E0E0"/>
                          </a:solidFill>
                          <a:latin typeface="Calibri"/>
                        </a:rPr>
                        <a:t>Record ID, cluster:position. Cluster ≈ a class's storage segment</a:t>
                      </a:r>
                    </a:p>
                  </a:txBody>
                  <a:tcPr>
                    <a:solidFill>
                      <a:srgbClr val="15152A"/>
                    </a:solidFill>
                  </a:tcPr>
                </a:tc>
              </a:tr>
              <a:tr h="530352">
                <a:tc>
                  <a:txBody>
                    <a:bodyPr wrap="square" lIns="73152" rIns="73152" tIns="36576" bIns="36576"/>
                    <a:lstStyle/>
                    <a:p>
                      <a:pPr algn="l"/>
                      <a:r>
                        <a:rPr sz="1200" b="1">
                          <a:solidFill>
                            <a:srgbClr val="FCB13E"/>
                          </a:solidFill>
                          <a:latin typeface="Calibri"/>
                        </a:rPr>
                        <a:t>collection ID</a:t>
                      </a:r>
                    </a:p>
                  </a:txBody>
                  <a:tcPr>
                    <a:solidFill>
                      <a:srgbClr val="1D1D35"/>
                    </a:solidFill>
                  </a:tcPr>
                </a:tc>
                <a:tc>
                  <a:txBody>
                    <a:bodyPr wrap="square" lIns="73152" rIns="73152" tIns="36576" bIns="36576"/>
                    <a:lstStyle/>
                    <a:p>
                      <a:pPr algn="l"/>
                      <a:r>
                        <a:rPr sz="1200">
                          <a:solidFill>
                            <a:srgbClr val="E0E0E0"/>
                          </a:solidFill>
                          <a:latin typeface="Calibri"/>
                        </a:rPr>
                        <a:t>Numeric tag every record carries — lets us check class without loading</a:t>
                      </a:r>
                    </a:p>
                  </a:txBody>
                  <a:tcPr>
                    <a:solidFill>
                      <a:srgbClr val="1D1D35"/>
                    </a:solidFill>
                  </a:tcPr>
                </a:tc>
              </a:tr>
              <a:tr h="530352">
                <a:tc>
                  <a:txBody>
                    <a:bodyPr wrap="square" lIns="73152" rIns="73152" tIns="36576" bIns="36576"/>
                    <a:lstStyle/>
                    <a:p>
                      <a:pPr algn="l"/>
                      <a:r>
                        <a:rPr sz="1200" b="1">
                          <a:solidFill>
                            <a:srgbClr val="FCB13E"/>
                          </a:solidFill>
                          <a:latin typeface="Calibri"/>
                        </a:rPr>
                        <a:t>@class, @rid</a:t>
                      </a:r>
                    </a:p>
                  </a:txBody>
                  <a:tcPr>
                    <a:solidFill>
                      <a:srgbClr val="15152A"/>
                    </a:solidFill>
                  </a:tcPr>
                </a:tc>
                <a:tc>
                  <a:txBody>
                    <a:bodyPr wrap="square" lIns="73152" rIns="73152" tIns="36576" bIns="36576"/>
                    <a:lstStyle/>
                    <a:p>
                      <a:pPr algn="l"/>
                      <a:r>
                        <a:rPr sz="1200">
                          <a:solidFill>
                            <a:srgbClr val="E0E0E0"/>
                          </a:solidFill>
                          <a:latin typeface="Calibri"/>
                        </a:rPr>
                        <a:t>Metadata accessors in SQL: class name and RID of the current record</a:t>
                      </a:r>
                    </a:p>
                  </a:txBody>
                  <a:tcPr>
                    <a:solidFill>
                      <a:srgbClr val="15152A"/>
                    </a:solidFill>
                  </a:tcPr>
                </a:tc>
              </a:tr>
              <a:tr h="530352">
                <a:tc>
                  <a:txBody>
                    <a:bodyPr wrap="square" lIns="73152" rIns="73152" tIns="36576" bIns="36576"/>
                    <a:lstStyle/>
                    <a:p>
                      <a:pPr algn="l"/>
                      <a:r>
                        <a:rPr sz="1200" b="1">
                          <a:solidFill>
                            <a:srgbClr val="FCB13E"/>
                          </a:solidFill>
                          <a:latin typeface="Calibri"/>
                        </a:rPr>
                        <a:t>$matched</a:t>
                      </a:r>
                    </a:p>
                  </a:txBody>
                  <a:tcPr>
                    <a:solidFill>
                      <a:srgbClr val="1D1D35"/>
                    </a:solidFill>
                  </a:tcPr>
                </a:tc>
                <a:tc>
                  <a:txBody>
                    <a:bodyPr wrap="square" lIns="73152" rIns="73152" tIns="36576" bIns="36576"/>
                    <a:lstStyle/>
                    <a:p>
                      <a:pPr algn="l"/>
                      <a:r>
                        <a:rPr sz="1200">
                          <a:solidFill>
                            <a:srgbClr val="E0E0E0"/>
                          </a:solidFill>
                          <a:latin typeface="Calibri"/>
                        </a:rPr>
                        <a:t>Inside MATCH, the bindings already made earlier in the pattern</a:t>
                      </a:r>
                    </a:p>
                  </a:txBody>
                  <a:tcPr>
                    <a:solidFill>
                      <a:srgbClr val="1D1D35"/>
                    </a:solidFill>
                  </a:tcPr>
                </a:tc>
              </a:tr>
              <a:tr h="530352">
                <a:tc>
                  <a:txBody>
                    <a:bodyPr wrap="square" lIns="73152" rIns="73152" tIns="36576" bIns="36576"/>
                    <a:lstStyle/>
                    <a:p>
                      <a:pPr algn="l"/>
                      <a:r>
                        <a:rPr sz="1200" b="1">
                          <a:solidFill>
                            <a:srgbClr val="FCB13E"/>
                          </a:solidFill>
                          <a:latin typeface="Calibri"/>
                        </a:rPr>
                        <a:t>LDBC SNB IC1–IC13</a:t>
                      </a:r>
                    </a:p>
                  </a:txBody>
                  <a:tcPr>
                    <a:solidFill>
                      <a:srgbClr val="15152A"/>
                    </a:solidFill>
                  </a:tcPr>
                </a:tc>
                <a:tc>
                  <a:txBody>
                    <a:bodyPr wrap="square" lIns="73152" rIns="73152" tIns="36576" bIns="36576"/>
                    <a:lstStyle/>
                    <a:p>
                      <a:pPr algn="l"/>
                      <a:r>
                        <a:rPr sz="1200">
                          <a:solidFill>
                            <a:srgbClr val="E0E0E0"/>
                          </a:solidFill>
                          <a:latin typeface="Calibri"/>
                        </a:rPr>
                        <a:t>Standard graph-DB benchmark suite. Each IC is a fixed read-heavy query</a:t>
                      </a:r>
                    </a:p>
                  </a:txBody>
                  <a:tcPr>
                    <a:solidFill>
                      <a:srgbClr val="15152A"/>
                    </a:solidFill>
                  </a:tcPr>
                </a:tc>
              </a:tr>
              <a:tr h="530352">
                <a:tc>
                  <a:txBody>
                    <a:bodyPr wrap="square" lIns="73152" rIns="73152" tIns="36576" bIns="36576"/>
                    <a:lstStyle/>
                    <a:p>
                      <a:pPr algn="l"/>
                      <a:r>
                        <a:rPr sz="1200" b="1">
                          <a:solidFill>
                            <a:srgbClr val="FCB13E"/>
                          </a:solidFill>
                          <a:latin typeface="Calibri"/>
                        </a:rPr>
                        <a:t>pre-filter</a:t>
                      </a:r>
                    </a:p>
                  </a:txBody>
                  <a:tcPr>
                    <a:solidFill>
                      <a:srgbClr val="1D1D35"/>
                    </a:solidFill>
                  </a:tcPr>
                </a:tc>
                <a:tc>
                  <a:txBody>
                    <a:bodyPr wrap="square" lIns="73152" rIns="73152" tIns="36576" bIns="36576"/>
                    <a:lstStyle/>
                    <a:p>
                      <a:pPr algn="l"/>
                      <a:r>
                        <a:rPr sz="1200">
                          <a:solidFill>
                            <a:srgbClr val="E0E0E0"/>
                          </a:solidFill>
                          <a:latin typeface="Calibri"/>
                        </a:rPr>
                        <a:t>Reject a vertex *before* the disk read that loads it</a:t>
                      </a:r>
                    </a:p>
                  </a:txBody>
                  <a:tcPr>
                    <a:solidFill>
                      <a:srgbClr val="1D1D35"/>
                    </a:solidFill>
                  </a:tcPr>
                </a:tc>
              </a:tr>
              <a:tr h="530352">
                <a:tc>
                  <a:txBody>
                    <a:bodyPr wrap="square" lIns="73152" rIns="73152" tIns="36576" bIns="36576"/>
                    <a:lstStyle/>
                    <a:p>
                      <a:pPr algn="l"/>
                      <a:r>
                        <a:rPr sz="1200" b="1">
                          <a:solidFill>
                            <a:srgbClr val="FCB13E"/>
                          </a:solidFill>
                          <a:latin typeface="Calibri"/>
                        </a:rPr>
                        <a:t>PROFILE</a:t>
                      </a:r>
                    </a:p>
                  </a:txBody>
                  <a:tcPr>
                    <a:solidFill>
                      <a:srgbClr val="15152A"/>
                    </a:solidFill>
                  </a:tcPr>
                </a:tc>
                <a:tc>
                  <a:txBody>
                    <a:bodyPr wrap="square" lIns="73152" rIns="73152" tIns="36576" bIns="36576"/>
                    <a:lstStyle/>
                    <a:p>
                      <a:pPr algn="l"/>
                      <a:r>
                        <a:rPr sz="1200">
                          <a:solidFill>
                            <a:srgbClr val="E0E0E0"/>
                          </a:solidFill>
                          <a:latin typeface="Calibri"/>
                        </a:rPr>
                        <a:t>SQL keyword wrapping a query, emits per-step timing and counters</a:t>
                      </a:r>
                    </a:p>
                  </a:txBody>
                  <a:tcPr>
                    <a:solidFill>
                      <a:srgbClr val="15152A"/>
                    </a:solid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spAutoFit/>
          </a:bodyPr>
          <a:lstStyle/>
          <a:p>
            <a:pPr>
              <a:defRPr sz="2800" b="1">
                <a:solidFill>
                  <a:srgbClr val="FF318C"/>
                </a:solidFill>
                <a:latin typeface="Calibri"/>
              </a:defRPr>
            </a:pPr>
            <a:r>
              <a:t>IC3 as our reference case</a:t>
            </a:r>
          </a:p>
        </p:txBody>
      </p:sp>
      <p:sp>
        <p:nvSpPr>
          <p:cNvPr id="3" name="Rounded Rectangle 2"/>
          <p:cNvSpPr/>
          <p:nvPr/>
        </p:nvSpPr>
        <p:spPr>
          <a:xfrm>
            <a:off x="548640" y="1005840"/>
            <a:ext cx="10972800" cy="3200400"/>
          </a:xfrm>
          <a:prstGeom prst="roundRect">
            <a:avLst/>
          </a:prstGeom>
          <a:solidFill>
            <a:srgbClr val="121224"/>
          </a:solidFill>
          <a:ln w="19050">
            <a:solidFill>
              <a:srgbClr val="3A3A5C"/>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lnSpc>
                <a:spcPct val="100000"/>
              </a:lnSpc>
            </a:pPr>
            <a:r>
              <a:rPr sz="1200">
                <a:solidFill>
                  <a:srgbClr val="A5D6A7"/>
                </a:solidFill>
                <a:latin typeface="Consolas"/>
              </a:rPr>
              <a:t>MATCH {class: Person, as: start, where: (id = :personId)}</a:t>
            </a:r>
          </a:p>
          <a:p>
            <a:pPr algn="l">
              <a:lnSpc>
                <a:spcPct val="100000"/>
              </a:lnSpc>
            </a:pPr>
            <a:r>
              <a:rPr sz="1200">
                <a:solidFill>
                  <a:srgbClr val="A5D6A7"/>
                </a:solidFill>
                <a:latin typeface="Consolas"/>
              </a:rPr>
              <a:t>  .out('KNOWS'){while $depth&lt;2, as: person,</a:t>
            </a:r>
          </a:p>
          <a:p>
            <a:pPr algn="l">
              <a:lnSpc>
                <a:spcPct val="100000"/>
              </a:lnSpc>
            </a:pPr>
            <a:r>
              <a:rPr sz="1200">
                <a:solidFill>
                  <a:srgbClr val="A5D6A7"/>
                </a:solidFill>
                <a:latin typeface="Consolas"/>
              </a:rPr>
              <a:t>                where @rid &lt;&gt; $matched.start.@rid},</a:t>
            </a:r>
          </a:p>
          <a:p>
            <a:pPr algn="l">
              <a:lnSpc>
                <a:spcPct val="100000"/>
              </a:lnSpc>
            </a:pPr>
            <a:r>
              <a:rPr sz="1200">
                <a:solidFill>
                  <a:srgbClr val="A5D6A7"/>
                </a:solidFill>
                <a:latin typeface="Consolas"/>
              </a:rPr>
              <a:t> </a:t>
            </a:r>
          </a:p>
          <a:p>
            <a:pPr algn="l">
              <a:lnSpc>
                <a:spcPct val="100000"/>
              </a:lnSpc>
            </a:pPr>
            <a:r>
              <a:rPr sz="1200">
                <a:solidFill>
                  <a:srgbClr val="B0B0B0"/>
                </a:solidFill>
                <a:latin typeface="Consolas"/>
              </a:rPr>
              <a:t>  {person}.out('IS_LOCATED_IN').out('IS_PART_OF')          ← BRANCH A</a:t>
            </a:r>
          </a:p>
          <a:p>
            <a:pPr algn="l">
              <a:lnSpc>
                <a:spcPct val="100000"/>
              </a:lnSpc>
            </a:pPr>
            <a:r>
              <a:rPr sz="1200">
                <a:solidFill>
                  <a:srgbClr val="A5D6A7"/>
                </a:solidFill>
                <a:latin typeface="Consolas"/>
              </a:rPr>
              <a:t>    {where: name NOT IN [:countryX, :countryY]},</a:t>
            </a:r>
          </a:p>
          <a:p>
            <a:pPr algn="l">
              <a:lnSpc>
                <a:spcPct val="100000"/>
              </a:lnSpc>
            </a:pPr>
            <a:r>
              <a:rPr sz="1200">
                <a:solidFill>
                  <a:srgbClr val="A5D6A7"/>
                </a:solidFill>
                <a:latin typeface="Consolas"/>
              </a:rPr>
              <a:t> </a:t>
            </a:r>
          </a:p>
          <a:p>
            <a:pPr algn="l">
              <a:lnSpc>
                <a:spcPct val="100000"/>
              </a:lnSpc>
            </a:pPr>
            <a:r>
              <a:rPr sz="1200">
                <a:solidFill>
                  <a:srgbClr val="B0B0B0"/>
                </a:solidFill>
                <a:latin typeface="Consolas"/>
              </a:rPr>
              <a:t>  {person}.in('HAS_CREATOR')                                ← BRANCH B</a:t>
            </a:r>
          </a:p>
          <a:p>
            <a:pPr algn="l">
              <a:lnSpc>
                <a:spcPct val="100000"/>
              </a:lnSpc>
            </a:pPr>
            <a:r>
              <a:rPr sz="1200">
                <a:solidFill>
                  <a:srgbClr val="A5D6A7"/>
                </a:solidFill>
                <a:latin typeface="Consolas"/>
              </a:rPr>
              <a:t>    {as: message, where: creationDate &gt;= :start AND &lt; :end}</a:t>
            </a:r>
          </a:p>
          <a:p>
            <a:pPr algn="l">
              <a:lnSpc>
                <a:spcPct val="100000"/>
              </a:lnSpc>
            </a:pPr>
            <a:r>
              <a:rPr sz="1200">
                <a:solidFill>
                  <a:srgbClr val="A5D6A7"/>
                </a:solidFill>
                <a:latin typeface="Consolas"/>
              </a:rPr>
              <a:t>    .out('IS_LOCATED_IN')</a:t>
            </a:r>
          </a:p>
          <a:p>
            <a:pPr algn="l">
              <a:lnSpc>
                <a:spcPct val="100000"/>
              </a:lnSpc>
            </a:pPr>
            <a:r>
              <a:rPr sz="1200">
                <a:solidFill>
                  <a:srgbClr val="A5D6A7"/>
                </a:solidFill>
                <a:latin typeface="Consolas"/>
              </a:rPr>
              <a:t>    {as: msgCountry, where: name IN [:countryX, :countryY]}</a:t>
            </a:r>
          </a:p>
          <a:p>
            <a:pPr algn="l">
              <a:lnSpc>
                <a:spcPct val="100000"/>
              </a:lnSpc>
            </a:pPr>
            <a:r>
              <a:rPr sz="1200">
                <a:solidFill>
                  <a:srgbClr val="A5D6A7"/>
                </a:solidFill>
                <a:latin typeface="Consolas"/>
              </a:rPr>
              <a:t>RETURN person, msgCountry</a:t>
            </a:r>
          </a:p>
        </p:txBody>
      </p:sp>
      <p:sp>
        <p:nvSpPr>
          <p:cNvPr id="4" name="TextBox 3"/>
          <p:cNvSpPr txBox="1"/>
          <p:nvPr/>
        </p:nvSpPr>
        <p:spPr>
          <a:xfrm>
            <a:off x="457200" y="4389120"/>
            <a:ext cx="11247120" cy="365760"/>
          </a:xfrm>
          <a:prstGeom prst="rect">
            <a:avLst/>
          </a:prstGeom>
          <a:noFill/>
        </p:spPr>
        <p:txBody>
          <a:bodyPr wrap="square">
            <a:spAutoFit/>
          </a:bodyPr>
          <a:lstStyle/>
          <a:p>
            <a:pPr>
              <a:defRPr sz="1500" b="1">
                <a:solidFill>
                  <a:srgbClr val="FFA0C8"/>
                </a:solidFill>
                <a:latin typeface="Calibri"/>
              </a:defRPr>
            </a:pPr>
            <a:r>
              <a:t>Four filter shapes in one query:</a:t>
            </a:r>
          </a:p>
        </p:txBody>
      </p:sp>
      <p:sp>
        <p:nvSpPr>
          <p:cNvPr id="5" name="TextBox 4"/>
          <p:cNvSpPr txBox="1"/>
          <p:nvPr/>
        </p:nvSpPr>
        <p:spPr>
          <a:xfrm>
            <a:off x="548640" y="4846320"/>
            <a:ext cx="10972800" cy="1828800"/>
          </a:xfrm>
          <a:prstGeom prst="rect">
            <a:avLst/>
          </a:prstGeom>
          <a:noFill/>
        </p:spPr>
        <p:txBody>
          <a:bodyPr wrap="square">
            <a:spAutoFit/>
          </a:bodyPr>
          <a:lstStyle/>
          <a:p>
            <a:pPr algn="l">
              <a:lnSpc>
                <a:spcPct val="115000"/>
              </a:lnSpc>
            </a:pPr>
            <a:r>
              <a:rPr sz="1500">
                <a:solidFill>
                  <a:srgbClr val="E0E0E0"/>
                </a:solidFill>
                <a:latin typeface="Calibri"/>
              </a:rPr>
              <a:t>• </a:t>
            </a:r>
            <a:r>
              <a:rPr sz="1500" b="1">
                <a:solidFill>
                  <a:srgbClr val="FCB13E"/>
                </a:solidFill>
                <a:latin typeface="Calibri"/>
              </a:rPr>
              <a:t>Index-backed range:</a:t>
            </a:r>
            <a:r>
              <a:rPr sz="1500">
                <a:solidFill>
                  <a:srgbClr val="E0E0E0"/>
                </a:solidFill>
                <a:latin typeface="Calibri"/>
              </a:rPr>
              <a:t> creationDate &gt;= … AND &lt; …</a:t>
            </a:r>
          </a:p>
          <a:p>
            <a:pPr algn="l">
              <a:lnSpc>
                <a:spcPct val="115000"/>
              </a:lnSpc>
            </a:pPr>
            <a:r>
              <a:rPr sz="1500">
                <a:solidFill>
                  <a:srgbClr val="E0E0E0"/>
                </a:solidFill>
                <a:latin typeface="Calibri"/>
              </a:rPr>
              <a:t>• </a:t>
            </a:r>
            <a:r>
              <a:rPr sz="1500" b="1">
                <a:solidFill>
                  <a:srgbClr val="FCB13E"/>
                </a:solidFill>
                <a:latin typeface="Calibri"/>
              </a:rPr>
              <a:t>Index-backed IN list:</a:t>
            </a:r>
            <a:r>
              <a:rPr sz="1500">
                <a:solidFill>
                  <a:srgbClr val="E0E0E0"/>
                </a:solidFill>
                <a:latin typeface="Calibri"/>
              </a:rPr>
              <a:t> msgCountry.name IN [...]</a:t>
            </a:r>
          </a:p>
          <a:p>
            <a:pPr algn="l">
              <a:lnSpc>
                <a:spcPct val="115000"/>
              </a:lnSpc>
            </a:pPr>
            <a:r>
              <a:rPr sz="1500">
                <a:solidFill>
                  <a:srgbClr val="E0E0E0"/>
                </a:solidFill>
                <a:latin typeface="Calibri"/>
              </a:rPr>
              <a:t>• </a:t>
            </a:r>
            <a:r>
              <a:rPr sz="1500" b="1">
                <a:solidFill>
                  <a:srgbClr val="FCB13E"/>
                </a:solidFill>
                <a:latin typeface="Calibri"/>
              </a:rPr>
              <a:t>Class / NOT-IN literal:</a:t>
            </a:r>
            <a:r>
              <a:rPr sz="1500">
                <a:solidFill>
                  <a:srgbClr val="E0E0E0"/>
                </a:solidFill>
                <a:latin typeface="Calibri"/>
              </a:rPr>
              <a:t> country.name NOT IN [...]</a:t>
            </a:r>
          </a:p>
          <a:p>
            <a:pPr algn="l">
              <a:lnSpc>
                <a:spcPct val="115000"/>
              </a:lnSpc>
            </a:pPr>
            <a:r>
              <a:rPr sz="1500">
                <a:solidFill>
                  <a:srgbClr val="E0E0E0"/>
                </a:solidFill>
                <a:latin typeface="Calibri"/>
              </a:rPr>
              <a:t>• </a:t>
            </a:r>
            <a:r>
              <a:rPr sz="1500" b="1">
                <a:solidFill>
                  <a:srgbClr val="FCB13E"/>
                </a:solidFill>
                <a:latin typeface="Calibri"/>
              </a:rPr>
              <a:t>Multi-branch:</a:t>
            </a:r>
            <a:r>
              <a:rPr sz="1500">
                <a:solidFill>
                  <a:srgbClr val="E0E0E0"/>
                </a:solidFill>
                <a:latin typeface="Calibri"/>
              </a:rPr>
              <a:t> two sub-patterns from person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spAutoFit/>
          </a:bodyPr>
          <a:lstStyle/>
          <a:p>
            <a:pPr>
              <a:defRPr sz="2800" b="1">
                <a:solidFill>
                  <a:srgbClr val="FF318C"/>
                </a:solidFill>
                <a:latin typeface="Calibri"/>
              </a:defRPr>
            </a:pPr>
            <a:r>
              <a:t>Three bottleneck classes</a:t>
            </a:r>
          </a:p>
        </p:txBody>
      </p:sp>
      <p:graphicFrame>
        <p:nvGraphicFramePr>
          <p:cNvPr id="3" name="Table 2"/>
          <p:cNvGraphicFramePr>
            <a:graphicFrameLocks noGrp="1"/>
          </p:cNvGraphicFramePr>
          <p:nvPr/>
        </p:nvGraphicFramePr>
        <p:xfrm>
          <a:off x="548640" y="1097280"/>
          <a:ext cx="10972798" cy="3200400"/>
        </p:xfrm>
        <a:graphic>
          <a:graphicData uri="http://schemas.openxmlformats.org/drawingml/2006/table">
            <a:tbl>
              <a:tblPr firstRow="1" bandRow="1">
                <a:tableStyleId>{5C22544A-7EE6-4342-B048-85BDC9FD1C3A}</a:tableStyleId>
              </a:tblPr>
              <a:tblGrid>
                <a:gridCol w="2493818"/>
                <a:gridCol w="4239490"/>
                <a:gridCol w="4239490"/>
              </a:tblGrid>
              <a:tr h="800100">
                <a:tc>
                  <a:txBody>
                    <a:bodyPr wrap="square" lIns="73152" rIns="73152" tIns="36576" bIns="36576"/>
                    <a:lstStyle/>
                    <a:p>
                      <a:pPr algn="l"/>
                      <a:r>
                        <a:rPr sz="1400" b="1">
                          <a:solidFill>
                            <a:srgbClr val="FFA0C8"/>
                          </a:solidFill>
                          <a:latin typeface="Calibri"/>
                        </a:rPr>
                        <a:t>Class</a:t>
                      </a:r>
                    </a:p>
                  </a:txBody>
                  <a:tcPr>
                    <a:solidFill>
                      <a:srgbClr val="401530"/>
                    </a:solidFill>
                  </a:tcPr>
                </a:tc>
                <a:tc>
                  <a:txBody>
                    <a:bodyPr wrap="square" lIns="73152" rIns="73152" tIns="36576" bIns="36576"/>
                    <a:lstStyle/>
                    <a:p>
                      <a:pPr algn="l"/>
                      <a:r>
                        <a:rPr sz="1400" b="1">
                          <a:solidFill>
                            <a:srgbClr val="FFA0C8"/>
                          </a:solidFill>
                          <a:latin typeface="Calibri"/>
                        </a:rPr>
                        <a:t>Example query shape</a:t>
                      </a:r>
                    </a:p>
                  </a:txBody>
                  <a:tcPr>
                    <a:solidFill>
                      <a:srgbClr val="401530"/>
                    </a:solidFill>
                  </a:tcPr>
                </a:tc>
                <a:tc>
                  <a:txBody>
                    <a:bodyPr wrap="square" lIns="73152" rIns="73152" tIns="36576" bIns="36576"/>
                    <a:lstStyle/>
                    <a:p>
                      <a:pPr algn="l"/>
                      <a:r>
                        <a:rPr sz="1400" b="1">
                          <a:solidFill>
                            <a:srgbClr val="FFA0C8"/>
                          </a:solidFill>
                          <a:latin typeface="Calibri"/>
                        </a:rPr>
                        <a:t>Why slow</a:t>
                      </a:r>
                    </a:p>
                  </a:txBody>
                  <a:tcPr>
                    <a:solidFill>
                      <a:srgbClr val="401530"/>
                    </a:solidFill>
                  </a:tcPr>
                </a:tc>
              </a:tr>
              <a:tr h="800100">
                <a:tc>
                  <a:txBody>
                    <a:bodyPr wrap="square" lIns="73152" rIns="73152" tIns="36576" bIns="36576"/>
                    <a:lstStyle/>
                    <a:p>
                      <a:pPr algn="l"/>
                      <a:r>
                        <a:rPr sz="1400">
                          <a:solidFill>
                            <a:srgbClr val="E0E0E0"/>
                          </a:solidFill>
                          <a:latin typeface="Calibri"/>
                        </a:rPr>
                        <a:t>Back-reference</a:t>
                      </a:r>
                    </a:p>
                  </a:txBody>
                  <a:tcPr>
                    <a:solidFill>
                      <a:srgbClr val="15152A"/>
                    </a:solidFill>
                  </a:tcPr>
                </a:tc>
                <a:tc>
                  <a:txBody>
                    <a:bodyPr wrap="square" lIns="73152" rIns="73152" tIns="36576" bIns="36576"/>
                    <a:lstStyle/>
                    <a:p>
                      <a:pPr algn="l"/>
                      <a:r>
                        <a:rPr sz="1400">
                          <a:solidFill>
                            <a:srgbClr val="E0E0E0"/>
                          </a:solidFill>
                          <a:latin typeface="Calibri"/>
                        </a:rPr>
                        <a:t>out('E'){where: @rid = $matched.X.@rid}</a:t>
                      </a:r>
                    </a:p>
                  </a:txBody>
                  <a:tcPr>
                    <a:solidFill>
                      <a:srgbClr val="15152A"/>
                    </a:solidFill>
                  </a:tcPr>
                </a:tc>
                <a:tc>
                  <a:txBody>
                    <a:bodyPr wrap="square" lIns="73152" rIns="73152" tIns="36576" bIns="36576"/>
                    <a:lstStyle/>
                    <a:p>
                      <a:pPr algn="l"/>
                      <a:r>
                        <a:rPr sz="1400">
                          <a:solidFill>
                            <a:srgbClr val="E0E0E0"/>
                          </a:solidFill>
                          <a:latin typeface="Calibri"/>
                        </a:rPr>
                        <a:t>Per-row scan of a LinkBag we already know the target of</a:t>
                      </a:r>
                    </a:p>
                  </a:txBody>
                  <a:tcPr>
                    <a:solidFill>
                      <a:srgbClr val="15152A"/>
                    </a:solidFill>
                  </a:tcPr>
                </a:tc>
              </a:tr>
              <a:tr h="800100">
                <a:tc>
                  <a:txBody>
                    <a:bodyPr wrap="square" lIns="73152" rIns="73152" tIns="36576" bIns="36576"/>
                    <a:lstStyle/>
                    <a:p>
                      <a:pPr algn="l"/>
                      <a:r>
                        <a:rPr sz="1400">
                          <a:solidFill>
                            <a:srgbClr val="E0E0E0"/>
                          </a:solidFill>
                          <a:latin typeface="Calibri"/>
                        </a:rPr>
                        <a:t>Class filter after expand</a:t>
                      </a:r>
                    </a:p>
                  </a:txBody>
                  <a:tcPr>
                    <a:solidFill>
                      <a:srgbClr val="1D1D35"/>
                    </a:solidFill>
                  </a:tcPr>
                </a:tc>
                <a:tc>
                  <a:txBody>
                    <a:bodyPr wrap="square" lIns="73152" rIns="73152" tIns="36576" bIns="36576"/>
                    <a:lstStyle/>
                    <a:p>
                      <a:pPr algn="l"/>
                      <a:r>
                        <a:rPr sz="1400">
                          <a:solidFill>
                            <a:srgbClr val="E0E0E0"/>
                          </a:solidFill>
                          <a:latin typeface="Calibri"/>
                        </a:rPr>
                        <a:t>expand(out('E')) + WHERE @class = 'Post'</a:t>
                      </a:r>
                    </a:p>
                  </a:txBody>
                  <a:tcPr>
                    <a:solidFill>
                      <a:srgbClr val="1D1D35"/>
                    </a:solidFill>
                  </a:tcPr>
                </a:tc>
                <a:tc>
                  <a:txBody>
                    <a:bodyPr wrap="square" lIns="73152" rIns="73152" tIns="36576" bIns="36576"/>
                    <a:lstStyle/>
                    <a:p>
                      <a:pPr algn="l"/>
                      <a:r>
                        <a:rPr sz="1400">
                          <a:solidFill>
                            <a:srgbClr val="E0E0E0"/>
                          </a:solidFill>
                          <a:latin typeface="Calibri"/>
                        </a:rPr>
                        <a:t>Loads Comments only to discard them</a:t>
                      </a:r>
                    </a:p>
                  </a:txBody>
                  <a:tcPr>
                    <a:solidFill>
                      <a:srgbClr val="1D1D35"/>
                    </a:solidFill>
                  </a:tcPr>
                </a:tc>
              </a:tr>
              <a:tr h="800100">
                <a:tc>
                  <a:txBody>
                    <a:bodyPr wrap="square" lIns="73152" rIns="73152" tIns="36576" bIns="36576"/>
                    <a:lstStyle/>
                    <a:p>
                      <a:pPr algn="l"/>
                      <a:r>
                        <a:rPr sz="1400">
                          <a:solidFill>
                            <a:srgbClr val="E0E0E0"/>
                          </a:solidFill>
                          <a:latin typeface="Calibri"/>
                        </a:rPr>
                        <a:t>Index-backed property</a:t>
                      </a:r>
                    </a:p>
                  </a:txBody>
                  <a:tcPr>
                    <a:solidFill>
                      <a:srgbClr val="15152A"/>
                    </a:solidFill>
                  </a:tcPr>
                </a:tc>
                <a:tc>
                  <a:txBody>
                    <a:bodyPr wrap="square" lIns="73152" rIns="73152" tIns="36576" bIns="36576"/>
                    <a:lstStyle/>
                    <a:p>
                      <a:pPr algn="l"/>
                      <a:r>
                        <a:rPr sz="1400">
                          <a:solidFill>
                            <a:srgbClr val="E0E0E0"/>
                          </a:solidFill>
                          <a:latin typeface="Calibri"/>
                        </a:rPr>
                        <a:t>WHERE creationDate &gt;= :start on a target</a:t>
                      </a:r>
                    </a:p>
                  </a:txBody>
                  <a:tcPr>
                    <a:solidFill>
                      <a:srgbClr val="15152A"/>
                    </a:solidFill>
                  </a:tcPr>
                </a:tc>
                <a:tc>
                  <a:txBody>
                    <a:bodyPr wrap="square" lIns="73152" rIns="73152" tIns="36576" bIns="36576"/>
                    <a:lstStyle/>
                    <a:p>
                      <a:pPr algn="l"/>
                      <a:r>
                        <a:rPr sz="1400">
                          <a:solidFill>
                            <a:srgbClr val="E0E0E0"/>
                          </a:solidFill>
                          <a:latin typeface="Calibri"/>
                        </a:rPr>
                        <a:t>Loads vertices outside the date window</a:t>
                      </a:r>
                    </a:p>
                  </a:txBody>
                  <a:tcPr>
                    <a:solidFill>
                      <a:srgbClr val="15152A"/>
                    </a:solidFill>
                  </a:tcPr>
                </a:tc>
              </a:tr>
            </a:tbl>
          </a:graphicData>
        </a:graphic>
      </p:graphicFrame>
      <p:sp>
        <p:nvSpPr>
          <p:cNvPr id="4" name="TextBox 3"/>
          <p:cNvSpPr txBox="1"/>
          <p:nvPr/>
        </p:nvSpPr>
        <p:spPr>
          <a:xfrm>
            <a:off x="548640" y="4572000"/>
            <a:ext cx="10972800" cy="2103120"/>
          </a:xfrm>
          <a:prstGeom prst="rect">
            <a:avLst/>
          </a:prstGeom>
          <a:noFill/>
        </p:spPr>
        <p:txBody>
          <a:bodyPr wrap="square">
            <a:spAutoFit/>
          </a:bodyPr>
          <a:lstStyle/>
          <a:p>
            <a:pPr algn="l">
              <a:lnSpc>
                <a:spcPct val="115000"/>
              </a:lnSpc>
            </a:pPr>
            <a:r>
              <a:rPr sz="1700">
                <a:solidFill>
                  <a:srgbClr val="E0E0E0"/>
                </a:solidFill>
                <a:latin typeface="Calibri"/>
              </a:rPr>
              <a:t>• IC3 (our anchor) hits </a:t>
            </a:r>
            <a:r>
              <a:rPr sz="1700" b="1">
                <a:solidFill>
                  <a:srgbClr val="FCB13E"/>
                </a:solidFill>
                <a:latin typeface="Calibri"/>
              </a:rPr>
              <a:t>two</a:t>
            </a:r>
            <a:r>
              <a:rPr sz="1700">
                <a:solidFill>
                  <a:srgbClr val="E0E0E0"/>
                </a:solidFill>
                <a:latin typeface="Calibri"/>
              </a:rPr>
              <a:t> of these three classes</a:t>
            </a:r>
          </a:p>
          <a:p>
            <a:pPr algn="l">
              <a:lnSpc>
                <a:spcPct val="115000"/>
              </a:lnSpc>
            </a:pPr>
            <a:r>
              <a:rPr sz="1700">
                <a:solidFill>
                  <a:srgbClr val="E0E0E0"/>
                </a:solidFill>
                <a:latin typeface="Calibri"/>
              </a:rPr>
              <a:t>• IC5 adds a back-reference on its final edge</a:t>
            </a:r>
          </a:p>
          <a:p>
            <a:pPr algn="l">
              <a:lnSpc>
                <a:spcPct val="115000"/>
              </a:lnSpc>
            </a:pPr>
            <a:r>
              <a:rPr sz="1700">
                <a:solidFill>
                  <a:srgbClr val="E0E0E0"/>
                </a:solidFill>
                <a:latin typeface="Calibri"/>
              </a:rPr>
              <a:t>• IC10 mixes class filter and back-reference</a:t>
            </a:r>
          </a:p>
          <a:p>
            <a:pPr algn="l">
              <a:lnSpc>
                <a:spcPct val="115000"/>
              </a:lnSpc>
            </a:pPr>
            <a:r>
              <a:rPr sz="1700">
                <a:solidFill>
                  <a:srgbClr val="E0E0E0"/>
                </a:solidFill>
                <a:latin typeface="Calibri"/>
              </a:rPr>
              <a:t>• All three classes load vertices that the WHERE clause will then reject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spAutoFit/>
          </a:bodyPr>
          <a:lstStyle/>
          <a:p>
            <a:pPr>
              <a:defRPr sz="2800" b="1">
                <a:solidFill>
                  <a:srgbClr val="FF318C"/>
                </a:solidFill>
                <a:latin typeface="Calibri"/>
              </a:defRPr>
            </a:pPr>
            <a:r>
              <a:t>Why this was not fixed earlier</a:t>
            </a:r>
          </a:p>
        </p:txBody>
      </p:sp>
      <p:sp>
        <p:nvSpPr>
          <p:cNvPr id="3" name="TextBox 2"/>
          <p:cNvSpPr txBox="1"/>
          <p:nvPr/>
        </p:nvSpPr>
        <p:spPr>
          <a:xfrm>
            <a:off x="548640" y="1371600"/>
            <a:ext cx="10972800" cy="4572000"/>
          </a:xfrm>
          <a:prstGeom prst="rect">
            <a:avLst/>
          </a:prstGeom>
          <a:noFill/>
        </p:spPr>
        <p:txBody>
          <a:bodyPr wrap="square">
            <a:spAutoFit/>
          </a:bodyPr>
          <a:lstStyle/>
          <a:p>
            <a:pPr algn="l">
              <a:lnSpc>
                <a:spcPct val="115000"/>
              </a:lnSpc>
            </a:pPr>
            <a:r>
              <a:rPr sz="2000">
                <a:solidFill>
                  <a:srgbClr val="E0E0E0"/>
                </a:solidFill>
                <a:latin typeface="Calibri"/>
              </a:rPr>
              <a:t>• MATCH scheduler picks edges by cost</a:t>
            </a:r>
          </a:p>
          <a:p>
            <a:pPr algn="l">
              <a:lnSpc>
                <a:spcPct val="115000"/>
              </a:lnSpc>
            </a:pPr>
            <a:r>
              <a:rPr sz="2000">
                <a:solidFill>
                  <a:srgbClr val="E0E0E0"/>
                </a:solidFill>
                <a:latin typeface="Calibri"/>
              </a:rPr>
              <a:t>• But after an edge is picked, the traversal forgets about the target's WHERE</a:t>
            </a:r>
          </a:p>
          <a:p>
            <a:pPr algn="l">
              <a:lnSpc>
                <a:spcPct val="115000"/>
              </a:lnSpc>
            </a:pPr>
            <a:r>
              <a:rPr sz="2000">
                <a:solidFill>
                  <a:srgbClr val="E0E0E0"/>
                </a:solidFill>
                <a:latin typeface="Calibri"/>
              </a:rPr>
              <a:t>• And it forgets that another alias may pin the target's RID via $matched</a:t>
            </a:r>
          </a:p>
          <a:p>
            <a:pPr algn="l">
              <a:lnSpc>
                <a:spcPct val="115000"/>
              </a:lnSpc>
            </a:pPr>
            <a:r>
              <a:rPr sz="2000">
                <a:solidFill>
                  <a:srgbClr val="E0E0E0"/>
                </a:solidFill>
                <a:latin typeface="Calibri"/>
              </a:rPr>
              <a:t>• The scheduler optimises the </a:t>
            </a:r>
            <a:r>
              <a:rPr sz="2000" b="1">
                <a:solidFill>
                  <a:srgbClr val="FCB13E"/>
                </a:solidFill>
                <a:latin typeface="Calibri"/>
              </a:rPr>
              <a:t>order</a:t>
            </a:r>
            <a:r>
              <a:rPr sz="2000">
                <a:solidFill>
                  <a:srgbClr val="E0E0E0"/>
                </a:solidFill>
                <a:latin typeface="Calibri"/>
              </a:rPr>
              <a:t>; nothing optimises the </a:t>
            </a:r>
            <a:r>
              <a:rPr sz="2000" b="1">
                <a:solidFill>
                  <a:srgbClr val="FCB13E"/>
                </a:solidFill>
                <a:latin typeface="Calibri"/>
              </a:rPr>
              <a:t>scan inside an edge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spAutoFit/>
          </a:bodyPr>
          <a:lstStyle/>
          <a:p>
            <a:r>
              <a:rPr sz="2800" b="1">
                <a:solidFill>
                  <a:srgbClr val="FF318C"/>
                </a:solidFill>
                <a:latin typeface="Calibri"/>
              </a:rPr>
              <a:t>Architecture — where pre-filter sits in execution</a:t>
            </a:r>
          </a:p>
        </p:txBody>
      </p:sp>
      <p:sp>
        <p:nvSpPr>
          <p:cNvPr id="3" name="TextBox 2"/>
          <p:cNvSpPr txBox="1"/>
          <p:nvPr/>
        </p:nvSpPr>
        <p:spPr>
          <a:xfrm>
            <a:off x="457200" y="914400"/>
            <a:ext cx="11247120" cy="365760"/>
          </a:xfrm>
          <a:prstGeom prst="rect">
            <a:avLst/>
          </a:prstGeom>
          <a:noFill/>
        </p:spPr>
        <p:txBody>
          <a:bodyPr wrap="square">
            <a:spAutoFit/>
          </a:bodyPr>
          <a:lstStyle/>
          <a:p>
            <a:r>
              <a:rPr sz="1800" i="1">
                <a:solidFill>
                  <a:srgbClr val="E8B5C8"/>
                </a:solidFill>
                <a:latin typeface="Calibri"/>
              </a:rPr>
              <a:t>A single layer between scheduler decisions and the link-bag walk</a:t>
            </a:r>
          </a:p>
        </p:txBody>
      </p:sp>
      <p:sp>
        <p:nvSpPr>
          <p:cNvPr id="4" name="TextBox 3"/>
          <p:cNvSpPr txBox="1"/>
          <p:nvPr/>
        </p:nvSpPr>
        <p:spPr>
          <a:xfrm>
            <a:off x="548640" y="1350000"/>
            <a:ext cx="11094720" cy="4700000"/>
          </a:xfrm>
          <a:prstGeom prst="rect">
            <a:avLst/>
          </a:prstGeom>
          <a:solidFill>
            <a:srgbClr val="121220"/>
          </a:solidFill>
          <a:ln w="6350">
            <a:solidFill>
              <a:srgbClr val="404060"/>
            </a:solidFill>
          </a:ln>
        </p:spPr>
        <p:txBody>
          <a:bodyPr wrap="square">
            <a:spAutoFit/>
          </a:bodyPr>
          <a:lstStyle/>
          <a:p>
            <a:r>
              <a:rPr sz="1100">
                <a:solidFill>
                  <a:srgbClr val="B0E0B0"/>
                </a:solidFill>
                <a:latin typeface="Consolas"/>
              </a:rPr>
              <a:t>┌─────────────────────────────────────────────────────────────────────────┐</a:t>
            </a:r>
          </a:p>
          <a:p>
            <a:r>
              <a:rPr sz="1100">
                <a:solidFill>
                  <a:srgbClr val="B0E0B0"/>
                </a:solidFill>
                <a:latin typeface="Consolas"/>
              </a:rPr>
              <a:t>│  PLANNING — once per query           MatchExecutionPlanner              │</a:t>
            </a:r>
          </a:p>
          <a:p>
            <a:r>
              <a:rPr sz="1100">
                <a:solidFill>
                  <a:srgbClr val="B0E0B0"/>
                </a:solidFill>
                <a:latin typeface="Consolas"/>
              </a:rPr>
              <a:t>│                                                                         │</a:t>
            </a:r>
          </a:p>
          <a:p>
            <a:r>
              <a:rPr sz="1100">
                <a:solidFill>
                  <a:srgbClr val="B0E0B0"/>
                </a:solidFill>
                <a:latin typeface="Consolas"/>
              </a:rPr>
              <a:t>│  1. cost-based edge ordering        (scheduler — existing logic)        │</a:t>
            </a:r>
          </a:p>
          <a:p>
            <a:r>
              <a:rPr sz="1100">
                <a:solidFill>
                  <a:srgbClr val="B0E0B0"/>
                </a:solidFill>
                <a:latin typeface="Consolas"/>
              </a:rPr>
              <a:t>│  2. optimizeScheduleWithIntersections                                   │</a:t>
            </a:r>
          </a:p>
          <a:p>
            <a:r>
              <a:rPr sz="1100">
                <a:solidFill>
                  <a:srgbClr val="B0E0B0"/>
                </a:solidFill>
                <a:latin typeface="Consolas"/>
              </a:rPr>
              <a:t>│       ↳ inspects each edge's WHERE                                      │</a:t>
            </a:r>
          </a:p>
          <a:p>
            <a:r>
              <a:rPr sz="1100">
                <a:solidFill>
                  <a:srgbClr val="B0E0B0"/>
                </a:solidFill>
                <a:latin typeface="Consolas"/>
              </a:rPr>
              <a:t>│       ↳ creates RidFilterDescriptor → attaches to EdgeTraversal         │</a:t>
            </a:r>
          </a:p>
          <a:p>
            <a:r>
              <a:rPr sz="1100">
                <a:solidFill>
                  <a:srgbClr val="B0E0B0"/>
                </a:solidFill>
                <a:latin typeface="Consolas"/>
              </a:rPr>
              <a:t>│  3. stampEdgeForecasts                                                  │</a:t>
            </a:r>
          </a:p>
          <a:p>
            <a:r>
              <a:rPr sz="1100">
                <a:solidFill>
                  <a:srgbClr val="B0E0B0"/>
                </a:solidFill>
                <a:latin typeface="Consolas"/>
              </a:rPr>
              <a:t>│       ↳ forecastN, rootSourceRows  (feeds amortization gate)            │</a:t>
            </a:r>
          </a:p>
          <a:p>
            <a:r>
              <a:rPr sz="1100">
                <a:solidFill>
                  <a:srgbClr val="B0E0B0"/>
                </a:solidFill>
                <a:latin typeface="Consolas"/>
              </a:rPr>
              <a:t>└─────────────────────────────────────────────────────────────────────────┘</a:t>
            </a:r>
          </a:p>
          <a:p>
            <a:r>
              <a:rPr sz="1100">
                <a:solidFill>
                  <a:srgbClr val="B0E0B0"/>
                </a:solidFill>
                <a:latin typeface="Consolas"/>
              </a:rPr>
              <a:t>                                  │</a:t>
            </a:r>
          </a:p>
          <a:p>
            <a:r>
              <a:rPr sz="1100">
                <a:solidFill>
                  <a:srgbClr val="B0E0B0"/>
                </a:solidFill>
                <a:latin typeface="Consolas"/>
              </a:rPr>
              <a:t>                                  ▼</a:t>
            </a:r>
          </a:p>
          <a:p>
            <a:r>
              <a:rPr sz="1100">
                <a:solidFill>
                  <a:srgbClr val="B0E0B0"/>
                </a:solidFill>
                <a:latin typeface="Consolas"/>
              </a:rPr>
              <a:t>┌─────────────────────────────────────────────────────────────────────────┐</a:t>
            </a:r>
          </a:p>
          <a:p>
            <a:r>
              <a:rPr sz="1100">
                <a:solidFill>
                  <a:srgbClr val="B0E0B0"/>
                </a:solidFill>
                <a:latin typeface="Consolas"/>
              </a:rPr>
              <a:t>│  EXECUTION — per source vertex       MatchStep                          │</a:t>
            </a:r>
          </a:p>
          <a:p>
            <a:r>
              <a:rPr sz="1100">
                <a:solidFill>
                  <a:srgbClr val="B0E0B0"/>
                </a:solidFill>
                <a:latin typeface="Consolas"/>
              </a:rPr>
              <a:t>│                                                                         │</a:t>
            </a:r>
          </a:p>
          <a:p>
            <a:r>
              <a:rPr sz="1100">
                <a:solidFill>
                  <a:srgbClr val="B0E0B0"/>
                </a:solidFill>
                <a:latin typeface="Consolas"/>
              </a:rPr>
              <a:t>│  EdgeTraversal.resolveWithCache(ctx, linkBagSize)                       │</a:t>
            </a:r>
          </a:p>
          <a:p>
            <a:r>
              <a:rPr sz="1100">
                <a:solidFill>
                  <a:srgbClr val="B0E0B0"/>
                </a:solidFill>
                <a:latin typeface="Consolas"/>
              </a:rPr>
              <a:t>│       ↳ cache lookup (LRU 64, key = desc.cacheFingerprint)              │</a:t>
            </a:r>
          </a:p>
          <a:p>
            <a:r>
              <a:rPr sz="1100">
                <a:solidFill>
                  <a:srgbClr val="B0E0B0"/>
                </a:solidFill>
                <a:latin typeface="Consolas"/>
              </a:rPr>
              <a:t>│       ↳ gates: passesSelectivityCheck + checkIndexLookupAmortization    │</a:t>
            </a:r>
          </a:p>
          <a:p>
            <a:r>
              <a:rPr sz="1100">
                <a:solidFill>
                  <a:srgbClr val="B0E0B0"/>
                </a:solidFill>
                <a:latin typeface="Consolas"/>
              </a:rPr>
              <a:t>│       ↳ desc.resolve() materialises RidSet                              │</a:t>
            </a:r>
          </a:p>
          <a:p>
            <a:r>
              <a:rPr sz="1100">
                <a:solidFill>
                  <a:srgbClr val="B0E0B0"/>
                </a:solidFill>
                <a:latin typeface="Consolas"/>
              </a:rPr>
              <a:t>│                                                                         │</a:t>
            </a:r>
          </a:p>
          <a:p>
            <a:r>
              <a:rPr sz="1100">
                <a:solidFill>
                  <a:srgbClr val="B0E0B0"/>
                </a:solidFill>
                <a:latin typeface="Consolas"/>
              </a:rPr>
              <a:t>│  MatchEdgeTraverser.applyPreFilter(vertex, ridSet)                      │</a:t>
            </a:r>
          </a:p>
          <a:p>
            <a:r>
              <a:rPr sz="1100">
                <a:solidFill>
                  <a:srgbClr val="B0E0B0"/>
                </a:solidFill>
                <a:latin typeface="Consolas"/>
              </a:rPr>
              <a:t>│       ↳ per-vertex passesSelectivityCheck on actual size                │</a:t>
            </a:r>
          </a:p>
          <a:p>
            <a:r>
              <a:rPr sz="1100">
                <a:solidFill>
                  <a:srgbClr val="B0E0B0"/>
                </a:solidFill>
                <a:latin typeface="Consolas"/>
              </a:rPr>
              <a:t>│       ↳ VertexFromLinkBagIterator.acceptedRids  ← bitmap filter         │</a:t>
            </a:r>
          </a:p>
          <a:p>
            <a:r>
              <a:rPr sz="1100">
                <a:solidFill>
                  <a:srgbClr val="B0E0B0"/>
                </a:solidFill>
                <a:latin typeface="Consolas"/>
              </a:rPr>
              <a:t>└─────────────────────────────────────────────────────────────────────────┘</a:t>
            </a:r>
          </a:p>
          <a:p>
            <a:r>
              <a:rPr sz="1100">
                <a:solidFill>
                  <a:srgbClr val="B0E0B0"/>
                </a:solidFill>
                <a:latin typeface="Consolas"/>
              </a:rPr>
              <a:t>                                  │</a:t>
            </a:r>
          </a:p>
          <a:p>
            <a:r>
              <a:rPr sz="1100">
                <a:solidFill>
                  <a:srgbClr val="B0E0B0"/>
                </a:solidFill>
                <a:latin typeface="Consolas"/>
              </a:rPr>
              <a:t>                                  ▼</a:t>
            </a:r>
          </a:p>
          <a:p>
            <a:r>
              <a:rPr sz="1100">
                <a:solidFill>
                  <a:srgbClr val="B0E0B0"/>
                </a:solidFill>
                <a:latin typeface="Consolas"/>
              </a:rPr>
              <a:t>┌─────────────────────────────────────────────────────────────────────────┐</a:t>
            </a:r>
          </a:p>
          <a:p>
            <a:r>
              <a:rPr sz="1100">
                <a:solidFill>
                  <a:srgbClr val="B0E0B0"/>
                </a:solidFill>
                <a:latin typeface="Consolas"/>
              </a:rPr>
              <a:t>│  STORAGE — loadEntity() runs only for RIDs that survived the filter     │</a:t>
            </a:r>
          </a:p>
          <a:p>
            <a:r>
              <a:rPr sz="1100">
                <a:solidFill>
                  <a:srgbClr val="B0E0B0"/>
                </a:solidFill>
                <a:latin typeface="Consolas"/>
              </a:rPr>
              <a:t>└─────────────────────────────────────────────────────────────────────────┘</a:t>
            </a:r>
          </a:p>
        </p:txBody>
      </p:sp>
      <p:sp>
        <p:nvSpPr>
          <p:cNvPr id="5" name="TextBox 4"/>
          <p:cNvSpPr txBox="1"/>
          <p:nvPr/>
        </p:nvSpPr>
        <p:spPr>
          <a:xfrm>
            <a:off x="548640" y="6100000"/>
            <a:ext cx="11094720" cy="650000"/>
          </a:xfrm>
          <a:prstGeom prst="rect">
            <a:avLst/>
          </a:prstGeom>
          <a:noFill/>
        </p:spPr>
        <p:txBody>
          <a:bodyPr wrap="square">
            <a:spAutoFit/>
          </a:bodyPr>
          <a:lstStyle/>
          <a:p>
            <a:r>
              <a:rPr sz="1600" b="0">
                <a:solidFill>
                  <a:srgbClr val="E0E0E0"/>
                </a:solidFill>
                <a:latin typeface="Calibri"/>
              </a:rPr>
              <a:t>• Two callers, one mechanism: SELECT </a:t>
            </a:r>
            <a:r>
              <a:rPr sz="1500" b="0">
                <a:solidFill>
                  <a:srgbClr val="B0E0B0"/>
                </a:solidFill>
                <a:latin typeface="Consolas"/>
              </a:rPr>
              <a:t>ExpandStep</a:t>
            </a:r>
            <a:r>
              <a:rPr sz="1600" b="0">
                <a:solidFill>
                  <a:srgbClr val="E0E0E0"/>
                </a:solidFill>
                <a:latin typeface="Calibri"/>
              </a:rPr>
              <a:t> uses the same descriptor model via </a:t>
            </a:r>
            <a:r>
              <a:rPr sz="1500" b="0">
                <a:solidFill>
                  <a:srgbClr val="B0E0B0"/>
                </a:solidFill>
                <a:latin typeface="Consolas"/>
              </a:rPr>
              <a:t>TraversalPreFilterHelper</a:t>
            </a:r>
          </a:p>
          <a:p>
            <a:r>
              <a:rPr sz="1600" b="0">
                <a:solidFill>
                  <a:srgbClr val="E0E0E0"/>
                </a:solidFill>
                <a:latin typeface="Calibri"/>
              </a:rPr>
              <a:t>• Pre-filter never changes query results — observable only through PROFILE counters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spAutoFit/>
          </a:bodyPr>
          <a:lstStyle/>
          <a:p>
            <a:pPr>
              <a:defRPr sz="2800" b="1">
                <a:solidFill>
                  <a:srgbClr val="FF318C"/>
                </a:solidFill>
                <a:latin typeface="Calibri"/>
              </a:defRPr>
            </a:pPr>
            <a:r>
              <a:t>Three filter mechanisms — what gets attached to the iterator</a:t>
            </a:r>
          </a:p>
        </p:txBody>
      </p:sp>
      <p:sp>
        <p:nvSpPr>
          <p:cNvPr id="3" name="TextBox 2"/>
          <p:cNvSpPr txBox="1"/>
          <p:nvPr/>
        </p:nvSpPr>
        <p:spPr>
          <a:xfrm>
            <a:off x="457200" y="914400"/>
            <a:ext cx="11247120" cy="365760"/>
          </a:xfrm>
          <a:prstGeom prst="rect">
            <a:avLst/>
          </a:prstGeom>
          <a:noFill/>
        </p:spPr>
        <p:txBody>
          <a:bodyPr wrap="square">
            <a:spAutoFit/>
          </a:bodyPr>
          <a:lstStyle/>
          <a:p>
            <a:pPr>
              <a:defRPr sz="1500" b="1">
                <a:solidFill>
                  <a:srgbClr val="FFA0C8"/>
                </a:solidFill>
                <a:latin typeface="Calibri"/>
              </a:defRPr>
            </a:pPr>
            <a:r>
              <a:t>Pre-filter sits between scheduler decisions and the link-bag walk</a:t>
            </a:r>
          </a:p>
        </p:txBody>
      </p:sp>
      <p:graphicFrame>
        <p:nvGraphicFramePr>
          <p:cNvPr id="4" name="Table 3"/>
          <p:cNvGraphicFramePr>
            <a:graphicFrameLocks noGrp="1"/>
          </p:cNvGraphicFramePr>
          <p:nvPr/>
        </p:nvGraphicFramePr>
        <p:xfrm>
          <a:off x="548640" y="1371600"/>
          <a:ext cx="10972797" cy="3200400"/>
        </p:xfrm>
        <a:graphic>
          <a:graphicData uri="http://schemas.openxmlformats.org/drawingml/2006/table">
            <a:tbl>
              <a:tblPr firstRow="1" bandRow="1">
                <a:tableStyleId>{5C22544A-7EE6-4342-B048-85BDC9FD1C3A}</a:tableStyleId>
              </a:tblPr>
              <a:tblGrid>
                <a:gridCol w="1995054"/>
                <a:gridCol w="872836"/>
                <a:gridCol w="2992581"/>
                <a:gridCol w="3117272"/>
                <a:gridCol w="1995054"/>
              </a:tblGrid>
              <a:tr h="800100">
                <a:tc>
                  <a:txBody>
                    <a:bodyPr wrap="square" lIns="73152" rIns="73152" tIns="36576" bIns="36576"/>
                    <a:lstStyle/>
                    <a:p>
                      <a:pPr algn="l"/>
                      <a:r>
                        <a:rPr sz="1300" b="1">
                          <a:solidFill>
                            <a:srgbClr val="FFA0C8"/>
                          </a:solidFill>
                          <a:latin typeface="Calibri"/>
                        </a:rPr>
                        <a:t>Case</a:t>
                      </a:r>
                    </a:p>
                  </a:txBody>
                  <a:tcPr>
                    <a:solidFill>
                      <a:srgbClr val="401530"/>
                    </a:solidFill>
                  </a:tcPr>
                </a:tc>
                <a:tc>
                  <a:txBody>
                    <a:bodyPr wrap="square" lIns="73152" rIns="73152" tIns="36576" bIns="36576"/>
                    <a:lstStyle/>
                    <a:p>
                      <a:pPr algn="l"/>
                      <a:r>
                        <a:rPr sz="1300" b="1">
                          <a:solidFill>
                            <a:srgbClr val="FFA0C8"/>
                          </a:solidFill>
                          <a:latin typeface="Calibri"/>
                        </a:rPr>
                        <a:t>Shape</a:t>
                      </a:r>
                    </a:p>
                  </a:txBody>
                  <a:tcPr>
                    <a:solidFill>
                      <a:srgbClr val="401530"/>
                    </a:solidFill>
                  </a:tcPr>
                </a:tc>
                <a:tc>
                  <a:txBody>
                    <a:bodyPr wrap="square" lIns="73152" rIns="73152" tIns="36576" bIns="36576"/>
                    <a:lstStyle/>
                    <a:p>
                      <a:pPr algn="l"/>
                      <a:r>
                        <a:rPr sz="1300" b="1">
                          <a:solidFill>
                            <a:srgbClr val="FFA0C8"/>
                          </a:solidFill>
                          <a:latin typeface="Calibri"/>
                        </a:rPr>
                        <a:t>Filters by</a:t>
                      </a:r>
                    </a:p>
                  </a:txBody>
                  <a:tcPr>
                    <a:solidFill>
                      <a:srgbClr val="401530"/>
                    </a:solidFill>
                  </a:tcPr>
                </a:tc>
                <a:tc>
                  <a:txBody>
                    <a:bodyPr wrap="square" lIns="73152" rIns="73152" tIns="36576" bIns="36576"/>
                    <a:lstStyle/>
                    <a:p>
                      <a:pPr algn="l"/>
                      <a:r>
                        <a:rPr sz="1300" b="1">
                          <a:solidFill>
                            <a:srgbClr val="FFA0C8"/>
                          </a:solidFill>
                          <a:latin typeface="Calibri"/>
                        </a:rPr>
                        <a:t>Test runs</a:t>
                      </a:r>
                    </a:p>
                  </a:txBody>
                  <a:tcPr>
                    <a:solidFill>
                      <a:srgbClr val="401530"/>
                    </a:solidFill>
                  </a:tcPr>
                </a:tc>
                <a:tc>
                  <a:txBody>
                    <a:bodyPr wrap="square" lIns="73152" rIns="73152" tIns="36576" bIns="36576"/>
                    <a:lstStyle/>
                    <a:p>
                      <a:pPr algn="l"/>
                      <a:r>
                        <a:rPr sz="1300" b="1">
                          <a:solidFill>
                            <a:srgbClr val="FFA0C8"/>
                          </a:solidFill>
                          <a:latin typeface="Calibri"/>
                        </a:rPr>
                        <a:t>I/O cost</a:t>
                      </a:r>
                    </a:p>
                  </a:txBody>
                  <a:tcPr>
                    <a:solidFill>
                      <a:srgbClr val="401530"/>
                    </a:solidFill>
                  </a:tcPr>
                </a:tc>
              </a:tr>
              <a:tr h="800100">
                <a:tc>
                  <a:txBody>
                    <a:bodyPr wrap="square" lIns="73152" rIns="73152" tIns="36576" bIns="36576"/>
                    <a:lstStyle/>
                    <a:p>
                      <a:pPr algn="l"/>
                      <a:r>
                        <a:rPr sz="1300">
                          <a:solidFill>
                            <a:srgbClr val="E0E0E0"/>
                          </a:solidFill>
                          <a:latin typeface="Calibri"/>
                        </a:rPr>
                        <a:t>A — Class</a:t>
                      </a:r>
                    </a:p>
                  </a:txBody>
                  <a:tcPr>
                    <a:solidFill>
                      <a:srgbClr val="15152A"/>
                    </a:solidFill>
                  </a:tcPr>
                </a:tc>
                <a:tc>
                  <a:txBody>
                    <a:bodyPr wrap="square" lIns="73152" rIns="73152" tIns="36576" bIns="36576"/>
                    <a:lstStyle/>
                    <a:p>
                      <a:pPr algn="l"/>
                      <a:r>
                        <a:rPr sz="1300">
                          <a:solidFill>
                            <a:srgbClr val="E0E0E0"/>
                          </a:solidFill>
                          <a:latin typeface="Calibri"/>
                        </a:rPr>
                        <a:t>1</a:t>
                      </a:r>
                    </a:p>
                  </a:txBody>
                  <a:tcPr>
                    <a:solidFill>
                      <a:srgbClr val="15152A"/>
                    </a:solidFill>
                  </a:tcPr>
                </a:tc>
                <a:tc>
                  <a:txBody>
                    <a:bodyPr wrap="square" lIns="73152" rIns="73152" tIns="36576" bIns="36576"/>
                    <a:lstStyle/>
                    <a:p>
                      <a:pPr algn="l"/>
                      <a:r>
                        <a:rPr sz="1300">
                          <a:solidFill>
                            <a:srgbClr val="E0E0E0"/>
                          </a:solidFill>
                          <a:latin typeface="Calibri"/>
                        </a:rPr>
                        <a:t>@class = 'Post'</a:t>
                      </a:r>
                    </a:p>
                  </a:txBody>
                  <a:tcPr>
                    <a:solidFill>
                      <a:srgbClr val="15152A"/>
                    </a:solidFill>
                  </a:tcPr>
                </a:tc>
                <a:tc>
                  <a:txBody>
                    <a:bodyPr wrap="square" lIns="73152" rIns="73152" tIns="36576" bIns="36576"/>
                    <a:lstStyle/>
                    <a:p>
                      <a:pPr algn="l"/>
                      <a:r>
                        <a:rPr sz="1300">
                          <a:solidFill>
                            <a:srgbClr val="E0E0E0"/>
                          </a:solidFill>
                          <a:latin typeface="Calibri"/>
                        </a:rPr>
                        <a:t>collection ID in LinkBag iterator</a:t>
                      </a:r>
                    </a:p>
                  </a:txBody>
                  <a:tcPr>
                    <a:solidFill>
                      <a:srgbClr val="15152A"/>
                    </a:solidFill>
                  </a:tcPr>
                </a:tc>
                <a:tc>
                  <a:txBody>
                    <a:bodyPr wrap="square" lIns="73152" rIns="73152" tIns="36576" bIns="36576"/>
                    <a:lstStyle/>
                    <a:p>
                      <a:pPr algn="l"/>
                      <a:r>
                        <a:rPr sz="1300">
                          <a:solidFill>
                            <a:srgbClr val="E0E0E0"/>
                          </a:solidFill>
                          <a:latin typeface="Calibri"/>
                        </a:rPr>
                        <a:t>zero</a:t>
                      </a:r>
                    </a:p>
                  </a:txBody>
                  <a:tcPr>
                    <a:solidFill>
                      <a:srgbClr val="15152A"/>
                    </a:solidFill>
                  </a:tcPr>
                </a:tc>
              </a:tr>
              <a:tr h="800100">
                <a:tc>
                  <a:txBody>
                    <a:bodyPr wrap="square" lIns="73152" rIns="73152" tIns="36576" bIns="36576"/>
                    <a:lstStyle/>
                    <a:p>
                      <a:pPr algn="l"/>
                      <a:r>
                        <a:rPr sz="1300">
                          <a:solidFill>
                            <a:srgbClr val="E0E0E0"/>
                          </a:solidFill>
                          <a:latin typeface="Calibri"/>
                        </a:rPr>
                        <a:t>B — IndexLookup</a:t>
                      </a:r>
                    </a:p>
                  </a:txBody>
                  <a:tcPr>
                    <a:solidFill>
                      <a:srgbClr val="1D1D35"/>
                    </a:solidFill>
                  </a:tcPr>
                </a:tc>
                <a:tc>
                  <a:txBody>
                    <a:bodyPr wrap="square" lIns="73152" rIns="73152" tIns="36576" bIns="36576"/>
                    <a:lstStyle/>
                    <a:p>
                      <a:pPr algn="l"/>
                      <a:r>
                        <a:rPr sz="1300">
                          <a:solidFill>
                            <a:srgbClr val="E0E0E0"/>
                          </a:solidFill>
                          <a:latin typeface="Calibri"/>
                        </a:rPr>
                        <a:t>2</a:t>
                      </a:r>
                    </a:p>
                  </a:txBody>
                  <a:tcPr>
                    <a:solidFill>
                      <a:srgbClr val="1D1D35"/>
                    </a:solidFill>
                  </a:tcPr>
                </a:tc>
                <a:tc>
                  <a:txBody>
                    <a:bodyPr wrap="square" lIns="73152" rIns="73152" tIns="36576" bIns="36576"/>
                    <a:lstStyle/>
                    <a:p>
                      <a:pPr algn="l"/>
                      <a:r>
                        <a:rPr sz="1300">
                          <a:solidFill>
                            <a:srgbClr val="E0E0E0"/>
                          </a:solidFill>
                          <a:latin typeface="Calibri"/>
                        </a:rPr>
                        <a:t>indexed property condition</a:t>
                      </a:r>
                    </a:p>
                  </a:txBody>
                  <a:tcPr>
                    <a:solidFill>
                      <a:srgbClr val="1D1D35"/>
                    </a:solidFill>
                  </a:tcPr>
                </a:tc>
                <a:tc>
                  <a:txBody>
                    <a:bodyPr wrap="square" lIns="73152" rIns="73152" tIns="36576" bIns="36576"/>
                    <a:lstStyle/>
                    <a:p>
                      <a:pPr algn="l"/>
                      <a:r>
                        <a:rPr sz="1300">
                          <a:solidFill>
                            <a:srgbClr val="E0E0E0"/>
                          </a:solidFill>
                          <a:latin typeface="Calibri"/>
                        </a:rPr>
                        <a:t>resolved RID set, intersected</a:t>
                      </a:r>
                    </a:p>
                  </a:txBody>
                  <a:tcPr>
                    <a:solidFill>
                      <a:srgbClr val="1D1D35"/>
                    </a:solidFill>
                  </a:tcPr>
                </a:tc>
                <a:tc>
                  <a:txBody>
                    <a:bodyPr wrap="square" lIns="73152" rIns="73152" tIns="36576" bIns="36576"/>
                    <a:lstStyle/>
                    <a:p>
                      <a:pPr algn="l"/>
                      <a:r>
                        <a:rPr sz="1300">
                          <a:solidFill>
                            <a:srgbClr val="E0E0E0"/>
                          </a:solidFill>
                          <a:latin typeface="Calibri"/>
                        </a:rPr>
                        <a:t>one index scan</a:t>
                      </a:r>
                    </a:p>
                  </a:txBody>
                  <a:tcPr>
                    <a:solidFill>
                      <a:srgbClr val="1D1D35"/>
                    </a:solidFill>
                  </a:tcPr>
                </a:tc>
              </a:tr>
              <a:tr h="800100">
                <a:tc>
                  <a:txBody>
                    <a:bodyPr wrap="square" lIns="73152" rIns="73152" tIns="36576" bIns="36576"/>
                    <a:lstStyle/>
                    <a:p>
                      <a:pPr algn="l"/>
                      <a:r>
                        <a:rPr sz="1300">
                          <a:solidFill>
                            <a:srgbClr val="E0E0E0"/>
                          </a:solidFill>
                          <a:latin typeface="Calibri"/>
                        </a:rPr>
                        <a:t>C — EdgeRidLookup</a:t>
                      </a:r>
                    </a:p>
                  </a:txBody>
                  <a:tcPr>
                    <a:solidFill>
                      <a:srgbClr val="15152A"/>
                    </a:solidFill>
                  </a:tcPr>
                </a:tc>
                <a:tc>
                  <a:txBody>
                    <a:bodyPr wrap="square" lIns="73152" rIns="73152" tIns="36576" bIns="36576"/>
                    <a:lstStyle/>
                    <a:p>
                      <a:pPr algn="l"/>
                      <a:r>
                        <a:rPr sz="1300">
                          <a:solidFill>
                            <a:srgbClr val="E0E0E0"/>
                          </a:solidFill>
                          <a:latin typeface="Calibri"/>
                        </a:rPr>
                        <a:t>3</a:t>
                      </a:r>
                    </a:p>
                  </a:txBody>
                  <a:tcPr>
                    <a:solidFill>
                      <a:srgbClr val="15152A"/>
                    </a:solidFill>
                  </a:tcPr>
                </a:tc>
                <a:tc>
                  <a:txBody>
                    <a:bodyPr wrap="square" lIns="73152" rIns="73152" tIns="36576" bIns="36576"/>
                    <a:lstStyle/>
                    <a:p>
                      <a:pPr algn="l"/>
                      <a:r>
                        <a:rPr sz="1300">
                          <a:solidFill>
                            <a:srgbClr val="E0E0E0"/>
                          </a:solidFill>
                          <a:latin typeface="Calibri"/>
                        </a:rPr>
                        <a:t>out('E').@rid = $matched.X.@rid</a:t>
                      </a:r>
                    </a:p>
                  </a:txBody>
                  <a:tcPr>
                    <a:solidFill>
                      <a:srgbClr val="15152A"/>
                    </a:solidFill>
                  </a:tcPr>
                </a:tc>
                <a:tc>
                  <a:txBody>
                    <a:bodyPr wrap="square" lIns="73152" rIns="73152" tIns="36576" bIns="36576"/>
                    <a:lstStyle/>
                    <a:p>
                      <a:pPr algn="l"/>
                      <a:r>
                        <a:rPr sz="1300">
                          <a:solidFill>
                            <a:srgbClr val="E0E0E0"/>
                          </a:solidFill>
                          <a:latin typeface="Calibri"/>
                        </a:rPr>
                        <a:t>reverse LinkBag RID set, intersected</a:t>
                      </a:r>
                    </a:p>
                  </a:txBody>
                  <a:tcPr>
                    <a:solidFill>
                      <a:srgbClr val="15152A"/>
                    </a:solidFill>
                  </a:tcPr>
                </a:tc>
                <a:tc>
                  <a:txBody>
                    <a:bodyPr wrap="square" lIns="73152" rIns="73152" tIns="36576" bIns="36576"/>
                    <a:lstStyle/>
                    <a:p>
                      <a:pPr algn="l"/>
                      <a:r>
                        <a:rPr sz="1300">
                          <a:solidFill>
                            <a:srgbClr val="E0E0E0"/>
                          </a:solidFill>
                          <a:latin typeface="Calibri"/>
                        </a:rPr>
                        <a:t>one LinkBag walk</a:t>
                      </a:r>
                    </a:p>
                  </a:txBody>
                  <a:tcPr>
                    <a:solidFill>
                      <a:srgbClr val="15152A"/>
                    </a:solidFill>
                  </a:tcPr>
                </a:tc>
              </a:tr>
            </a:tbl>
          </a:graphicData>
        </a:graphic>
      </p:graphicFrame>
      <p:sp>
        <p:nvSpPr>
          <p:cNvPr id="5" name="TextBox 4"/>
          <p:cNvSpPr txBox="1"/>
          <p:nvPr/>
        </p:nvSpPr>
        <p:spPr>
          <a:xfrm>
            <a:off x="548640" y="4846320"/>
            <a:ext cx="10972800" cy="1371600"/>
          </a:xfrm>
          <a:prstGeom prst="rect">
            <a:avLst/>
          </a:prstGeom>
          <a:noFill/>
        </p:spPr>
        <p:txBody>
          <a:bodyPr wrap="square">
            <a:spAutoFit/>
          </a:bodyPr>
          <a:lstStyle/>
          <a:p>
            <a:pPr algn="l">
              <a:lnSpc>
                <a:spcPct val="115000"/>
              </a:lnSpc>
            </a:pPr>
            <a:r>
              <a:rPr sz="1700">
                <a:solidFill>
                  <a:srgbClr val="E0E0E0"/>
                </a:solidFill>
                <a:latin typeface="Calibri"/>
              </a:rPr>
              <a:t>• Filter target: VertexFromLinkBagIterator fields </a:t>
            </a:r>
            <a:r>
              <a:rPr sz="1700" b="1">
                <a:solidFill>
                  <a:srgbClr val="FCB13E"/>
                </a:solidFill>
                <a:latin typeface="Calibri"/>
              </a:rPr>
              <a:t>acceptedCollectionIds</a:t>
            </a:r>
            <a:r>
              <a:rPr sz="1700">
                <a:solidFill>
                  <a:srgbClr val="E0E0E0"/>
                </a:solidFill>
                <a:latin typeface="Calibri"/>
              </a:rPr>
              <a:t> and </a:t>
            </a:r>
            <a:r>
              <a:rPr sz="1700" b="1">
                <a:solidFill>
                  <a:srgbClr val="FCB13E"/>
                </a:solidFill>
                <a:latin typeface="Calibri"/>
              </a:rPr>
              <a:t>acceptedRids</a:t>
            </a:r>
          </a:p>
          <a:p>
            <a:pPr algn="l">
              <a:lnSpc>
                <a:spcPct val="115000"/>
              </a:lnSpc>
            </a:pPr>
            <a:r>
              <a:rPr sz="1700">
                <a:solidFill>
                  <a:srgbClr val="E0E0E0"/>
                </a:solidFill>
                <a:latin typeface="Calibri"/>
              </a:rPr>
              <a:t>• The test runs </a:t>
            </a:r>
            <a:r>
              <a:rPr sz="1700" b="1">
                <a:solidFill>
                  <a:srgbClr val="FCB13E"/>
                </a:solidFill>
                <a:latin typeface="Calibri"/>
              </a:rPr>
              <a:t>before</a:t>
            </a:r>
            <a:r>
              <a:rPr sz="1700">
                <a:solidFill>
                  <a:srgbClr val="E0E0E0"/>
                </a:solidFill>
                <a:latin typeface="Calibri"/>
              </a:rPr>
              <a:t> loadEntity()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spAutoFit/>
          </a:bodyPr>
          <a:lstStyle/>
          <a:p>
            <a:r>
              <a:rPr sz="2800" b="1">
                <a:solidFill>
                  <a:srgbClr val="FF318C"/>
                </a:solidFill>
                <a:latin typeface="Calibri"/>
              </a:rPr>
              <a:t>Descriptor #1 — DirectRid</a:t>
            </a:r>
          </a:p>
        </p:txBody>
      </p:sp>
      <p:sp>
        <p:nvSpPr>
          <p:cNvPr id="3" name="TextBox 2"/>
          <p:cNvSpPr txBox="1"/>
          <p:nvPr/>
        </p:nvSpPr>
        <p:spPr>
          <a:xfrm>
            <a:off x="457200" y="914400"/>
            <a:ext cx="11247120" cy="365760"/>
          </a:xfrm>
          <a:prstGeom prst="rect">
            <a:avLst/>
          </a:prstGeom>
          <a:noFill/>
        </p:spPr>
        <p:txBody>
          <a:bodyPr wrap="square">
            <a:spAutoFit/>
          </a:bodyPr>
          <a:lstStyle/>
          <a:p>
            <a:r>
              <a:rPr sz="1800" i="1">
                <a:solidFill>
                  <a:srgbClr val="E8B5C8"/>
                </a:solidFill>
                <a:latin typeface="Calibri"/>
              </a:rPr>
              <a:t>Singleton from a literal or parameter RID</a:t>
            </a:r>
          </a:p>
        </p:txBody>
      </p:sp>
      <p:sp>
        <p:nvSpPr>
          <p:cNvPr id="4" name="TextBox 3"/>
          <p:cNvSpPr txBox="1"/>
          <p:nvPr/>
        </p:nvSpPr>
        <p:spPr>
          <a:xfrm>
            <a:off x="548640" y="1300000"/>
            <a:ext cx="11094720" cy="600000"/>
          </a:xfrm>
          <a:prstGeom prst="rect">
            <a:avLst/>
          </a:prstGeom>
          <a:noFill/>
        </p:spPr>
        <p:txBody>
          <a:bodyPr wrap="square">
            <a:spAutoFit/>
          </a:bodyPr>
          <a:lstStyle/>
          <a:p>
            <a:r>
              <a:rPr sz="1700" b="1">
                <a:solidFill>
                  <a:srgbClr val="E0E0E0"/>
                </a:solidFill>
                <a:latin typeface="Calibri"/>
              </a:rPr>
              <a:t>Filters: </a:t>
            </a:r>
            <a:r>
              <a:rPr sz="1600" b="0">
                <a:solidFill>
                  <a:srgbClr val="B0E0B0"/>
                </a:solidFill>
                <a:latin typeface="Consolas"/>
              </a:rPr>
              <a:t>WHERE @rid = #12:0</a:t>
            </a:r>
            <a:r>
              <a:rPr sz="1700" b="0">
                <a:solidFill>
                  <a:srgbClr val="E0E0E0"/>
                </a:solidFill>
                <a:latin typeface="Calibri"/>
              </a:rPr>
              <a:t>   or   </a:t>
            </a:r>
            <a:r>
              <a:rPr sz="1600" b="0">
                <a:solidFill>
                  <a:srgbClr val="B0E0B0"/>
                </a:solidFill>
                <a:latin typeface="Consolas"/>
              </a:rPr>
              <a:t>WHERE @rid = :personId</a:t>
            </a:r>
          </a:p>
        </p:txBody>
      </p:sp>
      <p:sp>
        <p:nvSpPr>
          <p:cNvPr id="5" name="TextBox 4"/>
          <p:cNvSpPr txBox="1"/>
          <p:nvPr/>
        </p:nvSpPr>
        <p:spPr>
          <a:xfrm>
            <a:off x="548640" y="2000000"/>
            <a:ext cx="11094720" cy="1200000"/>
          </a:xfrm>
          <a:prstGeom prst="rect">
            <a:avLst/>
          </a:prstGeom>
          <a:solidFill>
            <a:srgbClr val="121220"/>
          </a:solidFill>
          <a:ln w="6350">
            <a:solidFill>
              <a:srgbClr val="404060"/>
            </a:solidFill>
          </a:ln>
        </p:spPr>
        <p:txBody>
          <a:bodyPr wrap="square">
            <a:spAutoFit/>
          </a:bodyPr>
          <a:lstStyle/>
          <a:p>
            <a:r>
              <a:rPr sz="1400">
                <a:solidFill>
                  <a:srgbClr val="B0E0B0"/>
                </a:solidFill>
                <a:latin typeface="Consolas"/>
              </a:rPr>
              <a:t>record DirectRid(SQLExpression ridExpression)</a:t>
            </a:r>
          </a:p>
          <a:p>
            <a:r>
              <a:rPr sz="1400">
                <a:solidFill>
                  <a:srgbClr val="B0E0B0"/>
                </a:solidFill>
                <a:latin typeface="Consolas"/>
              </a:rPr>
              <a:t>    implements RidFilterDescriptor {</a:t>
            </a:r>
          </a:p>
          <a:p>
            <a:r>
              <a:rPr sz="1400">
                <a:solidFill>
                  <a:srgbClr val="B0E0B0"/>
                </a:solidFill>
                <a:latin typeface="Consolas"/>
              </a:rPr>
              <a:t>  estimatedSize(...)        → 1            // exact</a:t>
            </a:r>
          </a:p>
          <a:p>
            <a:r>
              <a:rPr sz="1400">
                <a:solidFill>
                  <a:srgbClr val="B0E0B0"/>
                </a:solidFill>
                <a:latin typeface="Consolas"/>
              </a:rPr>
              <a:t>  resolve(ctx, key)         → RidSet of 1</a:t>
            </a:r>
          </a:p>
          <a:p>
            <a:r>
              <a:rPr sz="1400">
                <a:solidFill>
                  <a:srgbClr val="B0E0B0"/>
                </a:solidFill>
                <a:latin typeface="Consolas"/>
              </a:rPr>
              <a:t>  cacheKey(ctx)             → null         // too cheap to cache</a:t>
            </a:r>
          </a:p>
          <a:p>
            <a:r>
              <a:rPr sz="1400">
                <a:solidFill>
                  <a:srgbClr val="B0E0B0"/>
                </a:solidFill>
                <a:latin typeface="Consolas"/>
              </a:rPr>
              <a:t>  passesSelectivityCheck(...) → true        // 1 RID always worth it</a:t>
            </a:r>
          </a:p>
          <a:p>
            <a:r>
              <a:rPr sz="1400">
                <a:solidFill>
                  <a:srgbClr val="B0E0B0"/>
                </a:solidFill>
                <a:latin typeface="Consolas"/>
              </a:rPr>
              <a:t>}</a:t>
            </a:r>
          </a:p>
        </p:txBody>
      </p:sp>
      <p:sp>
        <p:nvSpPr>
          <p:cNvPr id="6" name="TextBox 5"/>
          <p:cNvSpPr txBox="1"/>
          <p:nvPr/>
        </p:nvSpPr>
        <p:spPr>
          <a:xfrm>
            <a:off x="548640" y="3300000"/>
            <a:ext cx="11094720" cy="3500000"/>
          </a:xfrm>
          <a:prstGeom prst="rect">
            <a:avLst/>
          </a:prstGeom>
          <a:noFill/>
        </p:spPr>
        <p:txBody>
          <a:bodyPr wrap="square">
            <a:spAutoFit/>
          </a:bodyPr>
          <a:lstStyle/>
          <a:p>
            <a:r>
              <a:rPr sz="1800" b="1">
                <a:solidFill>
                  <a:srgbClr val="FCB13E"/>
                </a:solidFill>
                <a:latin typeface="Calibri"/>
              </a:rPr>
              <a:t>Created by</a:t>
            </a:r>
          </a:p>
          <a:p>
            <a:r>
              <a:rPr sz="1600" b="0">
                <a:solidFill>
                  <a:srgbClr val="E0E0E0"/>
                </a:solidFill>
                <a:latin typeface="Calibri"/>
              </a:rPr>
              <a:t>• SELECT path:  </a:t>
            </a:r>
            <a:r>
              <a:rPr sz="1500" b="0">
                <a:solidFill>
                  <a:srgbClr val="B0E0B0"/>
                </a:solidFill>
                <a:latin typeface="Consolas"/>
              </a:rPr>
              <a:t>SelectExecutionPlanner.java:3425</a:t>
            </a:r>
            <a:r>
              <a:rPr sz="1600" b="0">
                <a:solidFill>
                  <a:srgbClr val="E0E0E0"/>
                </a:solidFill>
                <a:latin typeface="Calibri"/>
              </a:rPr>
              <a:t>  after extractAndRemoveRidEquality()</a:t>
            </a:r>
          </a:p>
          <a:p>
            <a:r>
              <a:rPr sz="1600" b="0">
                <a:solidFill>
                  <a:srgbClr val="E0E0E0"/>
                </a:solidFill>
                <a:latin typeface="Calibri"/>
              </a:rPr>
              <a:t>• MATCH path:  </a:t>
            </a:r>
            <a:r>
              <a:rPr sz="1500" b="0">
                <a:solidFill>
                  <a:srgbClr val="B0E0B0"/>
                </a:solidFill>
                <a:latin typeface="Consolas"/>
              </a:rPr>
              <a:t>MatchExecutionPlanner.java:3354</a:t>
            </a:r>
            <a:r>
              <a:rPr sz="1600" b="0">
                <a:solidFill>
                  <a:srgbClr val="E0E0E0"/>
                </a:solidFill>
                <a:latin typeface="Calibri"/>
              </a:rPr>
              <a:t>  when @rid = literal/param and no $matched involved</a:t>
            </a:r>
          </a:p>
          <a:p>
            <a:r>
              <a:rPr sz="800" b="0">
                <a:solidFill>
                  <a:srgbClr val="E0E0E0"/>
                </a:solidFill>
                <a:latin typeface="Calibri"/>
              </a:rPr>
              <a:t/>
            </a:r>
          </a:p>
          <a:p>
            <a:r>
              <a:rPr sz="1800" b="1">
                <a:solidFill>
                  <a:srgbClr val="FCB13E"/>
                </a:solidFill>
                <a:latin typeface="Calibri"/>
              </a:rPr>
              <a:t>When it fires</a:t>
            </a:r>
          </a:p>
          <a:p>
            <a:r>
              <a:rPr sz="1600" b="0">
                <a:solidFill>
                  <a:srgbClr val="E0E0E0"/>
                </a:solidFill>
                <a:latin typeface="Calibri"/>
              </a:rPr>
              <a:t>• Always — singleton filter is essentially free</a:t>
            </a:r>
          </a:p>
          <a:p>
            <a:r>
              <a:rPr sz="1600" b="0">
                <a:solidFill>
                  <a:srgbClr val="E0E0E0"/>
                </a:solidFill>
                <a:latin typeface="Calibri"/>
              </a:rPr>
              <a:t>• Detected first in MATCH; takes precedence over IndexLookup detection (continue;)</a:t>
            </a:r>
          </a:p>
          <a:p>
            <a:r>
              <a:rPr sz="800" b="0">
                <a:solidFill>
                  <a:srgbClr val="E0E0E0"/>
                </a:solidFill>
                <a:latin typeface="Calibri"/>
              </a:rPr>
              <a:t/>
            </a:r>
          </a:p>
          <a:p>
            <a:r>
              <a:rPr sz="1800" b="1">
                <a:solidFill>
                  <a:srgbClr val="FCB13E"/>
                </a:solidFill>
                <a:latin typeface="Calibri"/>
              </a:rPr>
              <a:t>Gain</a:t>
            </a:r>
          </a:p>
          <a:p>
            <a:r>
              <a:rPr sz="1600" b="0">
                <a:solidFill>
                  <a:srgbClr val="E0E0E0"/>
                </a:solidFill>
                <a:latin typeface="Calibri"/>
              </a:rPr>
              <a:t>• Replaces </a:t>
            </a:r>
            <a:r>
              <a:rPr sz="1500" b="0">
                <a:solidFill>
                  <a:srgbClr val="B0E0B0"/>
                </a:solidFill>
                <a:latin typeface="Consolas"/>
              </a:rPr>
              <a:t>load → check @rid</a:t>
            </a:r>
            <a:r>
              <a:rPr sz="1600" b="0">
                <a:solidFill>
                  <a:srgbClr val="E0E0E0"/>
                </a:solidFill>
                <a:latin typeface="Calibri"/>
              </a:rPr>
              <a:t> with </a:t>
            </a:r>
            <a:r>
              <a:rPr sz="1500" b="0">
                <a:solidFill>
                  <a:srgbClr val="B0E0B0"/>
                </a:solidFill>
                <a:latin typeface="Consolas"/>
              </a:rPr>
              <a:t>RidSet.contains</a:t>
            </a:r>
            <a:r>
              <a:rPr sz="1600" b="0">
                <a:solidFill>
                  <a:srgbClr val="E0E0E0"/>
                </a:solidFill>
                <a:latin typeface="Calibri"/>
              </a:rPr>
              <a:t> — ~100× I/O reduction for link bags with one expected hit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spAutoFit/>
          </a:bodyPr>
          <a:lstStyle/>
          <a:p>
            <a:r>
              <a:rPr sz="2800" b="1">
                <a:solidFill>
                  <a:srgbClr val="FF318C"/>
                </a:solidFill>
                <a:latin typeface="Calibri"/>
              </a:rPr>
              <a:t>Descriptor #2 — EdgeRidLookup</a:t>
            </a:r>
          </a:p>
        </p:txBody>
      </p:sp>
      <p:sp>
        <p:nvSpPr>
          <p:cNvPr id="3" name="TextBox 2"/>
          <p:cNvSpPr txBox="1"/>
          <p:nvPr/>
        </p:nvSpPr>
        <p:spPr>
          <a:xfrm>
            <a:off x="457200" y="914400"/>
            <a:ext cx="11247120" cy="365760"/>
          </a:xfrm>
          <a:prstGeom prst="rect">
            <a:avLst/>
          </a:prstGeom>
          <a:noFill/>
        </p:spPr>
        <p:txBody>
          <a:bodyPr wrap="square">
            <a:spAutoFit/>
          </a:bodyPr>
          <a:lstStyle/>
          <a:p>
            <a:r>
              <a:rPr sz="1800" i="1">
                <a:solidFill>
                  <a:srgbClr val="E8B5C8"/>
                </a:solidFill>
                <a:latin typeface="Calibri"/>
              </a:rPr>
              <a:t>Reverse-edge intersection: walk back-bag once, intersect with forward bag</a:t>
            </a:r>
          </a:p>
        </p:txBody>
      </p:sp>
      <p:sp>
        <p:nvSpPr>
          <p:cNvPr id="4" name="TextBox 3"/>
          <p:cNvSpPr txBox="1"/>
          <p:nvPr/>
        </p:nvSpPr>
        <p:spPr>
          <a:xfrm>
            <a:off x="548640" y="1300000"/>
            <a:ext cx="11094720" cy="600000"/>
          </a:xfrm>
          <a:prstGeom prst="rect">
            <a:avLst/>
          </a:prstGeom>
          <a:noFill/>
        </p:spPr>
        <p:txBody>
          <a:bodyPr wrap="square">
            <a:spAutoFit/>
          </a:bodyPr>
          <a:lstStyle/>
          <a:p>
            <a:r>
              <a:rPr sz="1700" b="1">
                <a:solidFill>
                  <a:srgbClr val="E0E0E0"/>
                </a:solidFill>
                <a:latin typeface="Calibri"/>
              </a:rPr>
              <a:t>Filters: </a:t>
            </a:r>
          </a:p>
          <a:p>
            <a:r>
              <a:rPr sz="1600" b="0">
                <a:solidFill>
                  <a:srgbClr val="E0E0E0"/>
                </a:solidFill>
                <a:latin typeface="Calibri"/>
              </a:rPr>
              <a:t>  SELECT:  </a:t>
            </a:r>
            <a:r>
              <a:rPr sz="1500" b="0">
                <a:solidFill>
                  <a:srgbClr val="B0E0B0"/>
                </a:solidFill>
                <a:latin typeface="Consolas"/>
              </a:rPr>
              <a:t>WHERE out/in('Edge').@rid = &lt;expr&gt;</a:t>
            </a:r>
          </a:p>
          <a:p>
            <a:r>
              <a:rPr sz="1600" b="0">
                <a:solidFill>
                  <a:srgbClr val="E0E0E0"/>
                </a:solidFill>
                <a:latin typeface="Calibri"/>
              </a:rPr>
              <a:t>  MATCH:   </a:t>
            </a:r>
            <a:r>
              <a:rPr sz="1500" b="0">
                <a:solidFill>
                  <a:srgbClr val="B0E0B0"/>
                </a:solidFill>
                <a:latin typeface="Consolas"/>
              </a:rPr>
              <a:t>{as: msg, where: (@rid = $matched.person.@rid)}</a:t>
            </a:r>
          </a:p>
        </p:txBody>
      </p:sp>
      <p:sp>
        <p:nvSpPr>
          <p:cNvPr id="5" name="TextBox 4"/>
          <p:cNvSpPr txBox="1"/>
          <p:nvPr/>
        </p:nvSpPr>
        <p:spPr>
          <a:xfrm>
            <a:off x="548640" y="1900000"/>
            <a:ext cx="11094720" cy="1150000"/>
          </a:xfrm>
          <a:prstGeom prst="rect">
            <a:avLst/>
          </a:prstGeom>
          <a:solidFill>
            <a:srgbClr val="121220"/>
          </a:solidFill>
          <a:ln w="6350">
            <a:solidFill>
              <a:srgbClr val="404060"/>
            </a:solidFill>
          </a:ln>
        </p:spPr>
        <p:txBody>
          <a:bodyPr wrap="square">
            <a:spAutoFit/>
          </a:bodyPr>
          <a:lstStyle/>
          <a:p>
            <a:r>
              <a:rPr sz="1300">
                <a:solidFill>
                  <a:srgbClr val="B0E0B0"/>
                </a:solidFill>
                <a:latin typeface="Consolas"/>
              </a:rPr>
              <a:t>record EdgeRidLookup(</a:t>
            </a:r>
          </a:p>
          <a:p>
            <a:r>
              <a:rPr sz="1300">
                <a:solidFill>
                  <a:srgbClr val="B0E0B0"/>
                </a:solidFill>
                <a:latin typeface="Consolas"/>
              </a:rPr>
              <a:t>    String edgeClassName, String traversalDirection,</a:t>
            </a:r>
          </a:p>
          <a:p>
            <a:r>
              <a:rPr sz="1300">
                <a:solidFill>
                  <a:srgbClr val="B0E0B0"/>
                </a:solidFill>
                <a:latin typeface="Consolas"/>
              </a:rPr>
              <a:t>    SQLExpression targetRidExpression,</a:t>
            </a:r>
          </a:p>
          <a:p>
            <a:r>
              <a:rPr sz="1300">
                <a:solidFill>
                  <a:srgbClr val="B0E0B0"/>
                </a:solidFill>
                <a:latin typeface="Consolas"/>
              </a:rPr>
              <a:t>    boolean collectEdgeRids)  implements RidFilterDescriptor {</a:t>
            </a:r>
          </a:p>
          <a:p>
            <a:r>
              <a:rPr sz="1300">
                <a:solidFill>
                  <a:srgbClr val="B0E0B0"/>
                </a:solidFill>
                <a:latin typeface="Consolas"/>
              </a:rPr>
              <a:t>  estimatedSize(...)  → reverse link-bag size (O(1) field read on target)</a:t>
            </a:r>
          </a:p>
          <a:p>
            <a:r>
              <a:rPr sz="1300">
                <a:solidFill>
                  <a:srgbClr val="B0E0B0"/>
                </a:solidFill>
                <a:latin typeface="Consolas"/>
              </a:rPr>
              <a:t>  resolve(...)        → load target, read in_E / out_E, materialise RidSet</a:t>
            </a:r>
          </a:p>
          <a:p>
            <a:r>
              <a:rPr sz="1300">
                <a:solidFill>
                  <a:srgbClr val="B0E0B0"/>
                </a:solidFill>
                <a:latin typeface="Consolas"/>
              </a:rPr>
              <a:t>  cacheKey(ctx)       → target RID  (same $matched.X → same RidSet)</a:t>
            </a:r>
          </a:p>
          <a:p>
            <a:r>
              <a:rPr sz="1300">
                <a:solidFill>
                  <a:srgbClr val="B0E0B0"/>
                </a:solidFill>
                <a:latin typeface="Consolas"/>
              </a:rPr>
              <a:t>  passesSelectivityCheck(rs, lb) → rs / lb ≤ 0.8</a:t>
            </a:r>
          </a:p>
          <a:p>
            <a:r>
              <a:rPr sz="1300">
                <a:solidFill>
                  <a:srgbClr val="B0E0B0"/>
                </a:solidFill>
                <a:latin typeface="Consolas"/>
              </a:rPr>
              <a:t>}</a:t>
            </a:r>
          </a:p>
        </p:txBody>
      </p:sp>
      <p:sp>
        <p:nvSpPr>
          <p:cNvPr id="6" name="TextBox 5"/>
          <p:cNvSpPr txBox="1"/>
          <p:nvPr/>
        </p:nvSpPr>
        <p:spPr>
          <a:xfrm>
            <a:off x="548640" y="3150000"/>
            <a:ext cx="11094720" cy="3500000"/>
          </a:xfrm>
          <a:prstGeom prst="rect">
            <a:avLst/>
          </a:prstGeom>
          <a:noFill/>
        </p:spPr>
        <p:txBody>
          <a:bodyPr wrap="square">
            <a:spAutoFit/>
          </a:bodyPr>
          <a:lstStyle/>
          <a:p>
            <a:r>
              <a:rPr sz="1800" b="1">
                <a:solidFill>
                  <a:srgbClr val="FCB13E"/>
                </a:solidFill>
                <a:latin typeface="Calibri"/>
              </a:rPr>
              <a:t>Created by</a:t>
            </a:r>
          </a:p>
          <a:p>
            <a:r>
              <a:rPr sz="1600" b="0">
                <a:solidFill>
                  <a:srgbClr val="E0E0E0"/>
                </a:solidFill>
                <a:latin typeface="Calibri"/>
              </a:rPr>
              <a:t>• SELECT:  </a:t>
            </a:r>
            <a:r>
              <a:rPr sz="1400" b="0">
                <a:solidFill>
                  <a:srgbClr val="B0E0B0"/>
                </a:solidFill>
                <a:latin typeface="Consolas"/>
              </a:rPr>
              <a:t>SelectExecutionPlanner.java:3412</a:t>
            </a:r>
            <a:r>
              <a:rPr sz="1600" b="0">
                <a:solidFill>
                  <a:srgbClr val="E0E0E0"/>
                </a:solidFill>
                <a:latin typeface="Calibri"/>
              </a:rPr>
              <a:t>  (collectEdgeRids = false)</a:t>
            </a:r>
          </a:p>
          <a:p>
            <a:r>
              <a:rPr sz="1600" b="0">
                <a:solidFill>
                  <a:srgbClr val="E0E0E0"/>
                </a:solidFill>
                <a:latin typeface="Calibri"/>
              </a:rPr>
              <a:t>• MATCH:   </a:t>
            </a:r>
            <a:r>
              <a:rPr sz="1400" b="0">
                <a:solidFill>
                  <a:srgbClr val="B0E0B0"/>
                </a:solidFill>
                <a:latin typeface="Consolas"/>
              </a:rPr>
              <a:t>MatchExecutionPlanner.java:3322</a:t>
            </a:r>
            <a:r>
              <a:rPr sz="1600" b="0">
                <a:solidFill>
                  <a:srgbClr val="E0E0E0"/>
                </a:solidFill>
                <a:latin typeface="Calibri"/>
              </a:rPr>
              <a:t>  — attached to edge </a:t>
            </a:r>
            <a:r>
              <a:rPr sz="1600" b="1">
                <a:solidFill>
                  <a:srgbClr val="FCB13E"/>
                </a:solidFill>
                <a:latin typeface="Calibri"/>
              </a:rPr>
              <a:t>producing $matched.X</a:t>
            </a:r>
            <a:r>
              <a:rPr sz="1600" b="0">
                <a:solidFill>
                  <a:srgbClr val="E0E0E0"/>
                </a:solidFill>
                <a:latin typeface="Calibri"/>
              </a:rPr>
              <a:t>, not the current edge</a:t>
            </a:r>
          </a:p>
          <a:p>
            <a:r>
              <a:rPr sz="1600" b="0">
                <a:solidFill>
                  <a:srgbClr val="E0E0E0"/>
                </a:solidFill>
                <a:latin typeface="Calibri"/>
              </a:rPr>
              <a:t>• </a:t>
            </a:r>
            <a:r>
              <a:rPr sz="1500" b="0">
                <a:solidFill>
                  <a:srgbClr val="B0E0B0"/>
                </a:solidFill>
                <a:latin typeface="Consolas"/>
              </a:rPr>
              <a:t>collectEdgeRids = true</a:t>
            </a:r>
            <a:r>
              <a:rPr sz="1600" b="0">
                <a:solidFill>
                  <a:srgbClr val="E0E0E0"/>
                </a:solidFill>
                <a:latin typeface="Calibri"/>
              </a:rPr>
              <a:t> when path is </a:t>
            </a:r>
            <a:r>
              <a:rPr sz="1500" b="0">
                <a:solidFill>
                  <a:srgbClr val="B0E0B0"/>
                </a:solidFill>
                <a:latin typeface="Consolas"/>
              </a:rPr>
              <a:t>.outE/.inE</a:t>
            </a:r>
            <a:r>
              <a:rPr sz="1600" b="0">
                <a:solidFill>
                  <a:srgbClr val="E0E0E0"/>
                </a:solidFill>
                <a:latin typeface="Calibri"/>
              </a:rPr>
              <a:t> — iterator walks edge RIDs, not vertex RIDs</a:t>
            </a:r>
          </a:p>
          <a:p>
            <a:r>
              <a:rPr sz="600" b="0">
                <a:solidFill>
                  <a:srgbClr val="E0E0E0"/>
                </a:solidFill>
                <a:latin typeface="Calibri"/>
              </a:rPr>
              <a:t/>
            </a:r>
          </a:p>
          <a:p>
            <a:r>
              <a:rPr sz="1800" b="1">
                <a:solidFill>
                  <a:srgbClr val="FCB13E"/>
                </a:solidFill>
                <a:latin typeface="Calibri"/>
              </a:rPr>
              <a:t>Why ratio ≤ 0.8</a:t>
            </a:r>
          </a:p>
          <a:p>
            <a:r>
              <a:rPr sz="1600" b="0">
                <a:solidFill>
                  <a:srgbClr val="E0E0E0"/>
                </a:solidFill>
                <a:latin typeface="Calibri"/>
              </a:rPr>
              <a:t>• Per-vertex overlap: if reverse-bag is ≥ 80% of forward-bag, intersection saves ≤ 20% loads</a:t>
            </a:r>
          </a:p>
          <a:p>
            <a:r>
              <a:rPr sz="1600" b="0">
                <a:solidFill>
                  <a:srgbClr val="E0E0E0"/>
                </a:solidFill>
                <a:latin typeface="Calibri"/>
              </a:rPr>
              <a:t>• Build cost (one in_E/out_E read) is small but not free; LDBC-calibrated threshold</a:t>
            </a:r>
          </a:p>
          <a:p>
            <a:r>
              <a:rPr sz="600" b="0">
                <a:solidFill>
                  <a:srgbClr val="E0E0E0"/>
                </a:solidFill>
                <a:latin typeface="Calibri"/>
              </a:rPr>
              <a:t/>
            </a:r>
          </a:p>
          <a:p>
            <a:r>
              <a:rPr sz="1800" b="1">
                <a:solidFill>
                  <a:srgbClr val="FCB13E"/>
                </a:solidFill>
                <a:latin typeface="Calibri"/>
              </a:rPr>
              <a:t>Gain</a:t>
            </a:r>
          </a:p>
          <a:p>
            <a:r>
              <a:rPr sz="1600" b="0">
                <a:solidFill>
                  <a:srgbClr val="E0E0E0"/>
                </a:solidFill>
                <a:latin typeface="Calibri"/>
              </a:rPr>
              <a:t>• IC1 transitiveFriends: </a:t>
            </a:r>
            <a:r>
              <a:rPr sz="1600" b="1">
                <a:solidFill>
                  <a:srgbClr val="FCB13E"/>
                </a:solidFill>
                <a:latin typeface="Calibri"/>
              </a:rPr>
              <a:t>+12%</a:t>
            </a:r>
            <a:r>
              <a:rPr sz="1600" b="0">
                <a:solidFill>
                  <a:srgbClr val="E0E0E0"/>
                </a:solidFill>
                <a:latin typeface="Calibri"/>
              </a:rPr>
              <a:t>    IC12 expertSearch: </a:t>
            </a:r>
            <a:r>
              <a:rPr sz="1600" b="1">
                <a:solidFill>
                  <a:srgbClr val="FCB13E"/>
                </a:solidFill>
                <a:latin typeface="Calibri"/>
              </a:rPr>
              <a:t>+106%</a:t>
            </a:r>
          </a:p>
          <a:p>
            <a:r>
              <a:rPr sz="1600" b="0">
                <a:solidFill>
                  <a:srgbClr val="E0E0E0"/>
                </a:solidFill>
                <a:latin typeface="Calibri"/>
              </a:rPr>
              <a:t>• Amortises ONE reverse-bag read across ALL forward traversals through that edge (cache hit on $matched.X RID)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spAutoFit/>
          </a:bodyPr>
          <a:lstStyle/>
          <a:p>
            <a:r>
              <a:rPr sz="2800" b="1">
                <a:solidFill>
                  <a:srgbClr val="FF318C"/>
                </a:solidFill>
                <a:latin typeface="Calibri"/>
              </a:rPr>
              <a:t>Descriptor #3 — IndexLookup</a:t>
            </a:r>
          </a:p>
        </p:txBody>
      </p:sp>
      <p:sp>
        <p:nvSpPr>
          <p:cNvPr id="3" name="TextBox 2"/>
          <p:cNvSpPr txBox="1"/>
          <p:nvPr/>
        </p:nvSpPr>
        <p:spPr>
          <a:xfrm>
            <a:off x="457200" y="914400"/>
            <a:ext cx="11247120" cy="365760"/>
          </a:xfrm>
          <a:prstGeom prst="rect">
            <a:avLst/>
          </a:prstGeom>
          <a:noFill/>
        </p:spPr>
        <p:txBody>
          <a:bodyPr wrap="square">
            <a:spAutoFit/>
          </a:bodyPr>
          <a:lstStyle/>
          <a:p>
            <a:r>
              <a:rPr sz="1800" i="1">
                <a:solidFill>
                  <a:srgbClr val="E8B5C8"/>
                </a:solidFill>
                <a:latin typeface="Calibri"/>
              </a:rPr>
              <a:t>Class-level RID set from an index — constant for the whole query</a:t>
            </a:r>
          </a:p>
        </p:txBody>
      </p:sp>
      <p:sp>
        <p:nvSpPr>
          <p:cNvPr id="4" name="TextBox 3"/>
          <p:cNvSpPr txBox="1"/>
          <p:nvPr/>
        </p:nvSpPr>
        <p:spPr>
          <a:xfrm>
            <a:off x="548640" y="1300000"/>
            <a:ext cx="11094720" cy="700000"/>
          </a:xfrm>
          <a:prstGeom prst="rect">
            <a:avLst/>
          </a:prstGeom>
          <a:noFill/>
        </p:spPr>
        <p:txBody>
          <a:bodyPr wrap="square">
            <a:spAutoFit/>
          </a:bodyPr>
          <a:lstStyle/>
          <a:p>
            <a:r>
              <a:rPr sz="1700" b="1">
                <a:solidFill>
                  <a:srgbClr val="E0E0E0"/>
                </a:solidFill>
                <a:latin typeface="Calibri"/>
              </a:rPr>
              <a:t>Filters: </a:t>
            </a:r>
          </a:p>
          <a:p>
            <a:r>
              <a:rPr sz="1600" b="0">
                <a:solidFill>
                  <a:srgbClr val="E0E0E0"/>
                </a:solidFill>
                <a:latin typeface="Calibri"/>
              </a:rPr>
              <a:t>  </a:t>
            </a:r>
            <a:r>
              <a:rPr sz="1400" b="0">
                <a:solidFill>
                  <a:srgbClr val="B0E0B0"/>
                </a:solidFill>
                <a:latin typeface="Consolas"/>
              </a:rPr>
              <a:t>{as: msg, where: (creationDate &gt;= :start AND creationDate &lt; :end)}</a:t>
            </a:r>
          </a:p>
          <a:p>
            <a:r>
              <a:rPr sz="1600" b="0">
                <a:solidFill>
                  <a:srgbClr val="E0E0E0"/>
                </a:solidFill>
                <a:latin typeface="Calibri"/>
              </a:rPr>
              <a:t>  </a:t>
            </a:r>
            <a:r>
              <a:rPr sz="1400" b="0">
                <a:solidFill>
                  <a:srgbClr val="B0E0B0"/>
                </a:solidFill>
                <a:latin typeface="Consolas"/>
              </a:rPr>
              <a:t>{as: c,   where: (name IN [:cX, :cY])}</a:t>
            </a:r>
          </a:p>
          <a:p>
            <a:r>
              <a:rPr sz="1600" b="0">
                <a:solidFill>
                  <a:srgbClr val="E0E0E0"/>
                </a:solidFill>
                <a:latin typeface="Calibri"/>
              </a:rPr>
              <a:t>  </a:t>
            </a:r>
            <a:r>
              <a:rPr sz="1400" b="0">
                <a:solidFill>
                  <a:srgbClr val="B0E0B0"/>
                </a:solidFill>
                <a:latin typeface="Consolas"/>
              </a:rPr>
              <a:t>{as: p,   where: (val BETWEEN x AND y)}</a:t>
            </a:r>
            <a:r>
              <a:rPr sz="1600" b="0">
                <a:solidFill>
                  <a:srgbClr val="E0E0E0"/>
                </a:solidFill>
                <a:latin typeface="Calibri"/>
              </a:rPr>
              <a:t>   ← via PR #923 BETWEEN rewrite</a:t>
            </a:r>
          </a:p>
        </p:txBody>
      </p:sp>
      <p:sp>
        <p:nvSpPr>
          <p:cNvPr id="5" name="TextBox 4"/>
          <p:cNvSpPr txBox="1"/>
          <p:nvPr/>
        </p:nvSpPr>
        <p:spPr>
          <a:xfrm>
            <a:off x="548640" y="2050000"/>
            <a:ext cx="11094720" cy="1200000"/>
          </a:xfrm>
          <a:prstGeom prst="rect">
            <a:avLst/>
          </a:prstGeom>
          <a:solidFill>
            <a:srgbClr val="121220"/>
          </a:solidFill>
          <a:ln w="6350">
            <a:solidFill>
              <a:srgbClr val="404060"/>
            </a:solidFill>
          </a:ln>
        </p:spPr>
        <p:txBody>
          <a:bodyPr wrap="square">
            <a:spAutoFit/>
          </a:bodyPr>
          <a:lstStyle/>
          <a:p>
            <a:r>
              <a:rPr sz="1300">
                <a:solidFill>
                  <a:srgbClr val="B0E0B0"/>
                </a:solidFill>
                <a:latin typeface="Consolas"/>
              </a:rPr>
              <a:t>record IndexLookup(IndexSearchDescriptor indexDescriptor)</a:t>
            </a:r>
          </a:p>
          <a:p>
            <a:r>
              <a:rPr sz="1300">
                <a:solidFill>
                  <a:srgbClr val="B0E0B0"/>
                </a:solidFill>
                <a:latin typeface="Consolas"/>
              </a:rPr>
              <a:t>    implements RidFilterDescriptor {</a:t>
            </a:r>
          </a:p>
          <a:p>
            <a:r>
              <a:rPr sz="1300">
                <a:solidFill>
                  <a:srgbClr val="B0E0B0"/>
                </a:solidFill>
                <a:latin typeface="Consolas"/>
              </a:rPr>
              <a:t>  estimatedSize(...)   → indexDescriptor.estimateHits()  // histogram, O(1)</a:t>
            </a:r>
          </a:p>
          <a:p>
            <a:r>
              <a:rPr sz="1300">
                <a:solidFill>
                  <a:srgbClr val="B0E0B0"/>
                </a:solidFill>
                <a:latin typeface="Consolas"/>
              </a:rPr>
              <a:t>  resolve(...)         → index scan → RidSet</a:t>
            </a:r>
          </a:p>
          <a:p>
            <a:r>
              <a:rPr sz="1300">
                <a:solidFill>
                  <a:srgbClr val="B0E0B0"/>
                </a:solidFill>
                <a:latin typeface="Consolas"/>
              </a:rPr>
              <a:t>  cacheKey(ctx)        → cacheFingerprint()              // PR #973 fix</a:t>
            </a:r>
          </a:p>
          <a:p>
            <a:r>
              <a:rPr sz="1300">
                <a:solidFill>
                  <a:srgbClr val="B0E0B0"/>
                </a:solidFill>
                <a:latin typeface="Consolas"/>
              </a:rPr>
              <a:t>                          (index name + key cond + range cond)</a:t>
            </a:r>
          </a:p>
          <a:p>
            <a:r>
              <a:rPr sz="1300">
                <a:solidFill>
                  <a:srgbClr val="B0E0B0"/>
                </a:solidFill>
                <a:latin typeface="Consolas"/>
              </a:rPr>
              <a:t>  passesSelectivityCheck(...) → selectivity ≤ 0.95</a:t>
            </a:r>
          </a:p>
          <a:p>
            <a:r>
              <a:rPr sz="1300">
                <a:solidFill>
                  <a:srgbClr val="B0E0B0"/>
                </a:solidFill>
                <a:latin typeface="Consolas"/>
              </a:rPr>
              <a:t>                                 if NaN/&lt;0 → REJECT (STATS_UNAVAILABLE)</a:t>
            </a:r>
          </a:p>
          <a:p>
            <a:r>
              <a:rPr sz="1300">
                <a:solidFill>
                  <a:srgbClr val="B0E0B0"/>
                </a:solidFill>
                <a:latin typeface="Consolas"/>
              </a:rPr>
              <a:t>}</a:t>
            </a:r>
          </a:p>
        </p:txBody>
      </p:sp>
      <p:sp>
        <p:nvSpPr>
          <p:cNvPr id="6" name="TextBox 5"/>
          <p:cNvSpPr txBox="1"/>
          <p:nvPr/>
        </p:nvSpPr>
        <p:spPr>
          <a:xfrm>
            <a:off x="548640" y="3300000"/>
            <a:ext cx="11094720" cy="3400000"/>
          </a:xfrm>
          <a:prstGeom prst="rect">
            <a:avLst/>
          </a:prstGeom>
          <a:noFill/>
        </p:spPr>
        <p:txBody>
          <a:bodyPr wrap="square">
            <a:spAutoFit/>
          </a:bodyPr>
          <a:lstStyle/>
          <a:p>
            <a:r>
              <a:rPr sz="1800" b="1">
                <a:solidFill>
                  <a:srgbClr val="FCB13E"/>
                </a:solidFill>
                <a:latin typeface="Calibri"/>
              </a:rPr>
              <a:t>Created by</a:t>
            </a:r>
          </a:p>
          <a:p>
            <a:r>
              <a:rPr sz="1600" b="0">
                <a:solidFill>
                  <a:srgbClr val="E0E0E0"/>
                </a:solidFill>
                <a:latin typeface="Calibri"/>
              </a:rPr>
              <a:t>• MATCH only:  </a:t>
            </a:r>
            <a:r>
              <a:rPr sz="1400" b="0">
                <a:solidFill>
                  <a:srgbClr val="B0E0B0"/>
                </a:solidFill>
                <a:latin typeface="Consolas"/>
              </a:rPr>
              <a:t>MatchExecutionPlanner.java:3402</a:t>
            </a:r>
            <a:r>
              <a:rPr sz="1600" b="0">
                <a:solidFill>
                  <a:srgbClr val="E0E0E0"/>
                </a:solidFill>
                <a:latin typeface="Calibri"/>
              </a:rPr>
              <a:t>  after findIndexForFilter() succeeds on non-$matched part of WHERE</a:t>
            </a:r>
          </a:p>
          <a:p>
            <a:r>
              <a:rPr sz="1600" b="0">
                <a:solidFill>
                  <a:srgbClr val="E0E0E0"/>
                </a:solidFill>
                <a:latin typeface="Calibri"/>
              </a:rPr>
              <a:t>• SELECT uses raw </a:t>
            </a:r>
            <a:r>
              <a:rPr sz="1500" b="0">
                <a:solidFill>
                  <a:srgbClr val="B0E0B0"/>
                </a:solidFill>
                <a:latin typeface="Consolas"/>
              </a:rPr>
              <a:t>IndexSearchDescriptor</a:t>
            </a:r>
            <a:r>
              <a:rPr sz="1600" b="0">
                <a:solidFill>
                  <a:srgbClr val="E0E0E0"/>
                </a:solidFill>
                <a:latin typeface="Calibri"/>
              </a:rPr>
              <a:t> passed alongside ExpandStep — not wrapped in this record</a:t>
            </a:r>
          </a:p>
          <a:p>
            <a:r>
              <a:rPr sz="600" b="0">
                <a:solidFill>
                  <a:srgbClr val="E0E0E0"/>
                </a:solidFill>
                <a:latin typeface="Calibri"/>
              </a:rPr>
              <a:t/>
            </a:r>
          </a:p>
          <a:p>
            <a:r>
              <a:rPr sz="1800" b="1">
                <a:solidFill>
                  <a:srgbClr val="FCB13E"/>
                </a:solidFill>
                <a:latin typeface="Calibri"/>
              </a:rPr>
              <a:t>Two independent gates before materialise</a:t>
            </a:r>
          </a:p>
          <a:p>
            <a:r>
              <a:rPr sz="1600" b="0">
                <a:solidFill>
                  <a:srgbClr val="E0E0E0"/>
                </a:solidFill>
                <a:latin typeface="Calibri"/>
              </a:rPr>
              <a:t>• </a:t>
            </a:r>
            <a:r>
              <a:rPr sz="1500" b="0">
                <a:solidFill>
                  <a:srgbClr val="B0E0B0"/>
                </a:solidFill>
                <a:latin typeface="Consolas"/>
              </a:rPr>
              <a:t>passesSelectivityCheck</a:t>
            </a:r>
            <a:r>
              <a:rPr sz="1600" b="0">
                <a:solidFill>
                  <a:srgbClr val="E0E0E0"/>
                </a:solidFill>
                <a:latin typeface="Calibri"/>
              </a:rPr>
              <a:t> — does filter actually filter enough?  (sel ≤ 0.95)</a:t>
            </a:r>
          </a:p>
          <a:p>
            <a:r>
              <a:rPr sz="1600" b="0">
                <a:solidFill>
                  <a:srgbClr val="E0E0E0"/>
                </a:solidFill>
                <a:latin typeface="Calibri"/>
              </a:rPr>
              <a:t>• </a:t>
            </a:r>
            <a:r>
              <a:rPr sz="1500" b="0">
                <a:solidFill>
                  <a:srgbClr val="B0E0B0"/>
                </a:solidFill>
                <a:latin typeface="Consolas"/>
              </a:rPr>
              <a:t>checkIndexLookupAmortization</a:t>
            </a:r>
            <a:r>
              <a:rPr sz="1600" b="0">
                <a:solidFill>
                  <a:srgbClr val="E0E0E0"/>
                </a:solidFill>
                <a:latin typeface="Calibri"/>
              </a:rPr>
              <a:t> — will we process enough vertices to pay back the build?</a:t>
            </a:r>
          </a:p>
          <a:p>
            <a:r>
              <a:rPr sz="1600" b="0">
                <a:solidFill>
                  <a:srgbClr val="E0E0E0"/>
                </a:solidFill>
                <a:latin typeface="Calibri"/>
              </a:rPr>
              <a:t>   → BUILD_EAGER  when forecastN &gt; m AND rootSourceRows ≥ 30 (CLT gate)</a:t>
            </a:r>
          </a:p>
          <a:p>
            <a:r>
              <a:rPr sz="1600" b="0">
                <a:solidFill>
                  <a:srgbClr val="E0E0E0"/>
                </a:solidFill>
                <a:latin typeface="Calibri"/>
              </a:rPr>
              <a:t>   → DEFERRED_WITH_NET  otherwise: accumulate linkBag entries, materialise at T = max(2·forecastN, m)</a:t>
            </a:r>
          </a:p>
          <a:p>
            <a:r>
              <a:rPr sz="600" b="0">
                <a:solidFill>
                  <a:srgbClr val="E0E0E0"/>
                </a:solidFill>
                <a:latin typeface="Calibri"/>
              </a:rPr>
              <a:t/>
            </a:r>
          </a:p>
          <a:p>
            <a:r>
              <a:rPr sz="1800" b="1">
                <a:solidFill>
                  <a:srgbClr val="FCB13E"/>
                </a:solidFill>
                <a:latin typeface="Calibri"/>
              </a:rPr>
              <a:t>Gain</a:t>
            </a:r>
          </a:p>
          <a:p>
            <a:r>
              <a:rPr sz="1600" b="0">
                <a:solidFill>
                  <a:srgbClr val="E0E0E0"/>
                </a:solidFill>
                <a:latin typeface="Calibri"/>
              </a:rPr>
              <a:t>• IS7 messageReplies </a:t>
            </a:r>
            <a:r>
              <a:rPr sz="1600" b="1">
                <a:solidFill>
                  <a:srgbClr val="FCB13E"/>
                </a:solidFill>
                <a:latin typeface="Calibri"/>
              </a:rPr>
              <a:t>+220%</a:t>
            </a:r>
            <a:r>
              <a:rPr sz="1600" b="0">
                <a:solidFill>
                  <a:srgbClr val="E0E0E0"/>
                </a:solidFill>
                <a:latin typeface="Calibri"/>
              </a:rPr>
              <a:t>;  IC3 friendsInCountries </a:t>
            </a:r>
            <a:r>
              <a:rPr sz="1600" b="1">
                <a:solidFill>
                  <a:srgbClr val="FCB13E"/>
                </a:solidFill>
                <a:latin typeface="Calibri"/>
              </a:rPr>
              <a:t>+1117%</a:t>
            </a:r>
            <a:r>
              <a:rPr sz="1600" b="0">
                <a:solidFill>
                  <a:srgbClr val="E0E0E0"/>
                </a:solidFill>
                <a:latin typeface="Calibri"/>
              </a:rPr>
              <a:t>;  IC9 </a:t>
            </a:r>
            <a:r>
              <a:rPr sz="1600" b="1">
                <a:solidFill>
                  <a:srgbClr val="FCB13E"/>
                </a:solidFill>
                <a:latin typeface="Calibri"/>
              </a:rPr>
              <a:t>+483%</a:t>
            </a:r>
          </a:p>
          <a:p>
            <a:r>
              <a:rPr sz="1600" b="0">
                <a:solidFill>
                  <a:srgbClr val="E0E0E0"/>
                </a:solidFill>
                <a:latin typeface="Calibri"/>
              </a:rPr>
              <a:t>• RidSet is CONSTANT for the query → cached on first vertex, free for all the rest through that edge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spAutoFit/>
          </a:bodyPr>
          <a:lstStyle/>
          <a:p>
            <a:r>
              <a:rPr sz="2800" b="1">
                <a:solidFill>
                  <a:srgbClr val="FF318C"/>
                </a:solidFill>
                <a:latin typeface="Calibri"/>
              </a:rPr>
              <a:t>Descriptor #4 — Composite</a:t>
            </a:r>
          </a:p>
        </p:txBody>
      </p:sp>
      <p:sp>
        <p:nvSpPr>
          <p:cNvPr id="3" name="TextBox 2"/>
          <p:cNvSpPr txBox="1"/>
          <p:nvPr/>
        </p:nvSpPr>
        <p:spPr>
          <a:xfrm>
            <a:off x="457200" y="914400"/>
            <a:ext cx="11247120" cy="365760"/>
          </a:xfrm>
          <a:prstGeom prst="rect">
            <a:avLst/>
          </a:prstGeom>
          <a:noFill/>
        </p:spPr>
        <p:txBody>
          <a:bodyPr wrap="square">
            <a:spAutoFit/>
          </a:bodyPr>
          <a:lstStyle/>
          <a:p>
            <a:r>
              <a:rPr sz="1800" i="1">
                <a:solidFill>
                  <a:srgbClr val="E8B5C8"/>
                </a:solidFill>
                <a:latin typeface="Calibri"/>
              </a:rPr>
              <a:t>Automatic intersection — never built directly by the planner</a:t>
            </a:r>
          </a:p>
        </p:txBody>
      </p:sp>
      <p:sp>
        <p:nvSpPr>
          <p:cNvPr id="4" name="TextBox 3"/>
          <p:cNvSpPr txBox="1"/>
          <p:nvPr/>
        </p:nvSpPr>
        <p:spPr>
          <a:xfrm>
            <a:off x="548640" y="1300000"/>
            <a:ext cx="11094720" cy="600000"/>
          </a:xfrm>
          <a:prstGeom prst="rect">
            <a:avLst/>
          </a:prstGeom>
          <a:noFill/>
        </p:spPr>
        <p:txBody>
          <a:bodyPr wrap="square">
            <a:spAutoFit/>
          </a:bodyPr>
          <a:lstStyle/>
          <a:p>
            <a:r>
              <a:rPr sz="1700" b="1">
                <a:solidFill>
                  <a:srgbClr val="E0E0E0"/>
                </a:solidFill>
                <a:latin typeface="Calibri"/>
              </a:rPr>
              <a:t>Filters: </a:t>
            </a:r>
            <a:r>
              <a:rPr sz="1700" b="0">
                <a:solidFill>
                  <a:srgbClr val="E0E0E0"/>
                </a:solidFill>
                <a:latin typeface="Calibri"/>
              </a:rPr>
              <a:t>any edge where both a back-ref AND an indexable condition apply</a:t>
            </a:r>
          </a:p>
          <a:p>
            <a:r>
              <a:rPr sz="1600" b="0">
                <a:solidFill>
                  <a:srgbClr val="E0E0E0"/>
                </a:solidFill>
                <a:latin typeface="Calibri"/>
              </a:rPr>
              <a:t>  </a:t>
            </a:r>
            <a:r>
              <a:rPr sz="1400" b="0">
                <a:solidFill>
                  <a:srgbClr val="B0E0B0"/>
                </a:solidFill>
                <a:latin typeface="Consolas"/>
              </a:rPr>
              <a:t>{as: msg, where: (@rid = $matched.person.@rid AND creationDate &gt; :date)}</a:t>
            </a:r>
          </a:p>
        </p:txBody>
      </p:sp>
      <p:sp>
        <p:nvSpPr>
          <p:cNvPr id="5" name="TextBox 4"/>
          <p:cNvSpPr txBox="1"/>
          <p:nvPr/>
        </p:nvSpPr>
        <p:spPr>
          <a:xfrm>
            <a:off x="548640" y="1900000"/>
            <a:ext cx="11094720" cy="950000"/>
          </a:xfrm>
          <a:prstGeom prst="rect">
            <a:avLst/>
          </a:prstGeom>
          <a:solidFill>
            <a:srgbClr val="121220"/>
          </a:solidFill>
          <a:ln w="6350">
            <a:solidFill>
              <a:srgbClr val="404060"/>
            </a:solidFill>
          </a:ln>
        </p:spPr>
        <p:txBody>
          <a:bodyPr wrap="square">
            <a:spAutoFit/>
          </a:bodyPr>
          <a:lstStyle/>
          <a:p>
            <a:r>
              <a:rPr sz="1300">
                <a:solidFill>
                  <a:srgbClr val="B0E0B0"/>
                </a:solidFill>
                <a:latin typeface="Consolas"/>
              </a:rPr>
              <a:t>// EdgeTraversal.addIntersectionDescriptor — the only construction site</a:t>
            </a:r>
          </a:p>
          <a:p>
            <a:r>
              <a:rPr sz="1300">
                <a:solidFill>
                  <a:srgbClr val="B0E0B0"/>
                </a:solidFill>
                <a:latin typeface="Consolas"/>
              </a:rPr>
              <a:t>if (intersectionDescriptor == null) {</a:t>
            </a:r>
          </a:p>
          <a:p>
            <a:r>
              <a:rPr sz="1300">
                <a:solidFill>
                  <a:srgbClr val="B0E0B0"/>
                </a:solidFill>
                <a:latin typeface="Consolas"/>
              </a:rPr>
              <a:t>  intersectionDescriptor = descriptor;     // first one wins as-is</a:t>
            </a:r>
          </a:p>
          <a:p>
            <a:r>
              <a:rPr sz="1300">
                <a:solidFill>
                  <a:srgbClr val="B0E0B0"/>
                </a:solidFill>
                <a:latin typeface="Consolas"/>
              </a:rPr>
              <a:t>} else {</a:t>
            </a:r>
          </a:p>
          <a:p>
            <a:r>
              <a:rPr sz="1300">
                <a:solidFill>
                  <a:srgbClr val="B0E0B0"/>
                </a:solidFill>
                <a:latin typeface="Consolas"/>
              </a:rPr>
              <a:t>  flatten both sides → list;</a:t>
            </a:r>
          </a:p>
          <a:p>
            <a:r>
              <a:rPr sz="1300">
                <a:solidFill>
                  <a:srgbClr val="B0E0B0"/>
                </a:solidFill>
                <a:latin typeface="Consolas"/>
              </a:rPr>
              <a:t>  intersectionDescriptor = new Composite(list);   // auto-wrap</a:t>
            </a:r>
          </a:p>
          <a:p>
            <a:r>
              <a:rPr sz="1300">
                <a:solidFill>
                  <a:srgbClr val="B0E0B0"/>
                </a:solidFill>
                <a:latin typeface="Consolas"/>
              </a:rPr>
              <a:t>}</a:t>
            </a:r>
          </a:p>
        </p:txBody>
      </p:sp>
      <p:sp>
        <p:nvSpPr>
          <p:cNvPr id="6" name="TextBox 5"/>
          <p:cNvSpPr txBox="1"/>
          <p:nvPr/>
        </p:nvSpPr>
        <p:spPr>
          <a:xfrm>
            <a:off x="548640" y="2950000"/>
            <a:ext cx="11094720" cy="3500000"/>
          </a:xfrm>
          <a:prstGeom prst="rect">
            <a:avLst/>
          </a:prstGeom>
          <a:noFill/>
        </p:spPr>
        <p:txBody>
          <a:bodyPr wrap="square">
            <a:spAutoFit/>
          </a:bodyPr>
          <a:lstStyle/>
          <a:p>
            <a:r>
              <a:rPr sz="1800" b="1">
                <a:solidFill>
                  <a:srgbClr val="FCB13E"/>
                </a:solidFill>
                <a:latin typeface="Calibri"/>
              </a:rPr>
              <a:t>How it forms</a:t>
            </a:r>
          </a:p>
          <a:p>
            <a:r>
              <a:rPr sz="1600" b="0">
                <a:solidFill>
                  <a:srgbClr val="E0E0E0"/>
                </a:solidFill>
                <a:latin typeface="Calibri"/>
              </a:rPr>
              <a:t>• Planner adds EdgeRidLookup first (back-ref detection runs before index detection)</a:t>
            </a:r>
          </a:p>
          <a:p>
            <a:r>
              <a:rPr sz="1600" b="0">
                <a:solidFill>
                  <a:srgbClr val="E0E0E0"/>
                </a:solidFill>
                <a:latin typeface="Calibri"/>
              </a:rPr>
              <a:t>• Same loop iteration later adds IndexLookup → </a:t>
            </a:r>
            <a:r>
              <a:rPr sz="1500" b="0">
                <a:solidFill>
                  <a:srgbClr val="B0E0B0"/>
                </a:solidFill>
                <a:latin typeface="Consolas"/>
              </a:rPr>
              <a:t>addIntersectionDescriptor</a:t>
            </a:r>
            <a:r>
              <a:rPr sz="1600" b="0">
                <a:solidFill>
                  <a:srgbClr val="E0E0E0"/>
                </a:solidFill>
                <a:latin typeface="Calibri"/>
              </a:rPr>
              <a:t> wraps both</a:t>
            </a:r>
          </a:p>
          <a:p>
            <a:r>
              <a:rPr sz="1600" b="0">
                <a:solidFill>
                  <a:srgbClr val="E0E0E0"/>
                </a:solidFill>
                <a:latin typeface="Calibri"/>
              </a:rPr>
              <a:t>• </a:t>
            </a:r>
            <a:r>
              <a:rPr sz="1500" b="0">
                <a:solidFill>
                  <a:srgbClr val="B0E0B0"/>
                </a:solidFill>
                <a:latin typeface="Consolas"/>
              </a:rPr>
              <a:t>appendFlattened</a:t>
            </a:r>
            <a:r>
              <a:rPr sz="1600" b="0">
                <a:solidFill>
                  <a:srgbClr val="E0E0E0"/>
                </a:solidFill>
                <a:latin typeface="Calibri"/>
              </a:rPr>
              <a:t> keeps depth = 1: child Composites are unpacked so </a:t>
            </a:r>
            <a:r>
              <a:rPr sz="1500" b="0">
                <a:solidFill>
                  <a:srgbClr val="B0E0B0"/>
                </a:solidFill>
                <a:latin typeface="Consolas"/>
              </a:rPr>
              <a:t>findIndexLookup()</a:t>
            </a:r>
            <a:r>
              <a:rPr sz="1600" b="0">
                <a:solidFill>
                  <a:srgbClr val="E0E0E0"/>
                </a:solidFill>
                <a:latin typeface="Calibri"/>
              </a:rPr>
              <a:t> sees every leaf</a:t>
            </a:r>
          </a:p>
          <a:p>
            <a:r>
              <a:rPr sz="600" b="0">
                <a:solidFill>
                  <a:srgbClr val="E0E0E0"/>
                </a:solidFill>
                <a:latin typeface="Calibri"/>
              </a:rPr>
              <a:t/>
            </a:r>
          </a:p>
          <a:p>
            <a:r>
              <a:rPr sz="1800" b="1">
                <a:solidFill>
                  <a:srgbClr val="FCB13E"/>
                </a:solidFill>
                <a:latin typeface="Calibri"/>
              </a:rPr>
              <a:t>Runtime semantics</a:t>
            </a:r>
          </a:p>
          <a:p>
            <a:r>
              <a:rPr sz="1600" b="0">
                <a:solidFill>
                  <a:srgbClr val="E0E0E0"/>
                </a:solidFill>
                <a:latin typeface="Calibri"/>
              </a:rPr>
              <a:t>• </a:t>
            </a:r>
            <a:r>
              <a:rPr sz="1500" b="0">
                <a:solidFill>
                  <a:srgbClr val="B0E0B0"/>
                </a:solidFill>
                <a:latin typeface="Consolas"/>
              </a:rPr>
              <a:t>estimatedSize()</a:t>
            </a:r>
            <a:r>
              <a:rPr sz="1600" b="0">
                <a:solidFill>
                  <a:srgbClr val="E0E0E0"/>
                </a:solidFill>
                <a:latin typeface="Calibri"/>
              </a:rPr>
              <a:t> → MIN of children (intersection bounded by smallest child)</a:t>
            </a:r>
          </a:p>
          <a:p>
            <a:r>
              <a:rPr sz="1600" b="0">
                <a:solidFill>
                  <a:srgbClr val="E0E0E0"/>
                </a:solidFill>
                <a:latin typeface="Calibri"/>
              </a:rPr>
              <a:t>• </a:t>
            </a:r>
            <a:r>
              <a:rPr sz="1500" b="0">
                <a:solidFill>
                  <a:srgbClr val="B0E0B0"/>
                </a:solidFill>
                <a:latin typeface="Consolas"/>
              </a:rPr>
              <a:t>resolve()</a:t>
            </a:r>
            <a:r>
              <a:rPr sz="1600" b="0">
                <a:solidFill>
                  <a:srgbClr val="E0E0E0"/>
                </a:solidFill>
                <a:latin typeface="Calibri"/>
              </a:rPr>
              <a:t> → resolve each, intersect RidSets at bitmap level</a:t>
            </a:r>
          </a:p>
          <a:p>
            <a:r>
              <a:rPr sz="1600" b="0">
                <a:solidFill>
                  <a:srgbClr val="E0E0E0"/>
                </a:solidFill>
                <a:latin typeface="Calibri"/>
              </a:rPr>
              <a:t>• </a:t>
            </a:r>
            <a:r>
              <a:rPr sz="1500" b="0">
                <a:solidFill>
                  <a:srgbClr val="B0E0B0"/>
                </a:solidFill>
                <a:latin typeface="Consolas"/>
              </a:rPr>
              <a:t>cacheKey()</a:t>
            </a:r>
            <a:r>
              <a:rPr sz="1600" b="0">
                <a:solidFill>
                  <a:srgbClr val="E0E0E0"/>
                </a:solidFill>
                <a:latin typeface="Calibri"/>
              </a:rPr>
              <a:t> → list of child keys; </a:t>
            </a:r>
            <a:r>
              <a:rPr sz="1600" b="1">
                <a:solidFill>
                  <a:srgbClr val="FCB13E"/>
                </a:solidFill>
                <a:latin typeface="Calibri"/>
              </a:rPr>
              <a:t>null if any child returns null</a:t>
            </a:r>
          </a:p>
          <a:p>
            <a:r>
              <a:rPr sz="1600" b="0">
                <a:solidFill>
                  <a:srgbClr val="E0E0E0"/>
                </a:solidFill>
                <a:latin typeface="Calibri"/>
              </a:rPr>
              <a:t>• </a:t>
            </a:r>
            <a:r>
              <a:rPr sz="1500" b="0">
                <a:solidFill>
                  <a:srgbClr val="B0E0B0"/>
                </a:solidFill>
                <a:latin typeface="Consolas"/>
              </a:rPr>
              <a:t>passesSelectivityCheck()</a:t>
            </a:r>
            <a:r>
              <a:rPr sz="1600" b="0">
                <a:solidFill>
                  <a:srgbClr val="E0E0E0"/>
                </a:solidFill>
                <a:latin typeface="Calibri"/>
              </a:rPr>
              <a:t> → true if </a:t>
            </a:r>
            <a:r>
              <a:rPr sz="1600" b="1">
                <a:solidFill>
                  <a:srgbClr val="FCB13E"/>
                </a:solidFill>
                <a:latin typeface="Calibri"/>
              </a:rPr>
              <a:t>ANY</a:t>
            </a:r>
            <a:r>
              <a:rPr sz="1600" b="0">
                <a:solidFill>
                  <a:srgbClr val="E0E0E0"/>
                </a:solidFill>
                <a:latin typeface="Calibri"/>
              </a:rPr>
              <a:t> child passes (intersection wins on most-selective child)</a:t>
            </a:r>
          </a:p>
          <a:p>
            <a:r>
              <a:rPr sz="600" b="0">
                <a:solidFill>
                  <a:srgbClr val="E0E0E0"/>
                </a:solidFill>
                <a:latin typeface="Calibri"/>
              </a:rPr>
              <a:t/>
            </a:r>
          </a:p>
          <a:p>
            <a:r>
              <a:rPr sz="1800" b="1">
                <a:solidFill>
                  <a:srgbClr val="FCB13E"/>
                </a:solidFill>
                <a:latin typeface="Calibri"/>
              </a:rPr>
              <a:t>Special: anyChildPassesExcluding(IndexLookup.class)</a:t>
            </a:r>
          </a:p>
          <a:p>
            <a:r>
              <a:rPr sz="1600" b="0">
                <a:solidFill>
                  <a:srgbClr val="E0E0E0"/>
                </a:solidFill>
                <a:latin typeface="Calibri"/>
              </a:rPr>
              <a:t>• Used after IndexLookup amortization REJECT to check if remaining children still justify materialising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spAutoFit/>
          </a:bodyPr>
          <a:lstStyle/>
          <a:p>
            <a:r>
              <a:rPr sz="2800" b="1">
                <a:solidFill>
                  <a:srgbClr val="FF318C"/>
                </a:solidFill>
                <a:latin typeface="Calibri"/>
              </a:rPr>
              <a:t>Descriptor lifecycle — from SQL to filtered link bag</a:t>
            </a:r>
          </a:p>
        </p:txBody>
      </p:sp>
      <p:sp>
        <p:nvSpPr>
          <p:cNvPr id="3" name="TextBox 2"/>
          <p:cNvSpPr txBox="1"/>
          <p:nvPr/>
        </p:nvSpPr>
        <p:spPr>
          <a:xfrm>
            <a:off x="457200" y="914400"/>
            <a:ext cx="11247120" cy="365760"/>
          </a:xfrm>
          <a:prstGeom prst="rect">
            <a:avLst/>
          </a:prstGeom>
          <a:noFill/>
        </p:spPr>
        <p:txBody>
          <a:bodyPr wrap="square">
            <a:spAutoFit/>
          </a:bodyPr>
          <a:lstStyle/>
          <a:p>
            <a:r>
              <a:rPr sz="1800" i="1">
                <a:solidFill>
                  <a:srgbClr val="E8B5C8"/>
                </a:solidFill>
                <a:latin typeface="Calibri"/>
              </a:rPr>
              <a:t>Three decision points: which to create, whether to build, whether to apply</a:t>
            </a:r>
          </a:p>
        </p:txBody>
      </p:sp>
      <p:sp>
        <p:nvSpPr>
          <p:cNvPr id="4" name="TextBox 3"/>
          <p:cNvSpPr txBox="1"/>
          <p:nvPr/>
        </p:nvSpPr>
        <p:spPr>
          <a:xfrm>
            <a:off x="548640" y="1300000"/>
            <a:ext cx="11094720" cy="5100000"/>
          </a:xfrm>
          <a:prstGeom prst="rect">
            <a:avLst/>
          </a:prstGeom>
          <a:solidFill>
            <a:srgbClr val="121220"/>
          </a:solidFill>
          <a:ln w="6350">
            <a:solidFill>
              <a:srgbClr val="404060"/>
            </a:solidFill>
          </a:ln>
        </p:spPr>
        <p:txBody>
          <a:bodyPr wrap="square">
            <a:spAutoFit/>
          </a:bodyPr>
          <a:lstStyle/>
          <a:p>
            <a:r>
              <a:rPr sz="1300">
                <a:solidFill>
                  <a:srgbClr val="B0E0B0"/>
                </a:solidFill>
                <a:latin typeface="Consolas"/>
              </a:rPr>
              <a:t>1. PARSING   (once)</a:t>
            </a:r>
          </a:p>
          <a:p>
            <a:r>
              <a:rPr sz="1300">
                <a:solidFill>
                  <a:srgbClr val="B0E0B0"/>
                </a:solidFill>
                <a:latin typeface="Consolas"/>
              </a:rPr>
              <a:t>   SQL → AST   (SQLStatement, SQLWhereClause, …)</a:t>
            </a:r>
          </a:p>
          <a:p>
            <a:r>
              <a:rPr sz="1300">
                <a:solidFill>
                  <a:srgbClr val="B0E0B0"/>
                </a:solidFill>
                <a:latin typeface="Consolas"/>
              </a:rPr>
              <a:t/>
            </a:r>
          </a:p>
          <a:p>
            <a:r>
              <a:rPr sz="1300">
                <a:solidFill>
                  <a:srgbClr val="B0E0B0"/>
                </a:solidFill>
                <a:latin typeface="Consolas"/>
              </a:rPr>
              <a:t>2. PLANNING  (once per query)</a:t>
            </a:r>
          </a:p>
          <a:p>
            <a:r>
              <a:rPr sz="1300">
                <a:solidFill>
                  <a:srgbClr val="B0E0B0"/>
                </a:solidFill>
                <a:latin typeface="Consolas"/>
              </a:rPr>
              <a:t>   MatchExecutionPlanner.optimizeScheduleWithIntersections:</a:t>
            </a:r>
          </a:p>
          <a:p>
            <a:r>
              <a:rPr sz="1300">
                <a:solidFill>
                  <a:srgbClr val="B0E0B0"/>
                </a:solidFill>
                <a:latin typeface="Consolas"/>
              </a:rPr>
              <a:t>     for each scheduled edge j:</a:t>
            </a:r>
          </a:p>
          <a:p>
            <a:r>
              <a:rPr sz="1300">
                <a:solidFill>
                  <a:srgbClr val="B0E0B0"/>
                </a:solidFill>
                <a:latin typeface="Consolas"/>
              </a:rPr>
              <a:t>       targetFilter = edgeJ.in.filter</a:t>
            </a:r>
          </a:p>
          <a:p>
            <a:r>
              <a:rPr sz="1300">
                <a:solidFill>
                  <a:srgbClr val="B0E0B0"/>
                </a:solidFill>
                <a:latin typeface="Consolas"/>
              </a:rPr>
              <a:t>       if @rid = $matched.X.@rid       → EdgeRidLookup on edge producing X</a:t>
            </a:r>
          </a:p>
          <a:p>
            <a:r>
              <a:rPr sz="1300">
                <a:solidFill>
                  <a:srgbClr val="B0E0B0"/>
                </a:solidFill>
                <a:latin typeface="Consolas"/>
              </a:rPr>
              <a:t>       elif @rid = literal/parameter   → DirectRid           (continue;)</a:t>
            </a:r>
          </a:p>
          <a:p>
            <a:r>
              <a:rPr sz="1300">
                <a:solidFill>
                  <a:srgbClr val="B0E0B0"/>
                </a:solidFill>
                <a:latin typeface="Consolas"/>
              </a:rPr>
              <a:t>       if indexable(WHERE − $matched)  → IndexLookup</a:t>
            </a:r>
          </a:p>
          <a:p>
            <a:r>
              <a:rPr sz="1300">
                <a:solidFill>
                  <a:srgbClr val="B0E0B0"/>
                </a:solidFill>
                <a:latin typeface="Consolas"/>
              </a:rPr>
              <a:t>       second add on same edge         → Composite (auto, flat)</a:t>
            </a:r>
          </a:p>
          <a:p>
            <a:r>
              <a:rPr sz="1300">
                <a:solidFill>
                  <a:srgbClr val="B0E0B0"/>
                </a:solidFill>
                <a:latin typeface="Consolas"/>
              </a:rPr>
              <a:t/>
            </a:r>
          </a:p>
          <a:p>
            <a:r>
              <a:rPr sz="1300">
                <a:solidFill>
                  <a:srgbClr val="B0E0B0"/>
                </a:solidFill>
                <a:latin typeface="Consolas"/>
              </a:rPr>
              <a:t>   stampEdgeForecasts:</a:t>
            </a:r>
          </a:p>
          <a:p>
            <a:r>
              <a:rPr sz="1300">
                <a:solidFill>
                  <a:srgbClr val="B0E0B0"/>
                </a:solidFill>
                <a:latin typeface="Consolas"/>
              </a:rPr>
              <a:t>     skip if no edge has IndexLookup (short-circuit, PR #973)</a:t>
            </a:r>
          </a:p>
          <a:p>
            <a:r>
              <a:rPr sz="1300">
                <a:solidFill>
                  <a:srgbClr val="B0E0B0"/>
                </a:solidFill>
                <a:latin typeface="Consolas"/>
              </a:rPr>
              <a:t>     for each edge with IndexLookup:</a:t>
            </a:r>
          </a:p>
          <a:p>
            <a:r>
              <a:rPr sz="1300">
                <a:solidFill>
                  <a:srgbClr val="B0E0B0"/>
                </a:solidFill>
                <a:latin typeface="Consolas"/>
              </a:rPr>
              <a:t>       forecastN     = sourceRows × fanOut_mean   (Long.MAX_VALUE stripped)</a:t>
            </a:r>
          </a:p>
          <a:p>
            <a:r>
              <a:rPr sz="1300">
                <a:solidFill>
                  <a:srgbClr val="B0E0B0"/>
                </a:solidFill>
                <a:latin typeface="Consolas"/>
              </a:rPr>
              <a:t>       rootSourceRows = root-lineage sample size for CLT gate</a:t>
            </a:r>
          </a:p>
          <a:p>
            <a:r>
              <a:rPr sz="1300">
                <a:solidFill>
                  <a:srgbClr val="B0E0B0"/>
                </a:solidFill>
                <a:latin typeface="Consolas"/>
              </a:rPr>
              <a:t/>
            </a:r>
          </a:p>
          <a:p>
            <a:r>
              <a:rPr sz="1300">
                <a:solidFill>
                  <a:srgbClr val="B0E0B0"/>
                </a:solidFill>
                <a:latin typeface="Consolas"/>
              </a:rPr>
              <a:t>3. EXECUTION  (per source vertex v)</a:t>
            </a:r>
          </a:p>
          <a:p>
            <a:r>
              <a:rPr sz="1300">
                <a:solidFill>
                  <a:srgbClr val="B0E0B0"/>
                </a:solidFill>
                <a:latin typeface="Consolas"/>
              </a:rPr>
              <a:t>   resolveWithCache(ctx, linkBagSize):</a:t>
            </a:r>
          </a:p>
          <a:p>
            <a:r>
              <a:rPr sz="1300">
                <a:solidFill>
                  <a:srgbClr val="B0E0B0"/>
                </a:solidFill>
                <a:latin typeface="Consolas"/>
              </a:rPr>
              <a:t>     key = desc.cacheKey(ctx)</a:t>
            </a:r>
          </a:p>
          <a:p>
            <a:r>
              <a:rPr sz="1300">
                <a:solidFill>
                  <a:srgbClr val="B0E0B0"/>
                </a:solidFill>
                <a:latin typeface="Consolas"/>
              </a:rPr>
              <a:t>     cache hit  → return cached RidSet  (or null + cachedSkipReason)</a:t>
            </a:r>
          </a:p>
          <a:p>
            <a:r>
              <a:rPr sz="1300">
                <a:solidFill>
                  <a:srgbClr val="B0E0B0"/>
                </a:solidFill>
                <a:latin typeface="Consolas"/>
              </a:rPr>
              <a:t>     cache miss → desc.estimatedSize()</a:t>
            </a:r>
          </a:p>
          <a:p>
            <a:r>
              <a:rPr sz="1300">
                <a:solidFill>
                  <a:srgbClr val="B0E0B0"/>
                </a:solidFill>
                <a:latin typeface="Consolas"/>
              </a:rPr>
              <a:t>                  desc.passesSelectivityCheck(estSize, linkBagSize, ctx)</a:t>
            </a:r>
          </a:p>
          <a:p>
            <a:r>
              <a:rPr sz="1300">
                <a:solidFill>
                  <a:srgbClr val="B0E0B0"/>
                </a:solidFill>
                <a:latin typeface="Consolas"/>
              </a:rPr>
              <a:t>                  IndexLookup? → checkIndexLookupAmortization</a:t>
            </a:r>
          </a:p>
          <a:p>
            <a:r>
              <a:rPr sz="1300">
                <a:solidFill>
                  <a:srgbClr val="B0E0B0"/>
                </a:solidFill>
                <a:latin typeface="Consolas"/>
              </a:rPr>
              <a:t>                                  BUILD_EAGER vs DEFERRED_WITH_NET</a:t>
            </a:r>
          </a:p>
          <a:p>
            <a:r>
              <a:rPr sz="1300">
                <a:solidFill>
                  <a:srgbClr val="B0E0B0"/>
                </a:solidFill>
                <a:latin typeface="Consolas"/>
              </a:rPr>
              <a:t>                  PROCEED → desc.resolve() → cache → return RidSet</a:t>
            </a:r>
          </a:p>
          <a:p>
            <a:r>
              <a:rPr sz="1300">
                <a:solidFill>
                  <a:srgbClr val="B0E0B0"/>
                </a:solidFill>
                <a:latin typeface="Consolas"/>
              </a:rPr>
              <a:t/>
            </a:r>
          </a:p>
          <a:p>
            <a:r>
              <a:rPr sz="1300">
                <a:solidFill>
                  <a:srgbClr val="B0E0B0"/>
                </a:solidFill>
                <a:latin typeface="Consolas"/>
              </a:rPr>
              <a:t>   applyPreFilter(v, ridSet):</a:t>
            </a:r>
          </a:p>
          <a:p>
            <a:r>
              <a:rPr sz="1300">
                <a:solidFill>
                  <a:srgbClr val="B0E0B0"/>
                </a:solidFill>
                <a:latin typeface="Consolas"/>
              </a:rPr>
              <a:t>     desc.passesSelectivityCheck(actualSize, linkBagSize, ctx)</a:t>
            </a:r>
          </a:p>
          <a:p>
            <a:r>
              <a:rPr sz="1300">
                <a:solidFill>
                  <a:srgbClr val="B0E0B0"/>
                </a:solidFill>
                <a:latin typeface="Consolas"/>
              </a:rPr>
              <a:t>     if pass → iterate v's link bag, keep only RIDs in ridSet</a:t>
            </a:r>
          </a:p>
          <a:p>
            <a:r>
              <a:rPr sz="1300">
                <a:solidFill>
                  <a:srgbClr val="B0E0B0"/>
                </a:solidFill>
                <a:latin typeface="Consolas"/>
              </a:rPr>
              <a:t>     skip reason recorded for PROFILE output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spAutoFit/>
          </a:bodyPr>
          <a:lstStyle/>
          <a:p>
            <a:pPr>
              <a:defRPr sz="2800" b="1">
                <a:solidFill>
                  <a:srgbClr val="FF318C"/>
                </a:solidFill>
                <a:latin typeface="Calibri"/>
              </a:defRPr>
            </a:pPr>
            <a:r>
              <a:t>Shared helper, two callers</a:t>
            </a:r>
          </a:p>
        </p:txBody>
      </p:sp>
      <p:pic>
        <p:nvPicPr>
          <p:cNvPr id="3" name="Picture 2" descr="image.png"/>
          <p:cNvPicPr>
            <a:picLocks noChangeAspect="1"/>
          </p:cNvPicPr>
          <p:nvPr/>
        </p:nvPicPr>
        <p:blipFill>
          <a:blip r:embed="rId2"/>
          <a:stretch>
            <a:fillRect/>
          </a:stretch>
        </p:blipFill>
        <p:spPr>
          <a:xfrm>
            <a:off x="731520" y="1280160"/>
            <a:ext cx="10698480" cy="4021893"/>
          </a:xfrm>
          <a:prstGeom prst="rect">
            <a:avLst/>
          </a:prstGeom>
        </p:spPr>
      </p:pic>
      <p:sp>
        <p:nvSpPr>
          <p:cNvPr id="4" name="TextBox 3"/>
          <p:cNvSpPr txBox="1"/>
          <p:nvPr/>
        </p:nvSpPr>
        <p:spPr>
          <a:xfrm>
            <a:off x="548640" y="4937760"/>
            <a:ext cx="10972800" cy="1828800"/>
          </a:xfrm>
          <a:prstGeom prst="rect">
            <a:avLst/>
          </a:prstGeom>
          <a:noFill/>
        </p:spPr>
        <p:txBody>
          <a:bodyPr wrap="square">
            <a:spAutoFit/>
          </a:bodyPr>
          <a:lstStyle/>
          <a:p>
            <a:pPr algn="l">
              <a:lnSpc>
                <a:spcPct val="115000"/>
              </a:lnSpc>
            </a:pPr>
            <a:r>
              <a:rPr sz="1600">
                <a:solidFill>
                  <a:srgbClr val="E0E0E0"/>
                </a:solidFill>
                <a:latin typeface="Calibri"/>
              </a:rPr>
              <a:t>• One AST → descriptor pipeline</a:t>
            </a:r>
          </a:p>
          <a:p>
            <a:pPr algn="l">
              <a:lnSpc>
                <a:spcPct val="115000"/>
              </a:lnSpc>
            </a:pPr>
            <a:r>
              <a:rPr sz="1600">
                <a:solidFill>
                  <a:srgbClr val="E0E0E0"/>
                </a:solidFill>
                <a:latin typeface="Calibri"/>
              </a:rPr>
              <a:t>• Two consumers, same descriptor types, same iterator</a:t>
            </a:r>
          </a:p>
          <a:p>
            <a:pPr algn="l">
              <a:lnSpc>
                <a:spcPct val="115000"/>
              </a:lnSpc>
            </a:pPr>
            <a:r>
              <a:rPr sz="1600">
                <a:solidFill>
                  <a:srgbClr val="E0E0E0"/>
                </a:solidFill>
                <a:latin typeface="Calibri"/>
              </a:rPr>
              <a:t>• Symmetry is deliberate: SELECT expand and MATCH have the same bottleneck shape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spAutoFit/>
          </a:bodyPr>
          <a:lstStyle/>
          <a:p>
            <a:pPr>
              <a:defRPr sz="2800" b="1">
                <a:solidFill>
                  <a:srgbClr val="FF318C"/>
                </a:solidFill>
                <a:latin typeface="Calibri"/>
              </a:defRPr>
            </a:pPr>
            <a:r>
              <a:t>Planner pass</a:t>
            </a:r>
          </a:p>
        </p:txBody>
      </p:sp>
      <p:sp>
        <p:nvSpPr>
          <p:cNvPr id="3" name="Rounded Rectangle 2"/>
          <p:cNvSpPr/>
          <p:nvPr/>
        </p:nvSpPr>
        <p:spPr>
          <a:xfrm>
            <a:off x="548640" y="1188720"/>
            <a:ext cx="10972800" cy="2560320"/>
          </a:xfrm>
          <a:prstGeom prst="roundRect">
            <a:avLst/>
          </a:prstGeom>
          <a:solidFill>
            <a:srgbClr val="121224"/>
          </a:solidFill>
          <a:ln w="19050">
            <a:solidFill>
              <a:srgbClr val="3A3A5C"/>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lnSpc>
                <a:spcPct val="100000"/>
              </a:lnSpc>
            </a:pPr>
            <a:r>
              <a:rPr sz="1400">
                <a:solidFill>
                  <a:srgbClr val="A5D6A7"/>
                </a:solidFill>
                <a:latin typeface="Consolas"/>
              </a:rPr>
              <a:t>MatchExecutionPlanner.optimizeScheduleWithIntersections()</a:t>
            </a:r>
          </a:p>
          <a:p>
            <a:pPr algn="l">
              <a:lnSpc>
                <a:spcPct val="100000"/>
              </a:lnSpc>
            </a:pPr>
            <a:r>
              <a:rPr sz="1400">
                <a:solidFill>
                  <a:srgbClr val="A5D6A7"/>
                </a:solidFill>
                <a:latin typeface="Consolas"/>
              </a:rPr>
              <a:t> </a:t>
            </a:r>
          </a:p>
          <a:p>
            <a:pPr algn="l">
              <a:lnSpc>
                <a:spcPct val="100000"/>
              </a:lnSpc>
            </a:pPr>
            <a:r>
              <a:rPr sz="1400">
                <a:solidFill>
                  <a:srgbClr val="B0B0B0"/>
                </a:solidFill>
                <a:latin typeface="Consolas"/>
              </a:rPr>
              <a:t>  // Runs AFTER cost-based edge reordering</a:t>
            </a:r>
          </a:p>
          <a:p>
            <a:pPr algn="l">
              <a:lnSpc>
                <a:spcPct val="100000"/>
              </a:lnSpc>
            </a:pPr>
            <a:r>
              <a:rPr sz="1400">
                <a:solidFill>
                  <a:srgbClr val="A5D6A7"/>
                </a:solidFill>
                <a:latin typeface="Consolas"/>
              </a:rPr>
              <a:t>  for each scheduled edge:</a:t>
            </a:r>
          </a:p>
          <a:p>
            <a:pPr algn="l">
              <a:lnSpc>
                <a:spcPct val="100000"/>
              </a:lnSpc>
            </a:pPr>
            <a:r>
              <a:rPr sz="1400">
                <a:solidFill>
                  <a:srgbClr val="A5D6A7"/>
                </a:solidFill>
                <a:latin typeface="Consolas"/>
              </a:rPr>
              <a:t>    if target.WHERE has selectivity estimate below threshold:</a:t>
            </a:r>
          </a:p>
          <a:p>
            <a:pPr algn="l">
              <a:lnSpc>
                <a:spcPct val="100000"/>
              </a:lnSpc>
            </a:pPr>
            <a:r>
              <a:rPr sz="1400">
                <a:solidFill>
                  <a:srgbClr val="A5D6A7"/>
                </a:solidFill>
                <a:latin typeface="Consolas"/>
              </a:rPr>
              <a:t>      attach RidFilterDescriptor to the EdgeTraversal</a:t>
            </a:r>
          </a:p>
        </p:txBody>
      </p:sp>
      <p:sp>
        <p:nvSpPr>
          <p:cNvPr id="4" name="TextBox 3"/>
          <p:cNvSpPr txBox="1"/>
          <p:nvPr/>
        </p:nvSpPr>
        <p:spPr>
          <a:xfrm>
            <a:off x="548640" y="4114800"/>
            <a:ext cx="10972800" cy="2286000"/>
          </a:xfrm>
          <a:prstGeom prst="rect">
            <a:avLst/>
          </a:prstGeom>
          <a:noFill/>
        </p:spPr>
        <p:txBody>
          <a:bodyPr wrap="square">
            <a:spAutoFit/>
          </a:bodyPr>
          <a:lstStyle/>
          <a:p>
            <a:pPr algn="l">
              <a:lnSpc>
                <a:spcPct val="115000"/>
              </a:lnSpc>
            </a:pPr>
            <a:r>
              <a:rPr sz="1700">
                <a:solidFill>
                  <a:srgbClr val="E0E0E0"/>
                </a:solidFill>
                <a:latin typeface="Calibri"/>
              </a:rPr>
              <a:t>• Second pass — first pass reorders edges by cost</a:t>
            </a:r>
          </a:p>
          <a:p>
            <a:pPr algn="l">
              <a:lnSpc>
                <a:spcPct val="115000"/>
              </a:lnSpc>
            </a:pPr>
            <a:r>
              <a:rPr sz="1700">
                <a:solidFill>
                  <a:srgbClr val="E0E0E0"/>
                </a:solidFill>
                <a:latin typeface="Calibri"/>
              </a:rPr>
              <a:t>• Reuses existing cost-model selectivity estimate</a:t>
            </a:r>
          </a:p>
          <a:p>
            <a:pPr algn="l">
              <a:lnSpc>
                <a:spcPct val="115000"/>
              </a:lnSpc>
            </a:pPr>
            <a:r>
              <a:rPr sz="1700">
                <a:solidFill>
                  <a:srgbClr val="E0E0E0"/>
                </a:solidFill>
                <a:latin typeface="Calibri"/>
              </a:rPr>
              <a:t>• No pre-filter attached on edges where it would not pay off</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spAutoFit/>
          </a:bodyPr>
          <a:lstStyle/>
          <a:p>
            <a:pPr>
              <a:defRPr sz="2800" b="1">
                <a:solidFill>
                  <a:srgbClr val="FF318C"/>
                </a:solidFill>
                <a:latin typeface="Calibri"/>
              </a:defRPr>
            </a:pPr>
            <a:r>
              <a:t>Adjacency intersection in pictures</a:t>
            </a:r>
          </a:p>
        </p:txBody>
      </p:sp>
      <p:pic>
        <p:nvPicPr>
          <p:cNvPr id="3" name="Picture 2" descr="image.png"/>
          <p:cNvPicPr>
            <a:picLocks noChangeAspect="1"/>
          </p:cNvPicPr>
          <p:nvPr/>
        </p:nvPicPr>
        <p:blipFill>
          <a:blip r:embed="rId2"/>
          <a:stretch>
            <a:fillRect/>
          </a:stretch>
        </p:blipFill>
        <p:spPr>
          <a:xfrm>
            <a:off x="731520" y="1005840"/>
            <a:ext cx="10698480" cy="5432008"/>
          </a:xfrm>
          <a:prstGeom prst="rect">
            <a:avLst/>
          </a:prstGeom>
        </p:spPr>
      </p:pic>
      <p:sp>
        <p:nvSpPr>
          <p:cNvPr id="4" name="TextBox 3"/>
          <p:cNvSpPr txBox="1"/>
          <p:nvPr/>
        </p:nvSpPr>
        <p:spPr>
          <a:xfrm>
            <a:off x="548640" y="5212080"/>
            <a:ext cx="10972800" cy="1828800"/>
          </a:xfrm>
          <a:prstGeom prst="rect">
            <a:avLst/>
          </a:prstGeom>
          <a:noFill/>
        </p:spPr>
        <p:txBody>
          <a:bodyPr wrap="square">
            <a:spAutoFit/>
          </a:bodyPr>
          <a:lstStyle/>
          <a:p>
            <a:pPr algn="l">
              <a:lnSpc>
                <a:spcPct val="115000"/>
              </a:lnSpc>
            </a:pPr>
            <a:r>
              <a:rPr sz="1500">
                <a:solidFill>
                  <a:srgbClr val="E0E0E0"/>
                </a:solidFill>
                <a:latin typeface="Calibri"/>
              </a:rPr>
              <a:t>• Forward: thousands of posts in the forum</a:t>
            </a:r>
          </a:p>
          <a:p>
            <a:pPr algn="l">
              <a:lnSpc>
                <a:spcPct val="115000"/>
              </a:lnSpc>
            </a:pPr>
            <a:r>
              <a:rPr sz="1500">
                <a:solidFill>
                  <a:srgbClr val="E0E0E0"/>
                </a:solidFill>
                <a:latin typeface="Calibri"/>
              </a:rPr>
              <a:t>• Reverse: a few posts created by the friend</a:t>
            </a:r>
          </a:p>
          <a:p>
            <a:pPr algn="l">
              <a:lnSpc>
                <a:spcPct val="115000"/>
              </a:lnSpc>
            </a:pPr>
            <a:r>
              <a:rPr sz="1500">
                <a:solidFill>
                  <a:srgbClr val="E0E0E0"/>
                </a:solidFill>
                <a:latin typeface="Calibri"/>
              </a:rPr>
              <a:t>• Backed by </a:t>
            </a:r>
            <a:r>
              <a:rPr sz="1500" b="1">
                <a:solidFill>
                  <a:srgbClr val="FCB13E"/>
                </a:solidFill>
                <a:latin typeface="Calibri"/>
              </a:rPr>
              <a:t>RidSet</a:t>
            </a:r>
            <a:r>
              <a:rPr sz="1500">
                <a:solidFill>
                  <a:srgbClr val="E0E0E0"/>
                </a:solidFill>
                <a:latin typeface="Calibri"/>
              </a:rPr>
              <a:t>: IntMap + Roaring64Bitmap (PR #781). Probe is O(1) per LinkBag entry</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spAutoFit/>
          </a:bodyPr>
          <a:lstStyle/>
          <a:p>
            <a:pPr>
              <a:defRPr sz="2800" b="1">
                <a:solidFill>
                  <a:srgbClr val="FF318C"/>
                </a:solidFill>
                <a:latin typeface="Calibri"/>
              </a:defRPr>
            </a:pPr>
            <a:r>
              <a:t>Per-descriptor selectivity</a:t>
            </a:r>
          </a:p>
        </p:txBody>
      </p:sp>
      <p:sp>
        <p:nvSpPr>
          <p:cNvPr id="3" name="Rounded Rectangle 2"/>
          <p:cNvSpPr/>
          <p:nvPr/>
        </p:nvSpPr>
        <p:spPr>
          <a:xfrm>
            <a:off x="548640" y="1188720"/>
            <a:ext cx="10972800" cy="3200400"/>
          </a:xfrm>
          <a:prstGeom prst="roundRect">
            <a:avLst/>
          </a:prstGeom>
          <a:solidFill>
            <a:srgbClr val="121224"/>
          </a:solidFill>
          <a:ln w="19050">
            <a:solidFill>
              <a:srgbClr val="3A3A5C"/>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lnSpc>
                <a:spcPct val="100000"/>
              </a:lnSpc>
            </a:pPr>
            <a:r>
              <a:rPr sz="1300">
                <a:solidFill>
                  <a:srgbClr val="A5D6A7"/>
                </a:solidFill>
                <a:latin typeface="Consolas"/>
              </a:rPr>
              <a:t>sealed interface RidFilterDescriptor {</a:t>
            </a:r>
          </a:p>
          <a:p>
            <a:pPr algn="l">
              <a:lnSpc>
                <a:spcPct val="100000"/>
              </a:lnSpc>
            </a:pPr>
            <a:r>
              <a:rPr sz="1300">
                <a:solidFill>
                  <a:srgbClr val="A5D6A7"/>
                </a:solidFill>
                <a:latin typeface="Consolas"/>
              </a:rPr>
              <a:t>  boolean passesSelectivityCheck(int linkBagSize, int ridSetSize);</a:t>
            </a:r>
          </a:p>
          <a:p>
            <a:pPr algn="l">
              <a:lnSpc>
                <a:spcPct val="100000"/>
              </a:lnSpc>
            </a:pPr>
            <a:r>
              <a:rPr sz="1300">
                <a:solidFill>
                  <a:srgbClr val="A5D6A7"/>
                </a:solidFill>
                <a:latin typeface="Consolas"/>
              </a:rPr>
              <a:t>}</a:t>
            </a:r>
          </a:p>
          <a:p>
            <a:pPr algn="l">
              <a:lnSpc>
                <a:spcPct val="100000"/>
              </a:lnSpc>
            </a:pPr>
            <a:r>
              <a:rPr sz="1300">
                <a:solidFill>
                  <a:srgbClr val="A5D6A7"/>
                </a:solidFill>
                <a:latin typeface="Consolas"/>
              </a:rPr>
              <a:t> </a:t>
            </a:r>
          </a:p>
          <a:p>
            <a:pPr algn="l">
              <a:lnSpc>
                <a:spcPct val="100000"/>
              </a:lnSpc>
            </a:pPr>
            <a:r>
              <a:rPr sz="1300">
                <a:solidFill>
                  <a:srgbClr val="B0B0B0"/>
                </a:solidFill>
                <a:latin typeface="Consolas"/>
              </a:rPr>
              <a:t>// DirectRid:     always passes</a:t>
            </a:r>
          </a:p>
          <a:p>
            <a:pPr algn="l">
              <a:lnSpc>
                <a:spcPct val="100000"/>
              </a:lnSpc>
            </a:pPr>
            <a:r>
              <a:rPr sz="1300">
                <a:solidFill>
                  <a:srgbClr val="B0B0B0"/>
                </a:solidFill>
                <a:latin typeface="Consolas"/>
              </a:rPr>
              <a:t>// EdgeRidLookup: ridSetSize / linkBagSize ≤ edgeLookupMaxRatio    (0.8)</a:t>
            </a:r>
          </a:p>
          <a:p>
            <a:pPr algn="l">
              <a:lnSpc>
                <a:spcPct val="100000"/>
              </a:lnSpc>
            </a:pPr>
            <a:r>
              <a:rPr sz="1300">
                <a:solidFill>
                  <a:srgbClr val="B0B0B0"/>
                </a:solidFill>
                <a:latin typeface="Consolas"/>
              </a:rPr>
              <a:t>// IndexLookup:   class-level selectivity ≤ indexLookupMaxSelectivity (0.95)</a:t>
            </a:r>
          </a:p>
          <a:p>
            <a:pPr algn="l">
              <a:lnSpc>
                <a:spcPct val="100000"/>
              </a:lnSpc>
            </a:pPr>
            <a:r>
              <a:rPr sz="1300">
                <a:solidFill>
                  <a:srgbClr val="B0B0B0"/>
                </a:solidFill>
                <a:latin typeface="Consolas"/>
              </a:rPr>
              <a:t>// Composite:     passes if any child passes</a:t>
            </a:r>
          </a:p>
        </p:txBody>
      </p:sp>
      <p:sp>
        <p:nvSpPr>
          <p:cNvPr id="4" name="TextBox 3"/>
          <p:cNvSpPr txBox="1"/>
          <p:nvPr/>
        </p:nvSpPr>
        <p:spPr>
          <a:xfrm>
            <a:off x="548640" y="4663440"/>
            <a:ext cx="10972800" cy="1828800"/>
          </a:xfrm>
          <a:prstGeom prst="rect">
            <a:avLst/>
          </a:prstGeom>
          <a:noFill/>
        </p:spPr>
        <p:txBody>
          <a:bodyPr wrap="square">
            <a:spAutoFit/>
          </a:bodyPr>
          <a:lstStyle/>
          <a:p>
            <a:pPr algn="l">
              <a:lnSpc>
                <a:spcPct val="115000"/>
              </a:lnSpc>
            </a:pPr>
            <a:r>
              <a:rPr sz="1700">
                <a:solidFill>
                  <a:srgbClr val="E0E0E0"/>
                </a:solidFill>
                <a:latin typeface="Calibri"/>
              </a:rPr>
              <a:t>• Each type has its own threshold and its own data source</a:t>
            </a:r>
          </a:p>
          <a:p>
            <a:pPr algn="l">
              <a:lnSpc>
                <a:spcPct val="115000"/>
              </a:lnSpc>
            </a:pPr>
            <a:r>
              <a:rPr sz="1700">
                <a:solidFill>
                  <a:srgbClr val="E0E0E0"/>
                </a:solidFill>
                <a:latin typeface="Calibri"/>
              </a:rPr>
              <a:t>• </a:t>
            </a:r>
            <a:r>
              <a:rPr sz="1700" b="1">
                <a:solidFill>
                  <a:srgbClr val="FCB13E"/>
                </a:solidFill>
                <a:latin typeface="Calibri"/>
              </a:rPr>
              <a:t>IndexLookup</a:t>
            </a:r>
            <a:r>
              <a:rPr sz="1700">
                <a:solidFill>
                  <a:srgbClr val="E0E0E0"/>
                </a:solidFill>
                <a:latin typeface="Calibri"/>
              </a:rPr>
              <a:t> looks at class statistics, not per-vertex overlap</a:t>
            </a:r>
          </a:p>
          <a:p>
            <a:pPr algn="l">
              <a:lnSpc>
                <a:spcPct val="115000"/>
              </a:lnSpc>
            </a:pPr>
            <a:r>
              <a:rPr sz="1700">
                <a:solidFill>
                  <a:srgbClr val="E0E0E0"/>
                </a:solidFill>
                <a:latin typeface="Calibri"/>
              </a:rPr>
              <a:t>• Defaults from LDBC SF 1 calibration; all configurable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spAutoFit/>
          </a:bodyPr>
          <a:lstStyle/>
          <a:p>
            <a:r>
              <a:rPr sz="2800" b="1">
                <a:solidFill>
                  <a:srgbClr val="FF318C"/>
                </a:solidFill>
                <a:latin typeface="Calibri"/>
              </a:rPr>
              <a:t>Two independent gates before building a RidSet</a:t>
            </a:r>
          </a:p>
        </p:txBody>
      </p:sp>
      <p:sp>
        <p:nvSpPr>
          <p:cNvPr id="3" name="TextBox 2"/>
          <p:cNvSpPr txBox="1"/>
          <p:nvPr/>
        </p:nvSpPr>
        <p:spPr>
          <a:xfrm>
            <a:off x="457200" y="914400"/>
            <a:ext cx="11247120" cy="365760"/>
          </a:xfrm>
          <a:prstGeom prst="rect">
            <a:avLst/>
          </a:prstGeom>
          <a:noFill/>
        </p:spPr>
        <p:txBody>
          <a:bodyPr wrap="square">
            <a:spAutoFit/>
          </a:bodyPr>
          <a:lstStyle/>
          <a:p>
            <a:r>
              <a:rPr sz="1800" i="1">
                <a:solidFill>
                  <a:srgbClr val="E8B5C8"/>
                </a:solidFill>
                <a:latin typeface="Calibri"/>
              </a:rPr>
              <a:t>Selectivity and amortization answer different questions</a:t>
            </a:r>
          </a:p>
        </p:txBody>
      </p:sp>
      <p:graphicFrame>
        <p:nvGraphicFramePr>
          <p:cNvPr id="4" name="Table 3"/>
          <p:cNvGraphicFramePr>
            <a:graphicFrameLocks noGrp="1"/>
          </p:cNvGraphicFramePr>
          <p:nvPr/>
        </p:nvGraphicFramePr>
        <p:xfrm>
          <a:off x="548640" y="1380000"/>
          <a:ext cx="11000000" cy="1800000"/>
        </p:xfrm>
        <a:graphic>
          <a:graphicData uri="http://schemas.openxmlformats.org/drawingml/2006/table">
            <a:tbl>
              <a:tblPr firstRow="1" bandRow="1">
                <a:tableStyleId>{5C22544A-7EE6-4342-B048-85BDC9FD1C3A}</a:tableStyleId>
              </a:tblPr>
              <a:tblGrid>
                <a:gridCol w="3300000"/>
                <a:gridCol w="4500000"/>
                <a:gridCol w="1800000"/>
                <a:gridCol w="1400000"/>
              </a:tblGrid>
              <a:tr h="600000">
                <a:tc>
                  <a:txBody>
                    <a:bodyPr wrap="square"/>
                    <a:lstStyle/>
                    <a:p>
                      <a:r>
                        <a:rPr sz="1200" b="1">
                          <a:solidFill>
                            <a:srgbClr val="FFA0C8"/>
                          </a:solidFill>
                          <a:latin typeface="Calibri"/>
                        </a:rPr>
                        <a:t>Gate</a:t>
                      </a:r>
                    </a:p>
                  </a:txBody>
                  <a:tcPr>
                    <a:solidFill>
                      <a:srgbClr val="401530"/>
                    </a:solidFill>
                  </a:tcPr>
                </a:tc>
                <a:tc>
                  <a:txBody>
                    <a:bodyPr wrap="square"/>
                    <a:lstStyle/>
                    <a:p>
                      <a:r>
                        <a:rPr sz="1200" b="1">
                          <a:solidFill>
                            <a:srgbClr val="FFA0C8"/>
                          </a:solidFill>
                          <a:latin typeface="Calibri"/>
                        </a:rPr>
                        <a:t>Question</a:t>
                      </a:r>
                    </a:p>
                  </a:txBody>
                  <a:tcPr>
                    <a:solidFill>
                      <a:srgbClr val="401530"/>
                    </a:solidFill>
                  </a:tcPr>
                </a:tc>
                <a:tc>
                  <a:txBody>
                    <a:bodyPr wrap="square"/>
                    <a:lstStyle/>
                    <a:p>
                      <a:r>
                        <a:rPr sz="1200" b="1">
                          <a:solidFill>
                            <a:srgbClr val="FFA0C8"/>
                          </a:solidFill>
                          <a:latin typeface="Calibri"/>
                        </a:rPr>
                        <a:t>Where</a:t>
                      </a:r>
                    </a:p>
                  </a:txBody>
                  <a:tcPr>
                    <a:solidFill>
                      <a:srgbClr val="401530"/>
                    </a:solidFill>
                  </a:tcPr>
                </a:tc>
                <a:tc>
                  <a:txBody>
                    <a:bodyPr wrap="square"/>
                    <a:lstStyle/>
                    <a:p>
                      <a:r>
                        <a:rPr sz="1200" b="1">
                          <a:solidFill>
                            <a:srgbClr val="FFA0C8"/>
                          </a:solidFill>
                          <a:latin typeface="Calibri"/>
                        </a:rPr>
                        <a:t>Applies to</a:t>
                      </a:r>
                    </a:p>
                  </a:txBody>
                  <a:tcPr>
                    <a:solidFill>
                      <a:srgbClr val="401530"/>
                    </a:solidFill>
                  </a:tcPr>
                </a:tc>
              </a:tr>
              <a:tr h="600000">
                <a:tc>
                  <a:txBody>
                    <a:bodyPr wrap="square"/>
                    <a:lstStyle/>
                    <a:p>
                      <a:r>
                        <a:rPr sz="1100" b="1">
                          <a:solidFill>
                            <a:srgbClr val="FCB13E"/>
                          </a:solidFill>
                          <a:latin typeface="Consolas"/>
                        </a:rPr>
                        <a:t>passesSelectivityCheck</a:t>
                      </a:r>
                    </a:p>
                  </a:txBody>
                  <a:tcPr>
                    <a:solidFill>
                      <a:srgbClr val="15152A"/>
                    </a:solidFill>
                  </a:tcPr>
                </a:tc>
                <a:tc>
                  <a:txBody>
                    <a:bodyPr wrap="square"/>
                    <a:lstStyle/>
                    <a:p>
                      <a:r>
                        <a:rPr sz="1100" b="0">
                          <a:solidFill>
                            <a:srgbClr val="E0E0E0"/>
                          </a:solidFill>
                          <a:latin typeface="Calibri"/>
                        </a:rPr>
                        <a:t>Does the filter eliminate enough to be useful?</a:t>
                      </a:r>
                    </a:p>
                  </a:txBody>
                  <a:tcPr>
                    <a:solidFill>
                      <a:srgbClr val="15152A"/>
                    </a:solidFill>
                  </a:tcPr>
                </a:tc>
                <a:tc>
                  <a:txBody>
                    <a:bodyPr wrap="square"/>
                    <a:lstStyle/>
                    <a:p>
                      <a:r>
                        <a:rPr sz="1100" b="0">
                          <a:solidFill>
                            <a:srgbClr val="E0E0E0"/>
                          </a:solidFill>
                          <a:latin typeface="Calibri"/>
                        </a:rPr>
                        <a:t>RidFilterDescriptor</a:t>
                      </a:r>
                    </a:p>
                  </a:txBody>
                  <a:tcPr>
                    <a:solidFill>
                      <a:srgbClr val="15152A"/>
                    </a:solidFill>
                  </a:tcPr>
                </a:tc>
                <a:tc>
                  <a:txBody>
                    <a:bodyPr wrap="square"/>
                    <a:lstStyle/>
                    <a:p>
                      <a:r>
                        <a:rPr sz="1100" b="0">
                          <a:solidFill>
                            <a:srgbClr val="E0E0E0"/>
                          </a:solidFill>
                          <a:latin typeface="Calibri"/>
                        </a:rPr>
                        <a:t>All four types</a:t>
                      </a:r>
                    </a:p>
                  </a:txBody>
                  <a:tcPr>
                    <a:solidFill>
                      <a:srgbClr val="15152A"/>
                    </a:solidFill>
                  </a:tcPr>
                </a:tc>
              </a:tr>
              <a:tr h="600000">
                <a:tc>
                  <a:txBody>
                    <a:bodyPr wrap="square"/>
                    <a:lstStyle/>
                    <a:p>
                      <a:r>
                        <a:rPr sz="1100" b="1">
                          <a:solidFill>
                            <a:srgbClr val="FCB13E"/>
                          </a:solidFill>
                          <a:latin typeface="Consolas"/>
                        </a:rPr>
                        <a:t>checkIndexLookupAmortization</a:t>
                      </a:r>
                    </a:p>
                  </a:txBody>
                  <a:tcPr>
                    <a:solidFill>
                      <a:srgbClr val="15152A"/>
                    </a:solidFill>
                  </a:tcPr>
                </a:tc>
                <a:tc>
                  <a:txBody>
                    <a:bodyPr wrap="square"/>
                    <a:lstStyle/>
                    <a:p>
                      <a:r>
                        <a:rPr sz="1100" b="0">
                          <a:solidFill>
                            <a:srgbClr val="E0E0E0"/>
                          </a:solidFill>
                          <a:latin typeface="Calibri"/>
                        </a:rPr>
                        <a:t>Will traversal volume pay back the build cost?</a:t>
                      </a:r>
                    </a:p>
                  </a:txBody>
                  <a:tcPr>
                    <a:solidFill>
                      <a:srgbClr val="15152A"/>
                    </a:solidFill>
                  </a:tcPr>
                </a:tc>
                <a:tc>
                  <a:txBody>
                    <a:bodyPr wrap="square"/>
                    <a:lstStyle/>
                    <a:p>
                      <a:r>
                        <a:rPr sz="1100" b="0">
                          <a:solidFill>
                            <a:srgbClr val="E0E0E0"/>
                          </a:solidFill>
                          <a:latin typeface="Calibri"/>
                        </a:rPr>
                        <a:t>EdgeTraversal</a:t>
                      </a:r>
                    </a:p>
                  </a:txBody>
                  <a:tcPr>
                    <a:solidFill>
                      <a:srgbClr val="15152A"/>
                    </a:solidFill>
                  </a:tcPr>
                </a:tc>
                <a:tc>
                  <a:txBody>
                    <a:bodyPr wrap="square"/>
                    <a:lstStyle/>
                    <a:p>
                      <a:r>
                        <a:rPr sz="1100" b="0">
                          <a:solidFill>
                            <a:srgbClr val="E0E0E0"/>
                          </a:solidFill>
                          <a:latin typeface="Calibri"/>
                        </a:rPr>
                        <a:t>IndexLookup only</a:t>
                      </a:r>
                    </a:p>
                  </a:txBody>
                  <a:tcPr>
                    <a:solidFill>
                      <a:srgbClr val="15152A"/>
                    </a:solidFill>
                  </a:tcPr>
                </a:tc>
              </a:tr>
            </a:tbl>
          </a:graphicData>
        </a:graphic>
      </p:graphicFrame>
      <p:sp>
        <p:nvSpPr>
          <p:cNvPr id="5" name="TextBox 4"/>
          <p:cNvSpPr txBox="1"/>
          <p:nvPr/>
        </p:nvSpPr>
        <p:spPr>
          <a:xfrm>
            <a:off x="548640" y="3400000"/>
            <a:ext cx="11094720" cy="3400000"/>
          </a:xfrm>
          <a:prstGeom prst="rect">
            <a:avLst/>
          </a:prstGeom>
          <a:noFill/>
        </p:spPr>
        <p:txBody>
          <a:bodyPr wrap="square">
            <a:spAutoFit/>
          </a:bodyPr>
          <a:lstStyle/>
          <a:p>
            <a:r>
              <a:rPr sz="1800" b="1">
                <a:solidFill>
                  <a:srgbClr val="FCB13E"/>
                </a:solidFill>
                <a:latin typeface="Calibri"/>
              </a:rPr>
              <a:t>Selectivity check — per-type formulas</a:t>
            </a:r>
          </a:p>
          <a:p>
            <a:r>
              <a:rPr sz="1600" b="0">
                <a:solidFill>
                  <a:srgbClr val="E0E0E0"/>
                </a:solidFill>
                <a:latin typeface="Calibri"/>
              </a:rPr>
              <a:t>  DirectRid:      </a:t>
            </a:r>
            <a:r>
              <a:rPr sz="1500" b="0">
                <a:solidFill>
                  <a:srgbClr val="B0E0B0"/>
                </a:solidFill>
                <a:latin typeface="Consolas"/>
              </a:rPr>
              <a:t>always true</a:t>
            </a:r>
            <a:r>
              <a:rPr sz="1600" b="0">
                <a:solidFill>
                  <a:srgbClr val="E0E0E0"/>
                </a:solidFill>
                <a:latin typeface="Calibri"/>
              </a:rPr>
              <a:t>                          (singleton, free to apply)</a:t>
            </a:r>
          </a:p>
          <a:p>
            <a:r>
              <a:rPr sz="1600" b="0">
                <a:solidFill>
                  <a:srgbClr val="E0E0E0"/>
                </a:solidFill>
                <a:latin typeface="Calibri"/>
              </a:rPr>
              <a:t>  EdgeRidLookup:  </a:t>
            </a:r>
            <a:r>
              <a:rPr sz="1500" b="0">
                <a:solidFill>
                  <a:srgbClr val="B0E0B0"/>
                </a:solidFill>
                <a:latin typeface="Consolas"/>
              </a:rPr>
              <a:t>resolvedSize / linkBagSize ≤ 0.8</a:t>
            </a:r>
            <a:r>
              <a:rPr sz="1600" b="0">
                <a:solidFill>
                  <a:srgbClr val="E0E0E0"/>
                </a:solidFill>
                <a:latin typeface="Calibri"/>
              </a:rPr>
              <a:t>  (per-vertex overlap)</a:t>
            </a:r>
          </a:p>
          <a:p>
            <a:r>
              <a:rPr sz="1600" b="0">
                <a:solidFill>
                  <a:srgbClr val="E0E0E0"/>
                </a:solidFill>
                <a:latin typeface="Calibri"/>
              </a:rPr>
              <a:t>  IndexLookup:    </a:t>
            </a:r>
            <a:r>
              <a:rPr sz="1500" b="0">
                <a:solidFill>
                  <a:srgbClr val="B0E0B0"/>
                </a:solidFill>
                <a:latin typeface="Consolas"/>
              </a:rPr>
              <a:t>classSelectivity ≤ 0.95</a:t>
            </a:r>
            <a:r>
              <a:rPr sz="1600" b="0">
                <a:solidFill>
                  <a:srgbClr val="E0E0E0"/>
                </a:solidFill>
                <a:latin typeface="Calibri"/>
              </a:rPr>
              <a:t>           (constant per query)</a:t>
            </a:r>
          </a:p>
          <a:p>
            <a:r>
              <a:rPr sz="1600" b="0">
                <a:solidFill>
                  <a:srgbClr val="E0E0E0"/>
                </a:solidFill>
                <a:latin typeface="Calibri"/>
              </a:rPr>
              <a:t>  Composite:      </a:t>
            </a:r>
            <a:r>
              <a:rPr sz="1500" b="0">
                <a:solidFill>
                  <a:srgbClr val="B0E0B0"/>
                </a:solidFill>
                <a:latin typeface="Consolas"/>
              </a:rPr>
              <a:t>any child passes</a:t>
            </a:r>
            <a:r>
              <a:rPr sz="1600" b="0">
                <a:solidFill>
                  <a:srgbClr val="E0E0E0"/>
                </a:solidFill>
                <a:latin typeface="Calibri"/>
              </a:rPr>
              <a:t>                     (intersection bounded by most selective)</a:t>
            </a:r>
          </a:p>
          <a:p>
            <a:r>
              <a:rPr sz="600" b="0">
                <a:solidFill>
                  <a:srgbClr val="E0E0E0"/>
                </a:solidFill>
                <a:latin typeface="Calibri"/>
              </a:rPr>
              <a:t/>
            </a:r>
          </a:p>
          <a:p>
            <a:r>
              <a:rPr sz="1800" b="1">
                <a:solidFill>
                  <a:srgbClr val="FCB13E"/>
                </a:solidFill>
                <a:latin typeface="Calibri"/>
              </a:rPr>
              <a:t>Amortization gate — break-even on one-time build cost</a:t>
            </a:r>
          </a:p>
          <a:p>
            <a:r>
              <a:rPr sz="1600" b="0">
                <a:solidFill>
                  <a:srgbClr val="E0E0E0"/>
                </a:solidFill>
                <a:latin typeface="Calibri"/>
              </a:rPr>
              <a:t>  </a:t>
            </a:r>
            <a:r>
              <a:rPr sz="1400" b="0">
                <a:solidFill>
                  <a:srgbClr val="B0E0B0"/>
                </a:solidFill>
                <a:latin typeface="Consolas"/>
              </a:rPr>
              <a:t>m = estimatedSize / (loadToScanRatio × (1 − selectivity))</a:t>
            </a:r>
            <a:r>
              <a:rPr sz="1600" b="0">
                <a:solidFill>
                  <a:srgbClr val="E0E0E0"/>
                </a:solidFill>
                <a:latin typeface="Calibri"/>
              </a:rPr>
              <a:t>        (break-even rows)</a:t>
            </a:r>
          </a:p>
          <a:p>
            <a:r>
              <a:rPr sz="1600" b="0">
                <a:solidFill>
                  <a:srgbClr val="E0E0E0"/>
                </a:solidFill>
                <a:latin typeface="Calibri"/>
              </a:rPr>
              <a:t>  </a:t>
            </a:r>
            <a:r>
              <a:rPr sz="1600" b="1">
                <a:solidFill>
                  <a:srgbClr val="FCB13E"/>
                </a:solidFill>
                <a:latin typeface="Calibri"/>
              </a:rPr>
              <a:t>BUILD_EAGER</a:t>
            </a:r>
            <a:r>
              <a:rPr sz="1600" b="0">
                <a:solidFill>
                  <a:srgbClr val="E0E0E0"/>
                </a:solidFill>
                <a:latin typeface="Calibri"/>
              </a:rPr>
              <a:t>        — forecastN &gt; ⌈m⌉ AND rootSourceRows ≥ 30 (CLT gate)</a:t>
            </a:r>
          </a:p>
          <a:p>
            <a:r>
              <a:rPr sz="1600" b="0">
                <a:solidFill>
                  <a:srgbClr val="E0E0E0"/>
                </a:solidFill>
                <a:latin typeface="Calibri"/>
              </a:rPr>
              <a:t>  </a:t>
            </a:r>
            <a:r>
              <a:rPr sz="1600" b="1">
                <a:solidFill>
                  <a:srgbClr val="FCB13E"/>
                </a:solidFill>
                <a:latin typeface="Calibri"/>
              </a:rPr>
              <a:t>DEFERRED_WITH_NET</a:t>
            </a:r>
            <a:r>
              <a:rPr sz="1600" b="0">
                <a:solidFill>
                  <a:srgbClr val="E0E0E0"/>
                </a:solidFill>
                <a:latin typeface="Calibri"/>
              </a:rPr>
              <a:t>  — accumulate linkBagSize, materialise at T = max(2·forecastN, m)</a:t>
            </a:r>
          </a:p>
          <a:p>
            <a:r>
              <a:rPr sz="1600" b="0">
                <a:solidFill>
                  <a:srgbClr val="E0E0E0"/>
                </a:solidFill>
                <a:latin typeface="Calibri"/>
              </a:rPr>
              <a:t>  </a:t>
            </a:r>
            <a:r>
              <a:rPr sz="1600" b="1">
                <a:solidFill>
                  <a:srgbClr val="FCB13E"/>
                </a:solidFill>
                <a:latin typeface="Calibri"/>
              </a:rPr>
              <a:t>REJECT</a:t>
            </a:r>
            <a:r>
              <a:rPr sz="1600" b="0">
                <a:solidFill>
                  <a:srgbClr val="E0E0E0"/>
                </a:solidFill>
                <a:latin typeface="Calibri"/>
              </a:rPr>
              <a:t>             — unknown selectivity or never enough volume</a:t>
            </a:r>
          </a:p>
          <a:p>
            <a:r>
              <a:rPr sz="600" b="0">
                <a:solidFill>
                  <a:srgbClr val="E0E0E0"/>
                </a:solidFill>
                <a:latin typeface="Calibri"/>
              </a:rPr>
              <a:t/>
            </a:r>
          </a:p>
          <a:p>
            <a:r>
              <a:rPr sz="1500" b="0">
                <a:solidFill>
                  <a:srgbClr val="E0E0E0"/>
                </a:solidFill>
                <a:latin typeface="Calibri"/>
              </a:rPr>
              <a:t>• Both gates must pass for IndexLookup to materialise; DirectRid and EdgeRidLookup bypass amortization (build is trivial)</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spAutoFit/>
          </a:bodyPr>
          <a:lstStyle/>
          <a:p>
            <a:pPr>
              <a:defRPr sz="2800" b="1">
                <a:solidFill>
                  <a:srgbClr val="FF318C"/>
                </a:solidFill>
                <a:latin typeface="Calibri"/>
              </a:defRPr>
            </a:pPr>
            <a:r>
              <a:t>Build cost for IndexLookup</a:t>
            </a:r>
          </a:p>
        </p:txBody>
      </p:sp>
      <p:sp>
        <p:nvSpPr>
          <p:cNvPr id="3" name="TextBox 2"/>
          <p:cNvSpPr txBox="1"/>
          <p:nvPr/>
        </p:nvSpPr>
        <p:spPr>
          <a:xfrm>
            <a:off x="548640" y="1097280"/>
            <a:ext cx="10972800" cy="2468880"/>
          </a:xfrm>
          <a:prstGeom prst="rect">
            <a:avLst/>
          </a:prstGeom>
          <a:noFill/>
        </p:spPr>
        <p:txBody>
          <a:bodyPr wrap="square">
            <a:spAutoFit/>
          </a:bodyPr>
          <a:lstStyle/>
          <a:p>
            <a:pPr algn="l">
              <a:lnSpc>
                <a:spcPct val="115000"/>
              </a:lnSpc>
            </a:pPr>
            <a:r>
              <a:rPr sz="1700">
                <a:solidFill>
                  <a:srgbClr val="E0E0E0"/>
                </a:solidFill>
                <a:latin typeface="Calibri"/>
              </a:rPr>
              <a:t>• </a:t>
            </a:r>
            <a:r>
              <a:rPr sz="1700" b="1">
                <a:solidFill>
                  <a:srgbClr val="FCB13E"/>
                </a:solidFill>
                <a:latin typeface="Calibri"/>
              </a:rPr>
              <a:t>IndexLookup build</a:t>
            </a:r>
            <a:r>
              <a:rPr sz="1700">
                <a:solidFill>
                  <a:srgbClr val="E0E0E0"/>
                </a:solidFill>
                <a:latin typeface="Calibri"/>
              </a:rPr>
              <a:t> = materialise RID set from index</a:t>
            </a:r>
          </a:p>
          <a:p>
            <a:pPr algn="l">
              <a:lnSpc>
                <a:spcPct val="115000"/>
              </a:lnSpc>
            </a:pPr>
            <a:r>
              <a:rPr sz="1700">
                <a:solidFill>
                  <a:srgbClr val="E0E0E0"/>
                </a:solidFill>
                <a:latin typeface="Calibri"/>
              </a:rPr>
              <a:t>• Cost: one index scan, allocates a RidSet</a:t>
            </a:r>
          </a:p>
          <a:p>
            <a:pPr algn="l">
              <a:lnSpc>
                <a:spcPct val="115000"/>
              </a:lnSpc>
            </a:pPr>
            <a:r>
              <a:rPr sz="1700">
                <a:solidFill>
                  <a:srgbClr val="E0E0E0"/>
                </a:solidFill>
                <a:latin typeface="Calibri"/>
              </a:rPr>
              <a:t>• One-time cost per query, charged on the first qualifying vertex</a:t>
            </a:r>
          </a:p>
          <a:p>
            <a:pPr algn="l">
              <a:lnSpc>
                <a:spcPct val="115000"/>
              </a:lnSpc>
            </a:pPr>
            <a:r>
              <a:rPr sz="1700">
                <a:solidFill>
                  <a:srgbClr val="E0E0E0"/>
                </a:solidFill>
                <a:latin typeface="Calibri"/>
              </a:rPr>
              <a:t>• Question: does the traversal volume justify the build?</a:t>
            </a:r>
          </a:p>
        </p:txBody>
      </p:sp>
      <p:sp>
        <p:nvSpPr>
          <p:cNvPr id="4" name="TextBox 3"/>
          <p:cNvSpPr txBox="1"/>
          <p:nvPr/>
        </p:nvSpPr>
        <p:spPr>
          <a:xfrm>
            <a:off x="457200" y="3566160"/>
            <a:ext cx="11247120" cy="365760"/>
          </a:xfrm>
          <a:prstGeom prst="rect">
            <a:avLst/>
          </a:prstGeom>
          <a:noFill/>
        </p:spPr>
        <p:txBody>
          <a:bodyPr wrap="square">
            <a:spAutoFit/>
          </a:bodyPr>
          <a:lstStyle/>
          <a:p>
            <a:pPr>
              <a:defRPr sz="1500" b="1">
                <a:solidFill>
                  <a:srgbClr val="FFA0C8"/>
                </a:solidFill>
                <a:latin typeface="Calibri"/>
              </a:defRPr>
            </a:pPr>
            <a:r>
              <a:t>Break-even formula:</a:t>
            </a:r>
          </a:p>
        </p:txBody>
      </p:sp>
      <p:sp>
        <p:nvSpPr>
          <p:cNvPr id="5" name="Rounded Rectangle 4"/>
          <p:cNvSpPr/>
          <p:nvPr/>
        </p:nvSpPr>
        <p:spPr>
          <a:xfrm>
            <a:off x="548640" y="4023360"/>
            <a:ext cx="10972800" cy="731520"/>
          </a:xfrm>
          <a:prstGeom prst="roundRect">
            <a:avLst/>
          </a:prstGeom>
          <a:solidFill>
            <a:srgbClr val="121224"/>
          </a:solidFill>
          <a:ln w="19050">
            <a:solidFill>
              <a:srgbClr val="3A3A5C"/>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lnSpc>
                <a:spcPct val="100000"/>
              </a:lnSpc>
            </a:pPr>
            <a:r>
              <a:rPr sz="1800">
                <a:solidFill>
                  <a:srgbClr val="A5D6A7"/>
                </a:solidFill>
                <a:latin typeface="Consolas"/>
              </a:rPr>
              <a:t>m = estimatedSize / (loadToScanRatio × (1 − selectivity))</a:t>
            </a:r>
          </a:p>
        </p:txBody>
      </p:sp>
      <p:sp>
        <p:nvSpPr>
          <p:cNvPr id="6" name="TextBox 5"/>
          <p:cNvSpPr txBox="1"/>
          <p:nvPr/>
        </p:nvSpPr>
        <p:spPr>
          <a:xfrm>
            <a:off x="548640" y="5029200"/>
            <a:ext cx="10972800" cy="1645920"/>
          </a:xfrm>
          <a:prstGeom prst="rect">
            <a:avLst/>
          </a:prstGeom>
          <a:noFill/>
        </p:spPr>
        <p:txBody>
          <a:bodyPr wrap="square">
            <a:spAutoFit/>
          </a:bodyPr>
          <a:lstStyle/>
          <a:p>
            <a:pPr algn="l">
              <a:lnSpc>
                <a:spcPct val="115000"/>
              </a:lnSpc>
            </a:pPr>
            <a:r>
              <a:rPr sz="1700">
                <a:solidFill>
                  <a:srgbClr val="E0E0E0"/>
                </a:solidFill>
                <a:latin typeface="Calibri"/>
              </a:rPr>
              <a:t>• loadToScanRatio ≈ </a:t>
            </a:r>
            <a:r>
              <a:rPr sz="1700" b="1">
                <a:solidFill>
                  <a:srgbClr val="FCB13E"/>
                </a:solidFill>
                <a:latin typeface="Calibri"/>
              </a:rPr>
              <a:t>100</a:t>
            </a:r>
            <a:r>
              <a:rPr sz="1700">
                <a:solidFill>
                  <a:srgbClr val="E0E0E0"/>
                </a:solidFill>
                <a:latin typeface="Calibri"/>
              </a:rPr>
              <a:t> (random vertex load is ~100× a RidSet probe)</a:t>
            </a:r>
          </a:p>
          <a:p>
            <a:pPr algn="l">
              <a:lnSpc>
                <a:spcPct val="115000"/>
              </a:lnSpc>
            </a:pPr>
            <a:r>
              <a:rPr sz="1700">
                <a:solidFill>
                  <a:srgbClr val="E0E0E0"/>
                </a:solidFill>
                <a:latin typeface="Calibri"/>
              </a:rPr>
              <a:t>• m is the number of LinkBag entries to filter before the build pays for itself</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spAutoFit/>
          </a:bodyPr>
          <a:lstStyle/>
          <a:p>
            <a:pPr>
              <a:defRPr sz="2800" b="1">
                <a:solidFill>
                  <a:srgbClr val="FF318C"/>
                </a:solidFill>
                <a:latin typeface="Calibri"/>
              </a:defRPr>
            </a:pPr>
            <a:r>
              <a:t>Two modes: BUILD_EAGER vs DEFERRED_WITH_NET</a:t>
            </a:r>
          </a:p>
        </p:txBody>
      </p:sp>
      <p:pic>
        <p:nvPicPr>
          <p:cNvPr id="3" name="Picture 2" descr="image.png"/>
          <p:cNvPicPr>
            <a:picLocks noChangeAspect="1"/>
          </p:cNvPicPr>
          <p:nvPr/>
        </p:nvPicPr>
        <p:blipFill>
          <a:blip r:embed="rId2"/>
          <a:stretch>
            <a:fillRect/>
          </a:stretch>
        </p:blipFill>
        <p:spPr>
          <a:xfrm>
            <a:off x="731520" y="1005840"/>
            <a:ext cx="10698480" cy="591022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spAutoFit/>
          </a:bodyPr>
          <a:lstStyle/>
          <a:p>
            <a:pPr>
              <a:defRPr sz="2800" b="1">
                <a:solidFill>
                  <a:srgbClr val="FF318C"/>
                </a:solidFill>
                <a:latin typeface="Calibri"/>
              </a:defRPr>
            </a:pPr>
            <a:r>
              <a:t>Why CLT gate at 30</a:t>
            </a:r>
          </a:p>
        </p:txBody>
      </p:sp>
      <p:pic>
        <p:nvPicPr>
          <p:cNvPr id="3" name="Picture 2" descr="image.png"/>
          <p:cNvPicPr>
            <a:picLocks noChangeAspect="1"/>
          </p:cNvPicPr>
          <p:nvPr/>
        </p:nvPicPr>
        <p:blipFill>
          <a:blip r:embed="rId2"/>
          <a:stretch>
            <a:fillRect/>
          </a:stretch>
        </p:blipFill>
        <p:spPr>
          <a:xfrm>
            <a:off x="731520" y="1005840"/>
            <a:ext cx="10698480" cy="5808561"/>
          </a:xfrm>
          <a:prstGeom prst="rect">
            <a:avLst/>
          </a:prstGeom>
        </p:spPr>
      </p:pic>
      <p:sp>
        <p:nvSpPr>
          <p:cNvPr id="4" name="TextBox 3"/>
          <p:cNvSpPr txBox="1"/>
          <p:nvPr/>
        </p:nvSpPr>
        <p:spPr>
          <a:xfrm>
            <a:off x="548640" y="5577840"/>
            <a:ext cx="10972800" cy="1280160"/>
          </a:xfrm>
          <a:prstGeom prst="rect">
            <a:avLst/>
          </a:prstGeom>
          <a:noFill/>
        </p:spPr>
        <p:txBody>
          <a:bodyPr wrap="square">
            <a:spAutoFit/>
          </a:bodyPr>
          <a:lstStyle/>
          <a:p>
            <a:pPr algn="l">
              <a:lnSpc>
                <a:spcPct val="115000"/>
              </a:lnSpc>
            </a:pPr>
            <a:r>
              <a:rPr sz="1300">
                <a:solidFill>
                  <a:srgbClr val="E0E0E0"/>
                </a:solidFill>
                <a:latin typeface="Calibri"/>
              </a:rPr>
              <a:t>• forecastN = sourceRows × fanOut_mean → relative error ∝ CV / √N</a:t>
            </a:r>
          </a:p>
          <a:p>
            <a:pPr algn="l">
              <a:lnSpc>
                <a:spcPct val="115000"/>
              </a:lnSpc>
            </a:pPr>
            <a:r>
              <a:rPr sz="1300">
                <a:solidFill>
                  <a:srgbClr val="E0E0E0"/>
                </a:solidFill>
                <a:latin typeface="Calibri"/>
              </a:rPr>
              <a:t>• LDBC SNB fan-out is heavy-tail (power-law) → CV is large</a:t>
            </a:r>
          </a:p>
          <a:p>
            <a:pPr algn="l">
              <a:lnSpc>
                <a:spcPct val="115000"/>
              </a:lnSpc>
            </a:pPr>
            <a:r>
              <a:rPr sz="1300">
                <a:solidFill>
                  <a:srgbClr val="E0E0E0"/>
                </a:solidFill>
                <a:latin typeface="Calibri"/>
              </a:rPr>
              <a:t>• </a:t>
            </a:r>
            <a:r>
              <a:rPr sz="1300" b="1">
                <a:solidFill>
                  <a:srgbClr val="FCB13E"/>
                </a:solidFill>
                <a:latin typeface="Calibri"/>
              </a:rPr>
              <a:t>N &lt; 30</a:t>
            </a:r>
            <a:r>
              <a:rPr sz="1300">
                <a:solidFill>
                  <a:srgbClr val="E0E0E0"/>
                </a:solidFill>
                <a:latin typeface="Calibri"/>
              </a:rPr>
              <a:t> → forecast essentially random → route to DEFERRED_WITH_NET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spAutoFit/>
          </a:bodyPr>
          <a:lstStyle/>
          <a:p>
            <a:pPr>
              <a:defRPr sz="2800" b="1">
                <a:solidFill>
                  <a:srgbClr val="FF318C"/>
                </a:solidFill>
                <a:latin typeface="Calibri"/>
              </a:defRPr>
            </a:pPr>
            <a:r>
              <a:t>Unknown selectivity → REJECT</a:t>
            </a:r>
          </a:p>
        </p:txBody>
      </p:sp>
      <p:sp>
        <p:nvSpPr>
          <p:cNvPr id="3" name="TextBox 2"/>
          <p:cNvSpPr txBox="1"/>
          <p:nvPr/>
        </p:nvSpPr>
        <p:spPr>
          <a:xfrm>
            <a:off x="548640" y="1280160"/>
            <a:ext cx="10972800" cy="5029200"/>
          </a:xfrm>
          <a:prstGeom prst="rect">
            <a:avLst/>
          </a:prstGeom>
          <a:noFill/>
        </p:spPr>
        <p:txBody>
          <a:bodyPr wrap="square">
            <a:spAutoFit/>
          </a:bodyPr>
          <a:lstStyle/>
          <a:p>
            <a:pPr algn="l">
              <a:lnSpc>
                <a:spcPct val="115000"/>
              </a:lnSpc>
            </a:pPr>
            <a:r>
              <a:rPr sz="1700">
                <a:solidFill>
                  <a:srgbClr val="E0E0E0"/>
                </a:solidFill>
                <a:latin typeface="Calibri"/>
              </a:rPr>
              <a:t>• When does estimateSelectivity() return −1?</a:t>
            </a:r>
          </a:p>
          <a:p>
            <a:pPr algn="l" lvl="1">
              <a:lnSpc>
                <a:spcPct val="115000"/>
              </a:lnSpc>
            </a:pPr>
            <a:r>
              <a:rPr sz="1700">
                <a:solidFill>
                  <a:srgbClr val="E0E0E0"/>
                </a:solidFill>
                <a:latin typeface="Calibri"/>
              </a:rPr>
              <a:t>  – Histogram missing</a:t>
            </a:r>
          </a:p>
          <a:p>
            <a:pPr algn="l" lvl="1">
              <a:lnSpc>
                <a:spcPct val="115000"/>
              </a:lnSpc>
            </a:pPr>
            <a:r>
              <a:rPr sz="1700">
                <a:solidFill>
                  <a:srgbClr val="E0E0E0"/>
                </a:solidFill>
                <a:latin typeface="Calibri"/>
              </a:rPr>
              <a:t>  – Index never loaded</a:t>
            </a:r>
          </a:p>
          <a:p>
            <a:pPr algn="l">
              <a:lnSpc>
                <a:spcPct val="115000"/>
              </a:lnSpc>
            </a:pPr>
            <a:r>
              <a:rPr sz="1700">
                <a:solidFill>
                  <a:srgbClr val="E0E0E0"/>
                </a:solidFill>
                <a:latin typeface="Calibri"/>
              </a:rPr>
              <a:t>• </a:t>
            </a:r>
            <a:r>
              <a:rPr sz="1700" b="1">
                <a:solidFill>
                  <a:srgbClr val="FCB13E"/>
                </a:solidFill>
                <a:latin typeface="Calibri"/>
              </a:rPr>
              <a:t>Old behaviour:</a:t>
            </a:r>
            <a:r>
              <a:rPr sz="1700">
                <a:solidFill>
                  <a:srgbClr val="E0E0E0"/>
                </a:solidFill>
                <a:latin typeface="Calibri"/>
              </a:rPr>
              <a:t> optimistic PROCEED, capped by fixed 100K maxRidSetSize</a:t>
            </a:r>
          </a:p>
          <a:p>
            <a:pPr algn="l">
              <a:lnSpc>
                <a:spcPct val="115000"/>
              </a:lnSpc>
            </a:pPr>
            <a:r>
              <a:rPr sz="1700">
                <a:solidFill>
                  <a:srgbClr val="E0E0E0"/>
                </a:solidFill>
                <a:latin typeface="Calibri"/>
              </a:rPr>
              <a:t>• </a:t>
            </a:r>
            <a:r>
              <a:rPr sz="1700" b="1">
                <a:solidFill>
                  <a:srgbClr val="FCB13E"/>
                </a:solidFill>
                <a:latin typeface="Calibri"/>
              </a:rPr>
              <a:t>New behaviour:</a:t>
            </a:r>
            <a:r>
              <a:rPr sz="1700">
                <a:solidFill>
                  <a:srgbClr val="E0E0E0"/>
                </a:solidFill>
                <a:latin typeface="Calibri"/>
              </a:rPr>
              <a:t> REJECT, with skip reason STATS_UNAVAILABLE</a:t>
            </a:r>
          </a:p>
          <a:p>
            <a:pPr algn="l">
              <a:lnSpc>
                <a:spcPct val="115000"/>
              </a:lnSpc>
            </a:pPr>
            <a:r>
              <a:rPr sz="1700">
                <a:solidFill>
                  <a:srgbClr val="E0E0E0"/>
                </a:solidFill>
                <a:latin typeface="Calibri"/>
              </a:rPr>
              <a:t>• Why: cap is now auto-scaled (up to 10M of RAM), the old safety net is gone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spAutoFit/>
          </a:bodyPr>
          <a:lstStyle/>
          <a:p>
            <a:pPr>
              <a:defRPr sz="2800" b="1">
                <a:solidFill>
                  <a:srgbClr val="FF318C"/>
                </a:solidFill>
                <a:latin typeface="Calibri"/>
              </a:defRPr>
            </a:pPr>
            <a:r>
              <a:t>PROFILE output: what you read to debug</a:t>
            </a:r>
          </a:p>
        </p:txBody>
      </p:sp>
      <p:sp>
        <p:nvSpPr>
          <p:cNvPr id="3" name="Rounded Rectangle 2"/>
          <p:cNvSpPr/>
          <p:nvPr/>
        </p:nvSpPr>
        <p:spPr>
          <a:xfrm>
            <a:off x="548640" y="1097280"/>
            <a:ext cx="10972800" cy="3383280"/>
          </a:xfrm>
          <a:prstGeom prst="roundRect">
            <a:avLst/>
          </a:prstGeom>
          <a:solidFill>
            <a:srgbClr val="121224"/>
          </a:solidFill>
          <a:ln w="19050">
            <a:solidFill>
              <a:srgbClr val="3A3A5C"/>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lnSpc>
                <a:spcPct val="100000"/>
              </a:lnSpc>
            </a:pPr>
            <a:r>
              <a:rPr sz="1300">
                <a:solidFill>
                  <a:srgbClr val="A5D6A7"/>
                </a:solidFill>
                <a:latin typeface="Consolas"/>
              </a:rPr>
              <a:t>MATCH ... PROFILE:</a:t>
            </a:r>
          </a:p>
          <a:p>
            <a:pPr algn="l">
              <a:lnSpc>
                <a:spcPct val="100000"/>
              </a:lnSpc>
            </a:pPr>
            <a:r>
              <a:rPr sz="1300">
                <a:solidFill>
                  <a:srgbClr val="A5D6A7"/>
                </a:solidFill>
                <a:latin typeface="Consolas"/>
              </a:rPr>
              <a:t> </a:t>
            </a:r>
          </a:p>
          <a:p>
            <a:pPr algn="l">
              <a:lnSpc>
                <a:spcPct val="100000"/>
              </a:lnSpc>
            </a:pPr>
            <a:r>
              <a:rPr sz="1300">
                <a:solidFill>
                  <a:srgbClr val="A5D6A7"/>
                </a:solidFill>
                <a:latin typeface="Consolas"/>
              </a:rPr>
              <a:t>  edge: forum.containerOf.post.hasCreator</a:t>
            </a:r>
          </a:p>
          <a:p>
            <a:pPr algn="l">
              <a:lnSpc>
                <a:spcPct val="100000"/>
              </a:lnSpc>
            </a:pPr>
            <a:r>
              <a:rPr sz="1300">
                <a:solidFill>
                  <a:srgbClr val="A5D6A7"/>
                </a:solidFill>
                <a:latin typeface="Consolas"/>
              </a:rPr>
              <a:t>    preFilter: applied=4823, skipped=0, ridSetSize=14210,</a:t>
            </a:r>
          </a:p>
          <a:p>
            <a:pPr algn="l">
              <a:lnSpc>
                <a:spcPct val="100000"/>
              </a:lnSpc>
            </a:pPr>
            <a:r>
              <a:rPr sz="1300">
                <a:solidFill>
                  <a:srgbClr val="A5D6A7"/>
                </a:solidFill>
                <a:latin typeface="Consolas"/>
              </a:rPr>
              <a:t>               buildTime=2.1ms, filterRate=0.96</a:t>
            </a:r>
          </a:p>
          <a:p>
            <a:pPr algn="l">
              <a:lnSpc>
                <a:spcPct val="100000"/>
              </a:lnSpc>
            </a:pPr>
            <a:r>
              <a:rPr sz="1300">
                <a:solidFill>
                  <a:srgbClr val="A5D6A7"/>
                </a:solidFill>
                <a:latin typeface="Consolas"/>
              </a:rPr>
              <a:t>    descriptor: EdgeRidLookup</a:t>
            </a:r>
          </a:p>
          <a:p>
            <a:pPr algn="l">
              <a:lnSpc>
                <a:spcPct val="100000"/>
              </a:lnSpc>
            </a:pPr>
            <a:r>
              <a:rPr sz="1300">
                <a:solidFill>
                  <a:srgbClr val="A5D6A7"/>
                </a:solidFill>
                <a:latin typeface="Consolas"/>
              </a:rPr>
              <a:t> </a:t>
            </a:r>
          </a:p>
          <a:p>
            <a:pPr algn="l">
              <a:lnSpc>
                <a:spcPct val="100000"/>
              </a:lnSpc>
            </a:pPr>
            <a:r>
              <a:rPr sz="1300">
                <a:solidFill>
                  <a:srgbClr val="A5D6A7"/>
                </a:solidFill>
                <a:latin typeface="Consolas"/>
              </a:rPr>
              <a:t>  edge: post.hasCreator</a:t>
            </a:r>
          </a:p>
          <a:p>
            <a:pPr algn="l">
              <a:lnSpc>
                <a:spcPct val="100000"/>
              </a:lnSpc>
            </a:pPr>
            <a:r>
              <a:rPr sz="1300">
                <a:solidFill>
                  <a:srgbClr val="A5D6A7"/>
                </a:solidFill>
                <a:latin typeface="Consolas"/>
              </a:rPr>
              <a:t>    preFilter: NEVER APPLIED (reason: STATS_UNAVAILABLE,</a:t>
            </a:r>
          </a:p>
          <a:p>
            <a:pPr algn="l">
              <a:lnSpc>
                <a:spcPct val="100000"/>
              </a:lnSpc>
            </a:pPr>
            <a:r>
              <a:rPr sz="1300">
                <a:solidFill>
                  <a:srgbClr val="A5D6A7"/>
                </a:solidFill>
                <a:latin typeface="Consolas"/>
              </a:rPr>
              <a:t>               threshold: selectivity != -1)</a:t>
            </a:r>
          </a:p>
          <a:p>
            <a:pPr algn="l">
              <a:lnSpc>
                <a:spcPct val="100000"/>
              </a:lnSpc>
            </a:pPr>
            <a:r>
              <a:rPr sz="1300">
                <a:solidFill>
                  <a:srgbClr val="A5D6A7"/>
                </a:solidFill>
                <a:latin typeface="Consolas"/>
              </a:rPr>
              <a:t>    descriptor: IndexLookup</a:t>
            </a:r>
          </a:p>
        </p:txBody>
      </p:sp>
      <p:sp>
        <p:nvSpPr>
          <p:cNvPr id="4" name="TextBox 3"/>
          <p:cNvSpPr txBox="1"/>
          <p:nvPr/>
        </p:nvSpPr>
        <p:spPr>
          <a:xfrm>
            <a:off x="548640" y="4754880"/>
            <a:ext cx="10972800" cy="1828800"/>
          </a:xfrm>
          <a:prstGeom prst="rect">
            <a:avLst/>
          </a:prstGeom>
          <a:noFill/>
        </p:spPr>
        <p:txBody>
          <a:bodyPr wrap="square">
            <a:spAutoFit/>
          </a:bodyPr>
          <a:lstStyle/>
          <a:p>
            <a:pPr algn="l">
              <a:lnSpc>
                <a:spcPct val="115000"/>
              </a:lnSpc>
            </a:pPr>
            <a:r>
              <a:rPr sz="1700">
                <a:solidFill>
                  <a:srgbClr val="E0E0E0"/>
                </a:solidFill>
                <a:latin typeface="Calibri"/>
              </a:rPr>
              <a:t>• Per-edge counters: applied / skipped / probed / filtered / buildTime / ridSetSize</a:t>
            </a:r>
          </a:p>
          <a:p>
            <a:pPr algn="l">
              <a:lnSpc>
                <a:spcPct val="115000"/>
              </a:lnSpc>
            </a:pPr>
            <a:r>
              <a:rPr sz="1700">
                <a:solidFill>
                  <a:srgbClr val="E0E0E0"/>
                </a:solidFill>
                <a:latin typeface="Calibri"/>
              </a:rPr>
              <a:t>• </a:t>
            </a:r>
            <a:r>
              <a:rPr sz="1700" b="1">
                <a:solidFill>
                  <a:srgbClr val="FCB13E"/>
                </a:solidFill>
                <a:latin typeface="Calibri"/>
              </a:rPr>
              <a:t>PreFilterSkipReason</a:t>
            </a:r>
            <a:r>
              <a:rPr sz="1700">
                <a:solidFill>
                  <a:srgbClr val="E0E0E0"/>
                </a:solidFill>
                <a:latin typeface="Calibri"/>
              </a:rPr>
              <a:t> enum: 8 values</a:t>
            </a:r>
          </a:p>
          <a:p>
            <a:pPr algn="l">
              <a:lnSpc>
                <a:spcPct val="115000"/>
              </a:lnSpc>
            </a:pPr>
            <a:r>
              <a:rPr sz="1700">
                <a:solidFill>
                  <a:srgbClr val="E0E0E0"/>
                </a:solidFill>
                <a:latin typeface="Calibri"/>
              </a:rPr>
              <a:t>• Global metric: </a:t>
            </a:r>
            <a:r>
              <a:rPr sz="1700" b="1">
                <a:solidFill>
                  <a:srgbClr val="FCB13E"/>
                </a:solidFill>
                <a:latin typeface="Calibri"/>
              </a:rPr>
              <a:t>PREFILTER_EFFECTIVENESS</a:t>
            </a:r>
            <a:r>
              <a:rPr sz="1700">
                <a:solidFill>
                  <a:srgbClr val="E0E0E0"/>
                </a:solidFill>
                <a:latin typeface="Calibri"/>
              </a:rPr>
              <a:t> (filter-rate aggregated)</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spAutoFit/>
          </a:bodyPr>
          <a:lstStyle/>
          <a:p>
            <a:r>
              <a:rPr sz="2800" b="1">
                <a:solidFill>
                  <a:srgbClr val="FF318C"/>
                </a:solidFill>
                <a:latin typeface="Calibri"/>
              </a:rPr>
              <a:t>Measured impact by mechanism</a:t>
            </a:r>
          </a:p>
        </p:txBody>
      </p:sp>
      <p:sp>
        <p:nvSpPr>
          <p:cNvPr id="3" name="TextBox 2"/>
          <p:cNvSpPr txBox="1"/>
          <p:nvPr/>
        </p:nvSpPr>
        <p:spPr>
          <a:xfrm>
            <a:off x="457200" y="914400"/>
            <a:ext cx="11247120" cy="365760"/>
          </a:xfrm>
          <a:prstGeom prst="rect">
            <a:avLst/>
          </a:prstGeom>
          <a:noFill/>
        </p:spPr>
        <p:txBody>
          <a:bodyPr wrap="square">
            <a:spAutoFit/>
          </a:bodyPr>
          <a:lstStyle/>
          <a:p>
            <a:r>
              <a:rPr sz="1800" i="1">
                <a:solidFill>
                  <a:srgbClr val="E8B5C8"/>
                </a:solidFill>
                <a:latin typeface="Calibri"/>
              </a:rPr>
              <a:t>LDBC SNB SF 1, single-thread / multi-thread % speed-up</a:t>
            </a:r>
          </a:p>
        </p:txBody>
      </p:sp>
      <p:graphicFrame>
        <p:nvGraphicFramePr>
          <p:cNvPr id="4" name="Table 3"/>
          <p:cNvGraphicFramePr>
            <a:graphicFrameLocks noGrp="1"/>
          </p:cNvGraphicFramePr>
          <p:nvPr/>
        </p:nvGraphicFramePr>
        <p:xfrm>
          <a:off x="548640" y="1450000"/>
          <a:ext cx="11000000" cy="3600000"/>
        </p:xfrm>
        <a:graphic>
          <a:graphicData uri="http://schemas.openxmlformats.org/drawingml/2006/table">
            <a:tbl>
              <a:tblPr firstRow="1" bandRow="1">
                <a:tableStyleId>{5C22544A-7EE6-4342-B048-85BDC9FD1C3A}</a:tableStyleId>
              </a:tblPr>
              <a:tblGrid>
                <a:gridCol w="4400000"/>
                <a:gridCol w="3600000"/>
                <a:gridCol w="1500000"/>
                <a:gridCol w="1500000"/>
              </a:tblGrid>
              <a:tr h="450000">
                <a:tc>
                  <a:txBody>
                    <a:bodyPr wrap="square"/>
                    <a:lstStyle/>
                    <a:p>
                      <a:r>
                        <a:rPr sz="1200" b="1">
                          <a:solidFill>
                            <a:srgbClr val="FFA0C8"/>
                          </a:solidFill>
                          <a:latin typeface="Calibri"/>
                        </a:rPr>
                        <a:t>Mechanism</a:t>
                      </a:r>
                    </a:p>
                  </a:txBody>
                  <a:tcPr>
                    <a:solidFill>
                      <a:srgbClr val="401530"/>
                    </a:solidFill>
                  </a:tcPr>
                </a:tc>
                <a:tc>
                  <a:txBody>
                    <a:bodyPr wrap="square"/>
                    <a:lstStyle/>
                    <a:p>
                      <a:r>
                        <a:rPr sz="1200" b="1">
                          <a:solidFill>
                            <a:srgbClr val="FFA0C8"/>
                          </a:solidFill>
                          <a:latin typeface="Calibri"/>
                        </a:rPr>
                        <a:t>LDBC query</a:t>
                      </a:r>
                    </a:p>
                  </a:txBody>
                  <a:tcPr>
                    <a:solidFill>
                      <a:srgbClr val="401530"/>
                    </a:solidFill>
                  </a:tcPr>
                </a:tc>
                <a:tc>
                  <a:txBody>
                    <a:bodyPr wrap="square"/>
                    <a:lstStyle/>
                    <a:p>
                      <a:r>
                        <a:rPr sz="1200" b="1">
                          <a:solidFill>
                            <a:srgbClr val="FFA0C8"/>
                          </a:solidFill>
                          <a:latin typeface="Calibri"/>
                        </a:rPr>
                        <a:t>Δ% ST</a:t>
                      </a:r>
                    </a:p>
                  </a:txBody>
                  <a:tcPr>
                    <a:solidFill>
                      <a:srgbClr val="401530"/>
                    </a:solidFill>
                  </a:tcPr>
                </a:tc>
                <a:tc>
                  <a:txBody>
                    <a:bodyPr wrap="square"/>
                    <a:lstStyle/>
                    <a:p>
                      <a:r>
                        <a:rPr sz="1200" b="1">
                          <a:solidFill>
                            <a:srgbClr val="FFA0C8"/>
                          </a:solidFill>
                          <a:latin typeface="Calibri"/>
                        </a:rPr>
                        <a:t>Δ% MT</a:t>
                      </a:r>
                    </a:p>
                  </a:txBody>
                  <a:tcPr>
                    <a:solidFill>
                      <a:srgbClr val="401530"/>
                    </a:solidFill>
                  </a:tcPr>
                </a:tc>
              </a:tr>
              <a:tr h="450000">
                <a:tc>
                  <a:txBody>
                    <a:bodyPr wrap="square"/>
                    <a:lstStyle/>
                    <a:p>
                      <a:r>
                        <a:rPr sz="1100" b="1">
                          <a:solidFill>
                            <a:srgbClr val="FCB13E"/>
                          </a:solidFill>
                          <a:latin typeface="Calibri"/>
                        </a:rPr>
                        <a:t>Class filter via collection ID</a:t>
                      </a:r>
                    </a:p>
                  </a:txBody>
                  <a:tcPr>
                    <a:solidFill>
                      <a:srgbClr val="15152A"/>
                    </a:solidFill>
                  </a:tcPr>
                </a:tc>
                <a:tc>
                  <a:txBody>
                    <a:bodyPr wrap="square"/>
                    <a:lstStyle/>
                    <a:p>
                      <a:r>
                        <a:rPr sz="1100" b="0">
                          <a:solidFill>
                            <a:srgbClr val="E0E0E0"/>
                          </a:solidFill>
                          <a:latin typeface="Calibri"/>
                        </a:rPr>
                        <a:t>IC7 recentLikers</a:t>
                      </a:r>
                    </a:p>
                  </a:txBody>
                  <a:tcPr>
                    <a:solidFill>
                      <a:srgbClr val="15152A"/>
                    </a:solidFill>
                  </a:tcPr>
                </a:tc>
                <a:tc>
                  <a:txBody>
                    <a:bodyPr wrap="square"/>
                    <a:lstStyle/>
                    <a:p>
                      <a:r>
                        <a:rPr sz="1100" b="1">
                          <a:solidFill>
                            <a:srgbClr val="FCB13E"/>
                          </a:solidFill>
                          <a:latin typeface="Calibri"/>
                        </a:rPr>
                        <a:t>+1087%</a:t>
                      </a:r>
                    </a:p>
                  </a:txBody>
                  <a:tcPr>
                    <a:solidFill>
                      <a:srgbClr val="15152A"/>
                    </a:solidFill>
                  </a:tcPr>
                </a:tc>
                <a:tc>
                  <a:txBody>
                    <a:bodyPr wrap="square"/>
                    <a:lstStyle/>
                    <a:p>
                      <a:r>
                        <a:rPr sz="1100" b="1">
                          <a:solidFill>
                            <a:srgbClr val="FCB13E"/>
                          </a:solidFill>
                          <a:latin typeface="Calibri"/>
                        </a:rPr>
                        <a:t>+1110%</a:t>
                      </a:r>
                    </a:p>
                  </a:txBody>
                  <a:tcPr>
                    <a:solidFill>
                      <a:srgbClr val="15152A"/>
                    </a:solidFill>
                  </a:tcPr>
                </a:tc>
              </a:tr>
              <a:tr h="450000">
                <a:tc>
                  <a:txBody>
                    <a:bodyPr wrap="square"/>
                    <a:lstStyle/>
                    <a:p>
                      <a:r>
                        <a:rPr sz="1100" b="1">
                          <a:solidFill>
                            <a:srgbClr val="FCB13E"/>
                          </a:solidFill>
                          <a:latin typeface="Calibri"/>
                        </a:rPr>
                        <a:t>IndexLookup (indexed property)</a:t>
                      </a:r>
                    </a:p>
                  </a:txBody>
                  <a:tcPr>
                    <a:solidFill>
                      <a:srgbClr val="15152A"/>
                    </a:solidFill>
                  </a:tcPr>
                </a:tc>
                <a:tc>
                  <a:txBody>
                    <a:bodyPr wrap="square"/>
                    <a:lstStyle/>
                    <a:p>
                      <a:r>
                        <a:rPr sz="1100" b="0">
                          <a:solidFill>
                            <a:srgbClr val="E0E0E0"/>
                          </a:solidFill>
                          <a:latin typeface="Calibri"/>
                        </a:rPr>
                        <a:t>IS7 messageReplies</a:t>
                      </a:r>
                    </a:p>
                  </a:txBody>
                  <a:tcPr>
                    <a:solidFill>
                      <a:srgbClr val="15152A"/>
                    </a:solidFill>
                  </a:tcPr>
                </a:tc>
                <a:tc>
                  <a:txBody>
                    <a:bodyPr wrap="square"/>
                    <a:lstStyle/>
                    <a:p>
                      <a:r>
                        <a:rPr sz="1100" b="1">
                          <a:solidFill>
                            <a:srgbClr val="FCB13E"/>
                          </a:solidFill>
                          <a:latin typeface="Calibri"/>
                        </a:rPr>
                        <a:t>+220%</a:t>
                      </a:r>
                    </a:p>
                  </a:txBody>
                  <a:tcPr>
                    <a:solidFill>
                      <a:srgbClr val="15152A"/>
                    </a:solidFill>
                  </a:tcPr>
                </a:tc>
                <a:tc>
                  <a:txBody>
                    <a:bodyPr wrap="square"/>
                    <a:lstStyle/>
                    <a:p>
                      <a:r>
                        <a:rPr sz="1100" b="1">
                          <a:solidFill>
                            <a:srgbClr val="FCB13E"/>
                          </a:solidFill>
                          <a:latin typeface="Calibri"/>
                        </a:rPr>
                        <a:t>+212%</a:t>
                      </a:r>
                    </a:p>
                  </a:txBody>
                  <a:tcPr>
                    <a:solidFill>
                      <a:srgbClr val="15152A"/>
                    </a:solidFill>
                  </a:tcPr>
                </a:tc>
              </a:tr>
              <a:tr h="450000">
                <a:tc>
                  <a:txBody>
                    <a:bodyPr wrap="square"/>
                    <a:lstStyle/>
                    <a:p>
                      <a:r>
                        <a:rPr sz="1100" b="1">
                          <a:solidFill>
                            <a:srgbClr val="FCB13E"/>
                          </a:solidFill>
                          <a:latin typeface="Calibri"/>
                        </a:rPr>
                        <a:t>IndexLookup (indexed property)</a:t>
                      </a:r>
                    </a:p>
                  </a:txBody>
                  <a:tcPr>
                    <a:solidFill>
                      <a:srgbClr val="15152A"/>
                    </a:solidFill>
                  </a:tcPr>
                </a:tc>
                <a:tc>
                  <a:txBody>
                    <a:bodyPr wrap="square"/>
                    <a:lstStyle/>
                    <a:p>
                      <a:r>
                        <a:rPr sz="1100" b="0">
                          <a:solidFill>
                            <a:srgbClr val="E0E0E0"/>
                          </a:solidFill>
                          <a:latin typeface="Calibri"/>
                        </a:rPr>
                        <a:t>IC3 friendsInCountries</a:t>
                      </a:r>
                    </a:p>
                  </a:txBody>
                  <a:tcPr>
                    <a:solidFill>
                      <a:srgbClr val="15152A"/>
                    </a:solidFill>
                  </a:tcPr>
                </a:tc>
                <a:tc>
                  <a:txBody>
                    <a:bodyPr wrap="square"/>
                    <a:lstStyle/>
                    <a:p>
                      <a:r>
                        <a:rPr sz="1100" b="1">
                          <a:solidFill>
                            <a:srgbClr val="FCB13E"/>
                          </a:solidFill>
                          <a:latin typeface="Calibri"/>
                        </a:rPr>
                        <a:t>+1117%</a:t>
                      </a:r>
                    </a:p>
                  </a:txBody>
                  <a:tcPr>
                    <a:solidFill>
                      <a:srgbClr val="15152A"/>
                    </a:solidFill>
                  </a:tcPr>
                </a:tc>
                <a:tc>
                  <a:txBody>
                    <a:bodyPr wrap="square"/>
                    <a:lstStyle/>
                    <a:p>
                      <a:r>
                        <a:rPr sz="1100" b="1">
                          <a:solidFill>
                            <a:srgbClr val="FCB13E"/>
                          </a:solidFill>
                          <a:latin typeface="Calibri"/>
                        </a:rPr>
                        <a:t>+929%</a:t>
                      </a:r>
                    </a:p>
                  </a:txBody>
                  <a:tcPr>
                    <a:solidFill>
                      <a:srgbClr val="15152A"/>
                    </a:solidFill>
                  </a:tcPr>
                </a:tc>
              </a:tr>
              <a:tr h="450000">
                <a:tc>
                  <a:txBody>
                    <a:bodyPr wrap="square"/>
                    <a:lstStyle/>
                    <a:p>
                      <a:r>
                        <a:rPr sz="1100" b="1">
                          <a:solidFill>
                            <a:srgbClr val="FCB13E"/>
                          </a:solidFill>
                          <a:latin typeface="Calibri"/>
                        </a:rPr>
                        <a:t>IndexLookup (indexed property)</a:t>
                      </a:r>
                    </a:p>
                  </a:txBody>
                  <a:tcPr>
                    <a:solidFill>
                      <a:srgbClr val="15152A"/>
                    </a:solidFill>
                  </a:tcPr>
                </a:tc>
                <a:tc>
                  <a:txBody>
                    <a:bodyPr wrap="square"/>
                    <a:lstStyle/>
                    <a:p>
                      <a:r>
                        <a:rPr sz="1100" b="0">
                          <a:solidFill>
                            <a:srgbClr val="E0E0E0"/>
                          </a:solidFill>
                          <a:latin typeface="Calibri"/>
                        </a:rPr>
                        <a:t>IC9 recentFofMessages</a:t>
                      </a:r>
                    </a:p>
                  </a:txBody>
                  <a:tcPr>
                    <a:solidFill>
                      <a:srgbClr val="15152A"/>
                    </a:solidFill>
                  </a:tcPr>
                </a:tc>
                <a:tc>
                  <a:txBody>
                    <a:bodyPr wrap="square"/>
                    <a:lstStyle/>
                    <a:p>
                      <a:r>
                        <a:rPr sz="1100" b="1">
                          <a:solidFill>
                            <a:srgbClr val="FCB13E"/>
                          </a:solidFill>
                          <a:latin typeface="Calibri"/>
                        </a:rPr>
                        <a:t>+483%</a:t>
                      </a:r>
                    </a:p>
                  </a:txBody>
                  <a:tcPr>
                    <a:solidFill>
                      <a:srgbClr val="15152A"/>
                    </a:solidFill>
                  </a:tcPr>
                </a:tc>
                <a:tc>
                  <a:txBody>
                    <a:bodyPr wrap="square"/>
                    <a:lstStyle/>
                    <a:p>
                      <a:r>
                        <a:rPr sz="1100" b="1">
                          <a:solidFill>
                            <a:srgbClr val="FCB13E"/>
                          </a:solidFill>
                          <a:latin typeface="Calibri"/>
                        </a:rPr>
                        <a:t>+433%</a:t>
                      </a:r>
                    </a:p>
                  </a:txBody>
                  <a:tcPr>
                    <a:solidFill>
                      <a:srgbClr val="15152A"/>
                    </a:solidFill>
                  </a:tcPr>
                </a:tc>
              </a:tr>
              <a:tr h="450000">
                <a:tc>
                  <a:txBody>
                    <a:bodyPr wrap="square"/>
                    <a:lstStyle/>
                    <a:p>
                      <a:r>
                        <a:rPr sz="1100" b="1">
                          <a:solidFill>
                            <a:srgbClr val="FCB13E"/>
                          </a:solidFill>
                          <a:latin typeface="Calibri"/>
                        </a:rPr>
                        <a:t>EdgeRidLookup (back-ref intersection)</a:t>
                      </a:r>
                    </a:p>
                  </a:txBody>
                  <a:tcPr>
                    <a:solidFill>
                      <a:srgbClr val="15152A"/>
                    </a:solidFill>
                  </a:tcPr>
                </a:tc>
                <a:tc>
                  <a:txBody>
                    <a:bodyPr wrap="square"/>
                    <a:lstStyle/>
                    <a:p>
                      <a:r>
                        <a:rPr sz="1100" b="0">
                          <a:solidFill>
                            <a:srgbClr val="E0E0E0"/>
                          </a:solidFill>
                          <a:latin typeface="Calibri"/>
                        </a:rPr>
                        <a:t>IC1 transitiveFriends</a:t>
                      </a:r>
                    </a:p>
                  </a:txBody>
                  <a:tcPr>
                    <a:solidFill>
                      <a:srgbClr val="15152A"/>
                    </a:solidFill>
                  </a:tcPr>
                </a:tc>
                <a:tc>
                  <a:txBody>
                    <a:bodyPr wrap="square"/>
                    <a:lstStyle/>
                    <a:p>
                      <a:r>
                        <a:rPr sz="1100" b="1">
                          <a:solidFill>
                            <a:srgbClr val="FCB13E"/>
                          </a:solidFill>
                          <a:latin typeface="Calibri"/>
                        </a:rPr>
                        <a:t>+12%</a:t>
                      </a:r>
                    </a:p>
                  </a:txBody>
                  <a:tcPr>
                    <a:solidFill>
                      <a:srgbClr val="15152A"/>
                    </a:solidFill>
                  </a:tcPr>
                </a:tc>
                <a:tc>
                  <a:txBody>
                    <a:bodyPr wrap="square"/>
                    <a:lstStyle/>
                    <a:p>
                      <a:r>
                        <a:rPr sz="1100" b="1">
                          <a:solidFill>
                            <a:srgbClr val="FCB13E"/>
                          </a:solidFill>
                          <a:latin typeface="Calibri"/>
                        </a:rPr>
                        <a:t>+8%</a:t>
                      </a:r>
                    </a:p>
                  </a:txBody>
                  <a:tcPr>
                    <a:solidFill>
                      <a:srgbClr val="15152A"/>
                    </a:solidFill>
                  </a:tcPr>
                </a:tc>
              </a:tr>
              <a:tr h="450000">
                <a:tc>
                  <a:txBody>
                    <a:bodyPr wrap="square"/>
                    <a:lstStyle/>
                    <a:p>
                      <a:r>
                        <a:rPr sz="1100" b="1">
                          <a:solidFill>
                            <a:srgbClr val="FCB13E"/>
                          </a:solidFill>
                          <a:latin typeface="Calibri"/>
                        </a:rPr>
                        <a:t>EdgeRidLookup (back-ref intersection)</a:t>
                      </a:r>
                    </a:p>
                  </a:txBody>
                  <a:tcPr>
                    <a:solidFill>
                      <a:srgbClr val="15152A"/>
                    </a:solidFill>
                  </a:tcPr>
                </a:tc>
                <a:tc>
                  <a:txBody>
                    <a:bodyPr wrap="square"/>
                    <a:lstStyle/>
                    <a:p>
                      <a:r>
                        <a:rPr sz="1100" b="0">
                          <a:solidFill>
                            <a:srgbClr val="E0E0E0"/>
                          </a:solidFill>
                          <a:latin typeface="Calibri"/>
                        </a:rPr>
                        <a:t>IC12 expertSearch</a:t>
                      </a:r>
                    </a:p>
                  </a:txBody>
                  <a:tcPr>
                    <a:solidFill>
                      <a:srgbClr val="15152A"/>
                    </a:solidFill>
                  </a:tcPr>
                </a:tc>
                <a:tc>
                  <a:txBody>
                    <a:bodyPr wrap="square"/>
                    <a:lstStyle/>
                    <a:p>
                      <a:r>
                        <a:rPr sz="1100" b="1">
                          <a:solidFill>
                            <a:srgbClr val="FCB13E"/>
                          </a:solidFill>
                          <a:latin typeface="Calibri"/>
                        </a:rPr>
                        <a:t>+106%</a:t>
                      </a:r>
                    </a:p>
                  </a:txBody>
                  <a:tcPr>
                    <a:solidFill>
                      <a:srgbClr val="15152A"/>
                    </a:solidFill>
                  </a:tcPr>
                </a:tc>
                <a:tc>
                  <a:txBody>
                    <a:bodyPr wrap="square"/>
                    <a:lstStyle/>
                    <a:p>
                      <a:r>
                        <a:rPr sz="1100" b="1">
                          <a:solidFill>
                            <a:srgbClr val="FCB13E"/>
                          </a:solidFill>
                          <a:latin typeface="Calibri"/>
                        </a:rPr>
                        <a:t>+101%</a:t>
                      </a:r>
                    </a:p>
                  </a:txBody>
                  <a:tcPr>
                    <a:solidFill>
                      <a:srgbClr val="15152A"/>
                    </a:solidFill>
                  </a:tcPr>
                </a:tc>
              </a:tr>
              <a:tr h="450000">
                <a:tc>
                  <a:txBody>
                    <a:bodyPr wrap="square"/>
                    <a:lstStyle/>
                    <a:p>
                      <a:r>
                        <a:rPr sz="1100" b="1">
                          <a:solidFill>
                            <a:srgbClr val="FCB13E"/>
                          </a:solidFill>
                          <a:latin typeface="Calibri"/>
                        </a:rPr>
                        <a:t>Amortization gates (CLT-bounded build)</a:t>
                      </a:r>
                    </a:p>
                  </a:txBody>
                  <a:tcPr>
                    <a:solidFill>
                      <a:srgbClr val="15152A"/>
                    </a:solidFill>
                  </a:tcPr>
                </a:tc>
                <a:tc>
                  <a:txBody>
                    <a:bodyPr wrap="square"/>
                    <a:lstStyle/>
                    <a:p>
                      <a:r>
                        <a:rPr sz="1100" b="0">
                          <a:solidFill>
                            <a:srgbClr val="E0E0E0"/>
                          </a:solidFill>
                          <a:latin typeface="Calibri"/>
                        </a:rPr>
                        <a:t>IC13 shortestPath</a:t>
                      </a:r>
                    </a:p>
                  </a:txBody>
                  <a:tcPr>
                    <a:solidFill>
                      <a:srgbClr val="15152A"/>
                    </a:solidFill>
                  </a:tcPr>
                </a:tc>
                <a:tc>
                  <a:txBody>
                    <a:bodyPr wrap="square"/>
                    <a:lstStyle/>
                    <a:p>
                      <a:r>
                        <a:rPr sz="1100" b="1">
                          <a:solidFill>
                            <a:srgbClr val="FCB13E"/>
                          </a:solidFill>
                          <a:latin typeface="Calibri"/>
                        </a:rPr>
                        <a:t>+7%</a:t>
                      </a:r>
                    </a:p>
                  </a:txBody>
                  <a:tcPr>
                    <a:solidFill>
                      <a:srgbClr val="15152A"/>
                    </a:solidFill>
                  </a:tcPr>
                </a:tc>
                <a:tc>
                  <a:txBody>
                    <a:bodyPr wrap="square"/>
                    <a:lstStyle/>
                    <a:p>
                      <a:r>
                        <a:rPr sz="1100" b="1">
                          <a:solidFill>
                            <a:srgbClr val="FCB13E"/>
                          </a:solidFill>
                          <a:latin typeface="Calibri"/>
                        </a:rPr>
                        <a:t>+8%</a:t>
                      </a:r>
                    </a:p>
                  </a:txBody>
                  <a:tcPr>
                    <a:solidFill>
                      <a:srgbClr val="15152A"/>
                    </a:solidFill>
                  </a:tcPr>
                </a:tc>
              </a:tr>
            </a:tbl>
          </a:graphicData>
        </a:graphic>
      </p:graphicFrame>
      <p:sp>
        <p:nvSpPr>
          <p:cNvPr id="5" name="TextBox 4"/>
          <p:cNvSpPr txBox="1"/>
          <p:nvPr/>
        </p:nvSpPr>
        <p:spPr>
          <a:xfrm>
            <a:off x="548640" y="5900000"/>
            <a:ext cx="11094720" cy="700000"/>
          </a:xfrm>
          <a:prstGeom prst="rect">
            <a:avLst/>
          </a:prstGeom>
          <a:noFill/>
        </p:spPr>
        <p:txBody>
          <a:bodyPr wrap="square">
            <a:spAutoFit/>
          </a:bodyPr>
          <a:lstStyle/>
          <a:p>
            <a:r>
              <a:rPr sz="1500" b="0">
                <a:solidFill>
                  <a:srgbClr val="E0E0E0"/>
                </a:solidFill>
                <a:latin typeface="Calibri"/>
              </a:rPr>
              <a:t>• Each row is a separate measurement against its own baseline — percentages are </a:t>
            </a:r>
            <a:r>
              <a:rPr sz="1500" b="1">
                <a:solidFill>
                  <a:srgbClr val="FCB13E"/>
                </a:solidFill>
                <a:latin typeface="Calibri"/>
              </a:rPr>
              <a:t>not additive</a:t>
            </a:r>
            <a:r>
              <a:rPr sz="1500" b="0">
                <a:solidFill>
                  <a:srgbClr val="E0E0E0"/>
                </a:solidFill>
                <a:latin typeface="Calibri"/>
              </a:rPr>
              <a:t> across rows</a:t>
            </a:r>
          </a:p>
          <a:p>
            <a:r>
              <a:rPr sz="1500" b="0">
                <a:solidFill>
                  <a:srgbClr val="E0E0E0"/>
                </a:solidFill>
                <a:latin typeface="Calibri"/>
              </a:rPr>
              <a:t>• Pre-filter is invisible in query output — only PROFILE counters reveal whether it fired</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spAutoFit/>
          </a:bodyPr>
          <a:lstStyle/>
          <a:p>
            <a:pPr>
              <a:defRPr sz="2800" b="1">
                <a:solidFill>
                  <a:srgbClr val="FF318C"/>
                </a:solidFill>
                <a:latin typeface="Calibri"/>
              </a:defRPr>
            </a:pPr>
            <a:r>
              <a:t>Back to IC3 — where pre-filter fires</a:t>
            </a:r>
          </a:p>
        </p:txBody>
      </p:sp>
      <p:sp>
        <p:nvSpPr>
          <p:cNvPr id="3" name="Rounded Rectangle 2"/>
          <p:cNvSpPr/>
          <p:nvPr/>
        </p:nvSpPr>
        <p:spPr>
          <a:xfrm>
            <a:off x="548640" y="1097280"/>
            <a:ext cx="10972800" cy="2468880"/>
          </a:xfrm>
          <a:prstGeom prst="roundRect">
            <a:avLst/>
          </a:prstGeom>
          <a:solidFill>
            <a:srgbClr val="121224"/>
          </a:solidFill>
          <a:ln w="19050">
            <a:solidFill>
              <a:srgbClr val="3A3A5C"/>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lnSpc>
                <a:spcPct val="100000"/>
              </a:lnSpc>
            </a:pPr>
            <a:r>
              <a:rPr sz="1200">
                <a:solidFill>
                  <a:srgbClr val="A5D6A7"/>
                </a:solidFill>
                <a:latin typeface="Consolas"/>
              </a:rPr>
              <a:t>  BRANCH A: {person}.out('IS_LOCATED_IN').out('IS_PART_OF')</a:t>
            </a:r>
          </a:p>
          <a:p>
            <a:pPr algn="l">
              <a:lnSpc>
                <a:spcPct val="100000"/>
              </a:lnSpc>
            </a:pPr>
            <a:r>
              <a:rPr sz="1200">
                <a:solidFill>
                  <a:srgbClr val="B0B0B0"/>
                </a:solidFill>
                <a:latin typeface="Consolas"/>
              </a:rPr>
              <a:t>              {where name NOT IN [:cX, :cY]}      ← class filter / NOT IN</a:t>
            </a:r>
          </a:p>
          <a:p>
            <a:pPr algn="l">
              <a:lnSpc>
                <a:spcPct val="100000"/>
              </a:lnSpc>
            </a:pPr>
            <a:r>
              <a:rPr sz="1200">
                <a:solidFill>
                  <a:srgbClr val="A5D6A7"/>
                </a:solidFill>
                <a:latin typeface="Consolas"/>
              </a:rPr>
              <a:t> </a:t>
            </a:r>
          </a:p>
          <a:p>
            <a:pPr algn="l">
              <a:lnSpc>
                <a:spcPct val="100000"/>
              </a:lnSpc>
            </a:pPr>
            <a:r>
              <a:rPr sz="1200">
                <a:solidFill>
                  <a:srgbClr val="A5D6A7"/>
                </a:solidFill>
                <a:latin typeface="Consolas"/>
              </a:rPr>
              <a:t>  BRANCH B: {person}.in('HAS_CREATOR')</a:t>
            </a:r>
          </a:p>
          <a:p>
            <a:pPr algn="l">
              <a:lnSpc>
                <a:spcPct val="100000"/>
              </a:lnSpc>
            </a:pPr>
            <a:r>
              <a:rPr sz="1200">
                <a:solidFill>
                  <a:srgbClr val="B0B0B0"/>
                </a:solidFill>
                <a:latin typeface="Consolas"/>
              </a:rPr>
              <a:t>              {message, where creationDate &gt;= …}   ← IndexLookup (date)</a:t>
            </a:r>
          </a:p>
          <a:p>
            <a:pPr algn="l">
              <a:lnSpc>
                <a:spcPct val="100000"/>
              </a:lnSpc>
            </a:pPr>
            <a:r>
              <a:rPr sz="1200">
                <a:solidFill>
                  <a:srgbClr val="A5D6A7"/>
                </a:solidFill>
                <a:latin typeface="Consolas"/>
              </a:rPr>
              <a:t>              .out('IS_LOCATED_IN')</a:t>
            </a:r>
          </a:p>
          <a:p>
            <a:pPr algn="l">
              <a:lnSpc>
                <a:spcPct val="100000"/>
              </a:lnSpc>
            </a:pPr>
            <a:r>
              <a:rPr sz="1200">
                <a:solidFill>
                  <a:srgbClr val="B0B0B0"/>
                </a:solidFill>
                <a:latin typeface="Consolas"/>
              </a:rPr>
              <a:t>              {msgCountry, where name IN […]}     ← IndexLookup (name IN)</a:t>
            </a:r>
          </a:p>
        </p:txBody>
      </p:sp>
      <p:graphicFrame>
        <p:nvGraphicFramePr>
          <p:cNvPr id="4" name="Table 3"/>
          <p:cNvGraphicFramePr>
            <a:graphicFrameLocks noGrp="1"/>
          </p:cNvGraphicFramePr>
          <p:nvPr/>
        </p:nvGraphicFramePr>
        <p:xfrm>
          <a:off x="548640" y="3840480"/>
          <a:ext cx="10972798" cy="1828800"/>
        </p:xfrm>
        <a:graphic>
          <a:graphicData uri="http://schemas.openxmlformats.org/drawingml/2006/table">
            <a:tbl>
              <a:tblPr firstRow="1" bandRow="1">
                <a:tableStyleId>{5C22544A-7EE6-4342-B048-85BDC9FD1C3A}</a:tableStyleId>
              </a:tblPr>
              <a:tblGrid>
                <a:gridCol w="5454545"/>
                <a:gridCol w="4545454"/>
              </a:tblGrid>
              <a:tr h="457200">
                <a:tc>
                  <a:txBody>
                    <a:bodyPr wrap="square" lIns="73152" rIns="73152" tIns="36576" bIns="36576"/>
                    <a:lstStyle/>
                    <a:p>
                      <a:pPr algn="l"/>
                      <a:r>
                        <a:rPr sz="1300" b="1">
                          <a:solidFill>
                            <a:srgbClr val="FFA0C8"/>
                          </a:solidFill>
                          <a:latin typeface="Calibri"/>
                        </a:rPr>
                        <a:t>Part of IC3</a:t>
                      </a:r>
                    </a:p>
                  </a:txBody>
                  <a:tcPr>
                    <a:solidFill>
                      <a:srgbClr val="401530"/>
                    </a:solidFill>
                  </a:tcPr>
                </a:tc>
                <a:tc>
                  <a:txBody>
                    <a:bodyPr wrap="square" lIns="73152" rIns="73152" tIns="36576" bIns="36576"/>
                    <a:lstStyle/>
                    <a:p>
                      <a:pPr algn="l"/>
                      <a:r>
                        <a:rPr sz="1300" b="1">
                          <a:solidFill>
                            <a:srgbClr val="FFA0C8"/>
                          </a:solidFill>
                          <a:latin typeface="Calibri"/>
                        </a:rPr>
                        <a:t>Descriptor</a:t>
                      </a:r>
                    </a:p>
                  </a:txBody>
                  <a:tcPr>
                    <a:solidFill>
                      <a:srgbClr val="401530"/>
                    </a:solidFill>
                  </a:tcPr>
                </a:tc>
              </a:tr>
              <a:tr h="457200">
                <a:tc>
                  <a:txBody>
                    <a:bodyPr wrap="square" lIns="73152" rIns="73152" tIns="36576" bIns="36576"/>
                    <a:lstStyle/>
                    <a:p>
                      <a:pPr algn="l"/>
                      <a:r>
                        <a:rPr sz="1300">
                          <a:solidFill>
                            <a:srgbClr val="E0E0E0"/>
                          </a:solidFill>
                          <a:latin typeface="Calibri"/>
                        </a:rPr>
                        <a:t>creationDate &gt;= … AND &lt; …</a:t>
                      </a:r>
                    </a:p>
                  </a:txBody>
                  <a:tcPr>
                    <a:solidFill>
                      <a:srgbClr val="15152A"/>
                    </a:solidFill>
                  </a:tcPr>
                </a:tc>
                <a:tc>
                  <a:txBody>
                    <a:bodyPr wrap="square" lIns="73152" rIns="73152" tIns="36576" bIns="36576"/>
                    <a:lstStyle/>
                    <a:p>
                      <a:pPr algn="l"/>
                      <a:r>
                        <a:rPr sz="1300">
                          <a:solidFill>
                            <a:srgbClr val="E0E0E0"/>
                          </a:solidFill>
                          <a:latin typeface="Calibri"/>
                        </a:rPr>
                        <a:t>IndexLookup</a:t>
                      </a:r>
                    </a:p>
                  </a:txBody>
                  <a:tcPr>
                    <a:solidFill>
                      <a:srgbClr val="15152A"/>
                    </a:solidFill>
                  </a:tcPr>
                </a:tc>
              </a:tr>
              <a:tr h="457200">
                <a:tc>
                  <a:txBody>
                    <a:bodyPr wrap="square" lIns="73152" rIns="73152" tIns="36576" bIns="36576"/>
                    <a:lstStyle/>
                    <a:p>
                      <a:pPr algn="l"/>
                      <a:r>
                        <a:rPr sz="1300">
                          <a:solidFill>
                            <a:srgbClr val="E0E0E0"/>
                          </a:solidFill>
                          <a:latin typeface="Calibri"/>
                        </a:rPr>
                        <a:t>msgCountry.name IN [...]</a:t>
                      </a:r>
                    </a:p>
                  </a:txBody>
                  <a:tcPr>
                    <a:solidFill>
                      <a:srgbClr val="1D1D35"/>
                    </a:solidFill>
                  </a:tcPr>
                </a:tc>
                <a:tc>
                  <a:txBody>
                    <a:bodyPr wrap="square" lIns="73152" rIns="73152" tIns="36576" bIns="36576"/>
                    <a:lstStyle/>
                    <a:p>
                      <a:pPr algn="l"/>
                      <a:r>
                        <a:rPr sz="1300">
                          <a:solidFill>
                            <a:srgbClr val="E0E0E0"/>
                          </a:solidFill>
                          <a:latin typeface="Calibri"/>
                        </a:rPr>
                        <a:t>IndexLookup</a:t>
                      </a:r>
                    </a:p>
                  </a:txBody>
                  <a:tcPr>
                    <a:solidFill>
                      <a:srgbClr val="1D1D35"/>
                    </a:solidFill>
                  </a:tcPr>
                </a:tc>
              </a:tr>
              <a:tr h="457200">
                <a:tc>
                  <a:txBody>
                    <a:bodyPr wrap="square" lIns="73152" rIns="73152" tIns="36576" bIns="36576"/>
                    <a:lstStyle/>
                    <a:p>
                      <a:pPr algn="l"/>
                      <a:r>
                        <a:rPr sz="1300">
                          <a:solidFill>
                            <a:srgbClr val="E0E0E0"/>
                          </a:solidFill>
                          <a:latin typeface="Calibri"/>
                        </a:rPr>
                        <a:t>country.name NOT IN [...]</a:t>
                      </a:r>
                    </a:p>
                  </a:txBody>
                  <a:tcPr>
                    <a:solidFill>
                      <a:srgbClr val="15152A"/>
                    </a:solidFill>
                  </a:tcPr>
                </a:tc>
                <a:tc>
                  <a:txBody>
                    <a:bodyPr wrap="square" lIns="73152" rIns="73152" tIns="36576" bIns="36576"/>
                    <a:lstStyle/>
                    <a:p>
                      <a:pPr algn="l"/>
                      <a:r>
                        <a:rPr sz="1300">
                          <a:solidFill>
                            <a:srgbClr val="E0E0E0"/>
                          </a:solidFill>
                          <a:latin typeface="Calibri"/>
                        </a:rPr>
                        <a:t>Class filter (Case A)</a:t>
                      </a:r>
                    </a:p>
                  </a:txBody>
                  <a:tcPr>
                    <a:solidFill>
                      <a:srgbClr val="15152A"/>
                    </a:solidFill>
                  </a:tcPr>
                </a:tc>
              </a:tr>
            </a:tbl>
          </a:graphicData>
        </a:graphic>
      </p:graphicFrame>
      <p:sp>
        <p:nvSpPr>
          <p:cNvPr id="5" name="TextBox 4"/>
          <p:cNvSpPr txBox="1"/>
          <p:nvPr/>
        </p:nvSpPr>
        <p:spPr>
          <a:xfrm>
            <a:off x="548640" y="5760720"/>
            <a:ext cx="10972800" cy="1097280"/>
          </a:xfrm>
          <a:prstGeom prst="rect">
            <a:avLst/>
          </a:prstGeom>
          <a:noFill/>
        </p:spPr>
        <p:txBody>
          <a:bodyPr wrap="square">
            <a:spAutoFit/>
          </a:bodyPr>
          <a:lstStyle/>
          <a:p>
            <a:pPr algn="l">
              <a:lnSpc>
                <a:spcPct val="115000"/>
              </a:lnSpc>
            </a:pPr>
            <a:r>
              <a:rPr sz="1400">
                <a:solidFill>
                  <a:srgbClr val="E0E0E0"/>
                </a:solidFill>
                <a:latin typeface="Calibri"/>
              </a:rPr>
              <a:t>• Pre-filter alone activates these three sites</a:t>
            </a:r>
          </a:p>
          <a:p>
            <a:pPr algn="l">
              <a:lnSpc>
                <a:spcPct val="115000"/>
              </a:lnSpc>
            </a:pPr>
            <a:r>
              <a:rPr sz="1400">
                <a:solidFill>
                  <a:srgbClr val="E0E0E0"/>
                </a:solidFill>
                <a:latin typeface="Calibri"/>
              </a:rPr>
              <a:t>• Multi-branch handling is a </a:t>
            </a:r>
            <a:r>
              <a:rPr sz="1400" b="1">
                <a:solidFill>
                  <a:srgbClr val="FCB13E"/>
                </a:solidFill>
                <a:latin typeface="Calibri"/>
              </a:rPr>
              <a:t>sibling optimization</a:t>
            </a:r>
            <a:r>
              <a:rPr sz="1400">
                <a:solidFill>
                  <a:srgbClr val="E0E0E0"/>
                </a:solidFill>
                <a:latin typeface="Calibri"/>
              </a:rPr>
              <a:t> (out of scope)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spAutoFit/>
          </a:bodyPr>
          <a:lstStyle/>
          <a:p>
            <a:pPr>
              <a:defRPr sz="2800" b="1">
                <a:solidFill>
                  <a:srgbClr val="FF318C"/>
                </a:solidFill>
                <a:latin typeface="Calibri"/>
              </a:defRPr>
            </a:pPr>
            <a:r>
              <a:t>What's next</a:t>
            </a:r>
          </a:p>
        </p:txBody>
      </p:sp>
      <p:sp>
        <p:nvSpPr>
          <p:cNvPr id="3" name="TextBox 2"/>
          <p:cNvSpPr txBox="1"/>
          <p:nvPr/>
        </p:nvSpPr>
        <p:spPr>
          <a:xfrm>
            <a:off x="548640" y="1371600"/>
            <a:ext cx="10972800" cy="4572000"/>
          </a:xfrm>
          <a:prstGeom prst="rect">
            <a:avLst/>
          </a:prstGeom>
          <a:noFill/>
        </p:spPr>
        <p:txBody>
          <a:bodyPr wrap="square">
            <a:spAutoFit/>
          </a:bodyPr>
          <a:lstStyle/>
          <a:p>
            <a:pPr algn="l">
              <a:lnSpc>
                <a:spcPct val="115000"/>
              </a:lnSpc>
            </a:pPr>
            <a:r>
              <a:rPr sz="1900">
                <a:solidFill>
                  <a:srgbClr val="E0E0E0"/>
                </a:solidFill>
                <a:latin typeface="Calibri"/>
              </a:rPr>
              <a:t>• Live cost measurement from runtime metrics (loadToScanRatio is static today)</a:t>
            </a:r>
          </a:p>
          <a:p>
            <a:pPr algn="l">
              <a:lnSpc>
                <a:spcPct val="115000"/>
              </a:lnSpc>
            </a:pPr>
            <a:r>
              <a:rPr sz="1900">
                <a:solidFill>
                  <a:srgbClr val="E0E0E0"/>
                </a:solidFill>
                <a:latin typeface="Calibri"/>
              </a:rPr>
              <a:t>• Histogram coverage for edge properties (EdgeFanOutEstimator is class-level)</a:t>
            </a:r>
          </a:p>
          <a:p>
            <a:pPr algn="l">
              <a:lnSpc>
                <a:spcPct val="115000"/>
              </a:lnSpc>
            </a:pPr>
            <a:r>
              <a:rPr sz="1900">
                <a:solidFill>
                  <a:srgbClr val="E0E0E0"/>
                </a:solidFill>
                <a:latin typeface="Calibri"/>
              </a:rPr>
              <a:t>• </a:t>
            </a:r>
            <a:r>
              <a:rPr sz="1900" b="1">
                <a:solidFill>
                  <a:srgbClr val="FCB13E"/>
                </a:solidFill>
                <a:latin typeface="Calibri"/>
              </a:rPr>
              <a:t>Composite pre-filter</a:t>
            </a:r>
            <a:r>
              <a:rPr sz="1900">
                <a:solidFill>
                  <a:srgbClr val="E0E0E0"/>
                </a:solidFill>
                <a:latin typeface="Calibri"/>
              </a:rPr>
              <a:t> for index + back-reference together</a:t>
            </a:r>
          </a:p>
          <a:p>
            <a:pPr algn="l">
              <a:lnSpc>
                <a:spcPct val="115000"/>
              </a:lnSpc>
            </a:pPr>
            <a:r>
              <a:rPr sz="1900">
                <a:solidFill>
                  <a:srgbClr val="E0E0E0"/>
                </a:solidFill>
                <a:latin typeface="Calibri"/>
              </a:rPr>
              <a:t>• Better integration with sibling hash-join work (out of scope here)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spAutoFit/>
          </a:bodyPr>
          <a:lstStyle/>
          <a:p>
            <a:pPr>
              <a:defRPr sz="2800" b="1">
                <a:solidFill>
                  <a:srgbClr val="FF318C"/>
                </a:solidFill>
                <a:latin typeface="Calibri"/>
              </a:defRPr>
            </a:pPr>
            <a:r>
              <a:t>Reading order if you want to verify</a:t>
            </a:r>
          </a:p>
        </p:txBody>
      </p:sp>
      <p:sp>
        <p:nvSpPr>
          <p:cNvPr id="3" name="TextBox 2"/>
          <p:cNvSpPr txBox="1"/>
          <p:nvPr/>
        </p:nvSpPr>
        <p:spPr>
          <a:xfrm>
            <a:off x="457200" y="914400"/>
            <a:ext cx="11247120" cy="365760"/>
          </a:xfrm>
          <a:prstGeom prst="rect">
            <a:avLst/>
          </a:prstGeom>
          <a:noFill/>
        </p:spPr>
        <p:txBody>
          <a:bodyPr wrap="square">
            <a:spAutoFit/>
          </a:bodyPr>
          <a:lstStyle/>
          <a:p>
            <a:pPr>
              <a:defRPr sz="1300" b="1">
                <a:solidFill>
                  <a:srgbClr val="FFA0C8"/>
                </a:solidFill>
                <a:latin typeface="Calibri"/>
              </a:defRPr>
            </a:pPr>
            <a:r>
              <a:t>Root: core/src/main/java/com/jetbrains/youtrackdb/internal/core/sql/executor/</a:t>
            </a:r>
          </a:p>
        </p:txBody>
      </p:sp>
      <p:sp>
        <p:nvSpPr>
          <p:cNvPr id="4" name="TextBox 3"/>
          <p:cNvSpPr txBox="1"/>
          <p:nvPr/>
        </p:nvSpPr>
        <p:spPr>
          <a:xfrm>
            <a:off x="548640" y="1554480"/>
            <a:ext cx="10972800" cy="3200400"/>
          </a:xfrm>
          <a:prstGeom prst="rect">
            <a:avLst/>
          </a:prstGeom>
          <a:noFill/>
        </p:spPr>
        <p:txBody>
          <a:bodyPr wrap="square">
            <a:spAutoFit/>
          </a:bodyPr>
          <a:lstStyle/>
          <a:p>
            <a:pPr algn="l">
              <a:lnSpc>
                <a:spcPct val="115000"/>
              </a:lnSpc>
            </a:pPr>
            <a:r>
              <a:rPr sz="1700">
                <a:solidFill>
                  <a:srgbClr val="E0E0E0"/>
                </a:solidFill>
                <a:latin typeface="Calibri"/>
              </a:rPr>
              <a:t>• 1. TraversalPreFilterHelper.java</a:t>
            </a:r>
          </a:p>
          <a:p>
            <a:pPr algn="l">
              <a:lnSpc>
                <a:spcPct val="115000"/>
              </a:lnSpc>
            </a:pPr>
            <a:r>
              <a:rPr sz="1700">
                <a:solidFill>
                  <a:srgbClr val="E0E0E0"/>
                </a:solidFill>
                <a:latin typeface="Calibri"/>
              </a:rPr>
              <a:t>• 2. match/MatchExecutionPlanner.optimizeScheduleWithIntersections</a:t>
            </a:r>
          </a:p>
          <a:p>
            <a:pPr algn="l">
              <a:lnSpc>
                <a:spcPct val="115000"/>
              </a:lnSpc>
            </a:pPr>
            <a:r>
              <a:rPr sz="1700">
                <a:solidFill>
                  <a:srgbClr val="E0E0E0"/>
                </a:solidFill>
                <a:latin typeface="Calibri"/>
              </a:rPr>
              <a:t>• 3. match/EdgeTraversal.resolveWithCache</a:t>
            </a:r>
          </a:p>
          <a:p>
            <a:pPr algn="l">
              <a:lnSpc>
                <a:spcPct val="115000"/>
              </a:lnSpc>
            </a:pPr>
            <a:r>
              <a:rPr sz="1700">
                <a:solidFill>
                  <a:srgbClr val="E0E0E0"/>
                </a:solidFill>
                <a:latin typeface="Calibri"/>
              </a:rPr>
              <a:t>• 4. RidFilterDescriptor.passesSelectivityCheck</a:t>
            </a:r>
          </a:p>
          <a:p>
            <a:pPr algn="l">
              <a:lnSpc>
                <a:spcPct val="115000"/>
              </a:lnSpc>
            </a:pPr>
            <a:r>
              <a:rPr sz="1700">
                <a:solidFill>
                  <a:srgbClr val="E0E0E0"/>
                </a:solidFill>
                <a:latin typeface="Calibri"/>
              </a:rPr>
              <a:t>• 5. match/MatchStep.appendPreFilterStats (what PROFILE shows)</a:t>
            </a:r>
          </a:p>
        </p:txBody>
      </p:sp>
      <p:sp>
        <p:nvSpPr>
          <p:cNvPr id="5" name="TextBox 4"/>
          <p:cNvSpPr txBox="1"/>
          <p:nvPr/>
        </p:nvSpPr>
        <p:spPr>
          <a:xfrm>
            <a:off x="457200" y="5029200"/>
            <a:ext cx="11247120" cy="365760"/>
          </a:xfrm>
          <a:prstGeom prst="rect">
            <a:avLst/>
          </a:prstGeom>
          <a:noFill/>
        </p:spPr>
        <p:txBody>
          <a:bodyPr wrap="square">
            <a:spAutoFit/>
          </a:bodyPr>
          <a:lstStyle/>
          <a:p>
            <a:pPr>
              <a:defRPr sz="1400" b="1">
                <a:solidFill>
                  <a:srgbClr val="FFA0C8"/>
                </a:solidFill>
                <a:latin typeface="Calibri"/>
              </a:defRPr>
            </a:pPr>
            <a:r>
              <a:t>Durable ADR: docs/adr/index-assisted-traversal/design-final.md</a:t>
            </a:r>
          </a:p>
        </p:txBody>
      </p:sp>
      <p:sp>
        <p:nvSpPr>
          <p:cNvPr id="6" name="TextBox 5"/>
          <p:cNvSpPr txBox="1"/>
          <p:nvPr/>
        </p:nvSpPr>
        <p:spPr>
          <a:xfrm>
            <a:off x="457200" y="5852160"/>
            <a:ext cx="11247120" cy="365760"/>
          </a:xfrm>
          <a:prstGeom prst="rect">
            <a:avLst/>
          </a:prstGeom>
          <a:noFill/>
        </p:spPr>
        <p:txBody>
          <a:bodyPr wrap="square">
            <a:spAutoFit/>
          </a:bodyPr>
          <a:lstStyle/>
          <a:p>
            <a:pPr>
              <a:defRPr sz="2200" b="1">
                <a:solidFill>
                  <a:srgbClr val="FFA0C8"/>
                </a:solidFill>
                <a:latin typeface="Calibri"/>
              </a:defRPr>
            </a:pPr>
            <a:r>
              <a:t>Thanks. Questions.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TextBox 1"/>
          <p:cNvSpPr txBox="1"/>
          <p:nvPr/>
        </p:nvSpPr>
        <p:spPr>
          <a:xfrm>
            <a:off x="457200" y="2743200"/>
            <a:ext cx="11247120" cy="1371600"/>
          </a:xfrm>
          <a:prstGeom prst="rect">
            <a:avLst/>
          </a:prstGeom>
          <a:noFill/>
        </p:spPr>
        <p:txBody>
          <a:bodyPr wrap="none">
            <a:spAutoFit/>
          </a:bodyPr>
          <a:lstStyle/>
          <a:p>
            <a:pPr algn="ctr">
              <a:defRPr sz="4400" b="1">
                <a:solidFill>
                  <a:srgbClr val="FCB13E"/>
                </a:solidFill>
                <a:latin typeface="Calibri"/>
              </a:defRPr>
            </a:pPr>
            <a:r>
              <a:t>Backup slides (for Q&amp;A)</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spAutoFit/>
          </a:bodyPr>
          <a:lstStyle/>
          <a:p>
            <a:pPr>
              <a:defRPr sz="2800" b="1">
                <a:solidFill>
                  <a:srgbClr val="FF318C"/>
                </a:solidFill>
                <a:latin typeface="Calibri"/>
              </a:defRPr>
            </a:pPr>
            <a:r>
              <a:t>Backup A — EdgeTraversal.cache</a:t>
            </a:r>
          </a:p>
        </p:txBody>
      </p:sp>
      <p:sp>
        <p:nvSpPr>
          <p:cNvPr id="3" name="TextBox 2"/>
          <p:cNvSpPr txBox="1"/>
          <p:nvPr/>
        </p:nvSpPr>
        <p:spPr>
          <a:xfrm>
            <a:off x="548640" y="1371600"/>
            <a:ext cx="10972800" cy="4572000"/>
          </a:xfrm>
          <a:prstGeom prst="rect">
            <a:avLst/>
          </a:prstGeom>
          <a:noFill/>
        </p:spPr>
        <p:txBody>
          <a:bodyPr wrap="square">
            <a:spAutoFit/>
          </a:bodyPr>
          <a:lstStyle/>
          <a:p>
            <a:pPr algn="l">
              <a:lnSpc>
                <a:spcPct val="115000"/>
              </a:lnSpc>
            </a:pPr>
            <a:r>
              <a:rPr sz="1700">
                <a:solidFill>
                  <a:srgbClr val="E0E0E0"/>
                </a:solidFill>
                <a:latin typeface="Calibri"/>
              </a:rPr>
              <a:t>• Per-edge LRU, capacity 64</a:t>
            </a:r>
          </a:p>
          <a:p>
            <a:pPr algn="l">
              <a:lnSpc>
                <a:spcPct val="115000"/>
              </a:lnSpc>
            </a:pPr>
            <a:r>
              <a:rPr sz="1700">
                <a:solidFill>
                  <a:srgbClr val="E0E0E0"/>
                </a:solidFill>
                <a:latin typeface="Calibri"/>
              </a:rPr>
              <a:t>• Key: descriptor cache fingerprint</a:t>
            </a:r>
          </a:p>
          <a:p>
            <a:pPr algn="l">
              <a:lnSpc>
                <a:spcPct val="115000"/>
              </a:lnSpc>
            </a:pPr>
            <a:r>
              <a:rPr sz="1700">
                <a:solidFill>
                  <a:srgbClr val="E0E0E0"/>
                </a:solidFill>
                <a:latin typeface="Calibri"/>
              </a:rPr>
              <a:t>• Value: resolved RidSet, or null with parallel </a:t>
            </a:r>
            <a:r>
              <a:rPr sz="1700" b="1">
                <a:solidFill>
                  <a:srgbClr val="FCB13E"/>
                </a:solidFill>
                <a:latin typeface="Calibri"/>
              </a:rPr>
              <a:t>cachedSkipReasons</a:t>
            </a:r>
            <a:r>
              <a:rPr sz="1700">
                <a:solidFill>
                  <a:srgbClr val="E0E0E0"/>
                </a:solidFill>
                <a:latin typeface="Calibri"/>
              </a:rPr>
              <a:t> map</a:t>
            </a:r>
          </a:p>
          <a:p>
            <a:pPr algn="l">
              <a:lnSpc>
                <a:spcPct val="115000"/>
              </a:lnSpc>
            </a:pPr>
            <a:r>
              <a:rPr sz="1700">
                <a:solidFill>
                  <a:srgbClr val="E0E0E0"/>
                </a:solidFill>
                <a:latin typeface="Calibri"/>
              </a:rPr>
              <a:t>• Why a separate map for reasons: cached-null hit must restore the </a:t>
            </a:r>
            <a:r>
              <a:rPr sz="1700" b="1">
                <a:solidFill>
                  <a:srgbClr val="FCB13E"/>
                </a:solidFill>
                <a:latin typeface="Calibri"/>
              </a:rPr>
              <a:t>original</a:t>
            </a:r>
            <a:r>
              <a:rPr sz="1700">
                <a:solidFill>
                  <a:srgbClr val="E0E0E0"/>
                </a:solidFill>
                <a:latin typeface="Calibri"/>
              </a:rPr>
              <a:t> skip reason, not the most-recent one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spAutoFit/>
          </a:bodyPr>
          <a:lstStyle/>
          <a:p>
            <a:pPr>
              <a:defRPr sz="2800" b="1">
                <a:solidFill>
                  <a:srgbClr val="FF318C"/>
                </a:solidFill>
                <a:latin typeface="Calibri"/>
              </a:defRPr>
            </a:pPr>
            <a:r>
              <a:t>Backup B — RidSet data structure</a:t>
            </a:r>
          </a:p>
        </p:txBody>
      </p:sp>
      <p:sp>
        <p:nvSpPr>
          <p:cNvPr id="3" name="TextBox 2"/>
          <p:cNvSpPr txBox="1"/>
          <p:nvPr/>
        </p:nvSpPr>
        <p:spPr>
          <a:xfrm>
            <a:off x="548640" y="1371600"/>
            <a:ext cx="10972800" cy="4572000"/>
          </a:xfrm>
          <a:prstGeom prst="rect">
            <a:avLst/>
          </a:prstGeom>
          <a:noFill/>
        </p:spPr>
        <p:txBody>
          <a:bodyPr wrap="square">
            <a:spAutoFit/>
          </a:bodyPr>
          <a:lstStyle/>
          <a:p>
            <a:pPr algn="l">
              <a:lnSpc>
                <a:spcPct val="115000"/>
              </a:lnSpc>
            </a:pPr>
            <a:r>
              <a:rPr sz="1700">
                <a:solidFill>
                  <a:srgbClr val="E0E0E0"/>
                </a:solidFill>
                <a:latin typeface="Calibri"/>
              </a:rPr>
              <a:t>• Int2ObjectOpenHashMap&lt;Roaring64Bitmap&gt; (cluster ID → bitmap of positions)</a:t>
            </a:r>
          </a:p>
          <a:p>
            <a:pPr algn="l">
              <a:lnSpc>
                <a:spcPct val="115000"/>
              </a:lnSpc>
            </a:pPr>
            <a:r>
              <a:rPr sz="1700">
                <a:solidFill>
                  <a:srgbClr val="E0E0E0"/>
                </a:solidFill>
                <a:latin typeface="Calibri"/>
              </a:rPr>
              <a:t>• Rewritten in PR #781 from a HashSet&lt;RID&gt;</a:t>
            </a:r>
          </a:p>
          <a:p>
            <a:pPr algn="l">
              <a:lnSpc>
                <a:spcPct val="115000"/>
              </a:lnSpc>
            </a:pPr>
            <a:r>
              <a:rPr sz="1700">
                <a:solidFill>
                  <a:srgbClr val="E0E0E0"/>
                </a:solidFill>
                <a:latin typeface="Calibri"/>
              </a:rPr>
              <a:t>• Membership test: </a:t>
            </a:r>
            <a:r>
              <a:rPr sz="1700" b="1">
                <a:solidFill>
                  <a:srgbClr val="FCB13E"/>
                </a:solidFill>
                <a:latin typeface="Calibri"/>
              </a:rPr>
              <a:t>~3 instructions</a:t>
            </a:r>
          </a:p>
          <a:p>
            <a:pPr algn="l">
              <a:lnSpc>
                <a:spcPct val="115000"/>
              </a:lnSpc>
            </a:pPr>
            <a:r>
              <a:rPr sz="1700">
                <a:solidFill>
                  <a:srgbClr val="E0E0E0"/>
                </a:solidFill>
                <a:latin typeface="Calibri"/>
              </a:rPr>
              <a:t>• Iteration: cluster-by-cluster, friendly to LinkBag layout</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spAutoFit/>
          </a:bodyPr>
          <a:lstStyle/>
          <a:p>
            <a:pPr>
              <a:defRPr sz="2800" b="1">
                <a:solidFill>
                  <a:srgbClr val="FF318C"/>
                </a:solidFill>
                <a:latin typeface="Calibri"/>
              </a:defRPr>
            </a:pPr>
            <a:r>
              <a:t>Backup C — IndexSearchDescriptor.cacheFingerprint</a:t>
            </a:r>
          </a:p>
        </p:txBody>
      </p:sp>
      <p:sp>
        <p:nvSpPr>
          <p:cNvPr id="3" name="TextBox 2"/>
          <p:cNvSpPr txBox="1"/>
          <p:nvPr/>
        </p:nvSpPr>
        <p:spPr>
          <a:xfrm>
            <a:off x="548640" y="1280160"/>
            <a:ext cx="10972800" cy="5029200"/>
          </a:xfrm>
          <a:prstGeom prst="rect">
            <a:avLst/>
          </a:prstGeom>
          <a:noFill/>
        </p:spPr>
        <p:txBody>
          <a:bodyPr wrap="square">
            <a:spAutoFit/>
          </a:bodyPr>
          <a:lstStyle/>
          <a:p>
            <a:pPr algn="l">
              <a:lnSpc>
                <a:spcPct val="115000"/>
              </a:lnSpc>
            </a:pPr>
            <a:r>
              <a:rPr sz="1700">
                <a:solidFill>
                  <a:srgbClr val="E0E0E0"/>
                </a:solidFill>
                <a:latin typeface="Calibri"/>
              </a:rPr>
              <a:t>• Previously cache key was index.getName()</a:t>
            </a:r>
          </a:p>
          <a:p>
            <a:pPr algn="l">
              <a:lnSpc>
                <a:spcPct val="115000"/>
              </a:lnSpc>
            </a:pPr>
            <a:r>
              <a:rPr sz="1700">
                <a:solidFill>
                  <a:srgbClr val="E0E0E0"/>
                </a:solidFill>
                <a:latin typeface="Calibri"/>
              </a:rPr>
              <a:t>• Two IndexLookups on the same index with different conditions would have aliased</a:t>
            </a:r>
          </a:p>
          <a:p>
            <a:pPr algn="l">
              <a:lnSpc>
                <a:spcPct val="115000"/>
              </a:lnSpc>
            </a:pPr>
            <a:r>
              <a:rPr sz="1700">
                <a:solidFill>
                  <a:srgbClr val="E0E0E0"/>
                </a:solidFill>
                <a:latin typeface="Calibri"/>
              </a:rPr>
              <a:t>• Latent bug: planner happens to emit at most one IndexLookup per edge today</a:t>
            </a:r>
          </a:p>
          <a:p>
            <a:pPr algn="l">
              <a:lnSpc>
                <a:spcPct val="115000"/>
              </a:lnSpc>
            </a:pPr>
            <a:r>
              <a:rPr sz="1700">
                <a:solidFill>
                  <a:srgbClr val="E0E0E0"/>
                </a:solidFill>
                <a:latin typeface="Calibri"/>
              </a:rPr>
              <a:t>• Fix: include </a:t>
            </a:r>
            <a:r>
              <a:rPr sz="1700" b="1">
                <a:solidFill>
                  <a:srgbClr val="FCB13E"/>
                </a:solidFill>
                <a:latin typeface="Calibri"/>
              </a:rPr>
              <a:t>keyCondition</a:t>
            </a:r>
            <a:r>
              <a:rPr sz="1700">
                <a:solidFill>
                  <a:srgbClr val="E0E0E0"/>
                </a:solidFill>
                <a:latin typeface="Calibri"/>
              </a:rPr>
              <a:t> and </a:t>
            </a:r>
            <a:r>
              <a:rPr sz="1700" b="1">
                <a:solidFill>
                  <a:srgbClr val="FCB13E"/>
                </a:solidFill>
                <a:latin typeface="Calibri"/>
              </a:rPr>
              <a:t>additionalRangeCondition</a:t>
            </a:r>
            <a:r>
              <a:rPr sz="1700">
                <a:solidFill>
                  <a:srgbClr val="E0E0E0"/>
                </a:solidFill>
                <a:latin typeface="Calibri"/>
              </a:rPr>
              <a:t> in fingerprint</a:t>
            </a:r>
          </a:p>
          <a:p>
            <a:pPr algn="l">
              <a:lnSpc>
                <a:spcPct val="115000"/>
              </a:lnSpc>
            </a:pPr>
            <a:r>
              <a:rPr sz="1700">
                <a:solidFill>
                  <a:srgbClr val="E0E0E0"/>
                </a:solidFill>
                <a:latin typeface="Calibri"/>
              </a:rPr>
              <a:t>• Regression test: EdgeTraversalCacheTest.indexLookup_cacheKey_distinctConditionsDoNotAlias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spAutoFit/>
          </a:bodyPr>
          <a:lstStyle/>
          <a:p>
            <a:pPr>
              <a:defRPr sz="2800" b="1">
                <a:solidFill>
                  <a:srgbClr val="FF318C"/>
                </a:solidFill>
                <a:latin typeface="Calibri"/>
              </a:defRPr>
            </a:pPr>
            <a:r>
              <a:t>Backup D — stampEdgeForecasts pitfalls</a:t>
            </a:r>
          </a:p>
        </p:txBody>
      </p:sp>
      <p:sp>
        <p:nvSpPr>
          <p:cNvPr id="3" name="TextBox 2"/>
          <p:cNvSpPr txBox="1"/>
          <p:nvPr/>
        </p:nvSpPr>
        <p:spPr>
          <a:xfrm>
            <a:off x="548640" y="1280160"/>
            <a:ext cx="10972800" cy="5029200"/>
          </a:xfrm>
          <a:prstGeom prst="rect">
            <a:avLst/>
          </a:prstGeom>
          <a:noFill/>
        </p:spPr>
        <p:txBody>
          <a:bodyPr wrap="square">
            <a:spAutoFit/>
          </a:bodyPr>
          <a:lstStyle/>
          <a:p>
            <a:pPr algn="l">
              <a:lnSpc>
                <a:spcPct val="115000"/>
              </a:lnSpc>
            </a:pPr>
            <a:r>
              <a:rPr sz="1700">
                <a:solidFill>
                  <a:srgbClr val="E0E0E0"/>
                </a:solidFill>
                <a:latin typeface="Calibri"/>
              </a:rPr>
              <a:t>• Forecast pass exists only to feed BUILD_EAGER decision</a:t>
            </a:r>
          </a:p>
          <a:p>
            <a:pPr algn="l">
              <a:lnSpc>
                <a:spcPct val="115000"/>
              </a:lnSpc>
            </a:pPr>
            <a:r>
              <a:rPr sz="1700">
                <a:solidFill>
                  <a:srgbClr val="E0E0E0"/>
                </a:solidFill>
                <a:latin typeface="Calibri"/>
              </a:rPr>
              <a:t>• Short-circuit: skip if </a:t>
            </a:r>
            <a:r>
              <a:rPr sz="1700" b="1">
                <a:solidFill>
                  <a:srgbClr val="FCB13E"/>
                </a:solidFill>
                <a:latin typeface="Calibri"/>
              </a:rPr>
              <a:t>no edge has IndexLookup</a:t>
            </a:r>
            <a:r>
              <a:rPr sz="1700">
                <a:solidFill>
                  <a:srgbClr val="E0E0E0"/>
                </a:solidFill>
                <a:latin typeface="Calibri"/>
              </a:rPr>
              <a:t> (standalone or in Composite)</a:t>
            </a:r>
          </a:p>
          <a:p>
            <a:pPr algn="l">
              <a:lnSpc>
                <a:spcPct val="115000"/>
              </a:lnSpc>
            </a:pPr>
            <a:r>
              <a:rPr sz="1700">
                <a:solidFill>
                  <a:srgbClr val="E0E0E0"/>
                </a:solidFill>
                <a:latin typeface="Calibri"/>
              </a:rPr>
              <a:t>• Long.MAX_VALUE sentinels for inferred-class aliases stripped at input</a:t>
            </a:r>
          </a:p>
          <a:p>
            <a:pPr algn="l">
              <a:lnSpc>
                <a:spcPct val="115000"/>
              </a:lnSpc>
            </a:pPr>
            <a:r>
              <a:rPr sz="1700">
                <a:solidFill>
                  <a:srgbClr val="E0E0E0"/>
                </a:solidFill>
                <a:latin typeface="Calibri"/>
              </a:rPr>
              <a:t>• Saturated forecast stored as </a:t>
            </a:r>
            <a:r>
              <a:rPr sz="1700" b="1">
                <a:solidFill>
                  <a:srgbClr val="FCB13E"/>
                </a:solidFill>
                <a:latin typeface="Calibri"/>
              </a:rPr>
              <a:t>−1</a:t>
            </a:r>
            <a:r>
              <a:rPr sz="1700">
                <a:solidFill>
                  <a:srgbClr val="E0E0E0"/>
                </a:solidFill>
                <a:latin typeface="Calibri"/>
              </a:rPr>
              <a:t>, not clamped (clamping would re-introduce inflation)</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spAutoFit/>
          </a:bodyPr>
          <a:lstStyle/>
          <a:p>
            <a:pPr>
              <a:defRPr sz="2800" b="1">
                <a:solidFill>
                  <a:srgbClr val="FF318C"/>
                </a:solidFill>
                <a:latin typeface="Calibri"/>
              </a:defRPr>
            </a:pPr>
            <a:r>
              <a:t>Backup E — Why no live cost measurement</a:t>
            </a:r>
          </a:p>
        </p:txBody>
      </p:sp>
      <p:sp>
        <p:nvSpPr>
          <p:cNvPr id="3" name="TextBox 2"/>
          <p:cNvSpPr txBox="1"/>
          <p:nvPr/>
        </p:nvSpPr>
        <p:spPr>
          <a:xfrm>
            <a:off x="548640" y="1280160"/>
            <a:ext cx="10972800" cy="4572000"/>
          </a:xfrm>
          <a:prstGeom prst="rect">
            <a:avLst/>
          </a:prstGeom>
          <a:noFill/>
        </p:spPr>
        <p:txBody>
          <a:bodyPr wrap="square">
            <a:spAutoFit/>
          </a:bodyPr>
          <a:lstStyle/>
          <a:p>
            <a:pPr algn="l">
              <a:lnSpc>
                <a:spcPct val="115000"/>
              </a:lnSpc>
            </a:pPr>
            <a:r>
              <a:rPr sz="1700">
                <a:solidFill>
                  <a:srgbClr val="E0E0E0"/>
                </a:solidFill>
                <a:latin typeface="Calibri"/>
              </a:rPr>
              <a:t>• We considered using runtime metrics to update loadToScanRatio per query</a:t>
            </a:r>
          </a:p>
          <a:p>
            <a:pPr algn="l">
              <a:lnSpc>
                <a:spcPct val="115000"/>
              </a:lnSpc>
            </a:pPr>
            <a:r>
              <a:rPr sz="1700">
                <a:solidFill>
                  <a:srgbClr val="E0E0E0"/>
                </a:solidFill>
                <a:latin typeface="Calibri"/>
              </a:rPr>
              <a:t>• </a:t>
            </a:r>
            <a:r>
              <a:rPr sz="1700" b="1">
                <a:solidFill>
                  <a:srgbClr val="FCB13E"/>
                </a:solidFill>
                <a:latin typeface="Calibri"/>
              </a:rPr>
              <a:t>Sample bias:</a:t>
            </a:r>
            <a:r>
              <a:rPr sz="1700">
                <a:solidFill>
                  <a:srgbClr val="E0E0E0"/>
                </a:solidFill>
                <a:latin typeface="Calibri"/>
              </a:rPr>
              <a:t> pre-filter pre-rejected vertices never get loaded → cannot measure their hypothetical load cost</a:t>
            </a:r>
          </a:p>
          <a:p>
            <a:pPr algn="l">
              <a:lnSpc>
                <a:spcPct val="115000"/>
              </a:lnSpc>
            </a:pPr>
            <a:r>
              <a:rPr sz="1700">
                <a:solidFill>
                  <a:srgbClr val="E0E0E0"/>
                </a:solidFill>
                <a:latin typeface="Calibri"/>
              </a:rPr>
              <a:t>• Solution: collect cost samples from queries where pre-filter did not apply</a:t>
            </a:r>
          </a:p>
          <a:p>
            <a:pPr algn="l">
              <a:lnSpc>
                <a:spcPct val="115000"/>
              </a:lnSpc>
            </a:pPr>
            <a:r>
              <a:rPr sz="1700">
                <a:solidFill>
                  <a:srgbClr val="E0E0E0"/>
                </a:solidFill>
                <a:latin typeface="Calibri"/>
              </a:rPr>
              <a:t>• Out of scope, planned for a follow-up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